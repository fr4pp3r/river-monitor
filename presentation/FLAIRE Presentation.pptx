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73" r:id="rId9"/>
    <p:sldId id="274" r:id="rId10"/>
    <p:sldId id="275" r:id="rId11"/>
    <p:sldId id="276" r:id="rId12"/>
    <p:sldId id="262" r:id="rId13"/>
    <p:sldId id="277" r:id="rId14"/>
    <p:sldId id="265" r:id="rId15"/>
    <p:sldId id="266" r:id="rId16"/>
    <p:sldId id="279" r:id="rId17"/>
    <p:sldId id="281" r:id="rId18"/>
    <p:sldId id="282" r:id="rId19"/>
    <p:sldId id="283" r:id="rId20"/>
    <p:sldId id="284" r:id="rId21"/>
    <p:sldId id="271" r:id="rId22"/>
    <p:sldId id="285" r:id="rId23"/>
    <p:sldId id="286" r:id="rId24"/>
    <p:sldId id="28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D5E3"/>
    <a:srgbClr val="0C2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94" autoAdjust="0"/>
  </p:normalViewPr>
  <p:slideViewPr>
    <p:cSldViewPr snapToGrid="0" snapToObjects="1">
      <p:cViewPr>
        <p:scale>
          <a:sx n="75" d="100"/>
          <a:sy n="75" d="100"/>
        </p:scale>
        <p:origin x="1914" y="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36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problem: advisories are municipality-wide — they don't say whether this barangay is affected — and connectivity drops when warnings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Placeholder slide per user request — insert background-of-study material here before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A8B15-F684-A6DF-E809-D5BC921F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A0F02-795C-FEFB-BE4B-68315A5F7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963F6-2BF7-3191-24BF-DC4FB37DC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Statement of the problem from thesis Chapter 1: current flood-warning limitations in Brgy. Elvita and the five research questions FLAIRE seeks to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09883-64EA-AE0C-CE0F-AD39C1A6C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2476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Statement of the problem from thesis Chapter 1: current flood-warning limitations in Brgy. Elvita and the five research questions FLAIRE seeks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Beneficiaries per thesis Chapter 1: BDRRMC, barangay officials and residents, the academic community, and policy-makers / future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Faithful to thesis Chapter 1: barangay-scale offline-first prototype, decision-support framing, n=2 acceptability survey, ~21.5 h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ERD placeholder — insert the database diagram from DATABASE_ERD.md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323CF-5007-FEDE-5024-8533AE80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E4AC7-5644-500F-750F-070AFDBD7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CD9E1-C35F-2970-64F1-E3AB81AD0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ERD placeholder — insert the database diagram from DATABASE_ERD.md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A38F-F74A-A18D-479B-9C64F09C3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8026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9BE8-5FDF-3559-50F9-E18F8012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C1991-1F3B-8A86-129C-983B4E354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0ECC3-9BFB-CFA0-C605-AC8A660FB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ERD placeholder — insert the database diagram from DATABASE_ERD.md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9F09A-5E0D-D7CB-B254-075BB48C5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3577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7795-9A69-8265-6872-D02C947C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90A98-54B6-989A-C4D9-E3C3F2312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C06EA-46CB-1330-3986-4D14CB97E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ERD placeholder — insert the database diagram from DATABASE_ERD.md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34D90-AE2C-F85A-737A-661C43A2B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56988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8136-6E93-FD9D-1E30-7A439E552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99650-1631-0BE5-F24E-D3D5FB776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B0B16-008C-68A1-D714-7761FA8B8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Field sensor node segment: ultrasonic water-level + tipping-bucket rain gauge, on-board controller, LoRa RFM95W @ 915 MHz, 1-min cadence, solar/battery power.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94012-4000-9434-0941-22A4E0E68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85489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Field sensor node segment: ultrasonic water-level + tipping-bucket rain gauge, on-board controller, LoRa RFM95W @ 915 MHz, 1-min cadence, solar/battery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7187-3AD9-C4C1-A566-F322E278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BD91F-8290-1E62-E5DA-EDF84566F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6995D-25DF-1098-3561-29F0303B8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Field sensor node segment: ultrasonic water-level + tipping-bucket rain gauge, on-board controller, LoRa RFM95W @ 915 MHz, 1-min cadence, solar/battery power.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B2744-BB77-A413-551D-418046DE2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1503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₱27,920 BOM — Node ₱7,070 · Edge ₱19,050 · General ₱1,800 — plus thesis benefit categories: technical, operational, community-level.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AE0E-76B1-E8E2-23D3-F644CCFA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7332A-0C88-42FA-B6B8-4351F41ED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DC12E-4D65-C0F3-BA85-737B659F0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D7C47-CDE1-1364-06AE-D28F8A321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90014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01BB-026F-9530-784C-22F0A7D6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14F0B-82C5-559C-5817-06952ADE5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9F17B-C69A-7E7B-3D09-E84BEA6E7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6C370-F946-3FA5-98B5-195880DC3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4801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EB3B-30F7-0503-A98C-8C0559B8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650B6-8DDA-8196-DBA5-F14AED124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B35C3-E50B-0944-6D3C-B443416C1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D1F14-91B5-C824-6E45-24D2FD4D5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54161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F7E9-C66A-EB73-B947-A91ACD6F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DBB41-07D9-BEE8-A418-0679012C1E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A9BFD-85EC-DEF7-7CE0-57936F216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A680C-E2B3-7C42-05D4-E9F77194D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2785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E3E1-C604-15B3-4CF0-7E405B3F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0F241-1AA8-BED5-F213-1C31492912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2D077-D974-BCB6-9038-BD0571CA9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 findings (thesis Ch.4): manual rain gauge, visual observation, tide calendar; municipality-wide MDRRMO alerts; no continuous localized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826F1-2940-E8A9-97F3-D6C42DFA0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77797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key findings, feasibility conclusion (decision-support, not prediction), four recommendations — then 'Thank you — questions?'.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B267-2A38-BDB7-12B2-0CE5960A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B73AF-65F8-9CD0-7BC3-F87B6CF3E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ED578-078C-A058-FBAA-E369E8BA4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key findings, feasibility conclusion (decision-support, not prediction), four recommendations — then 'Thank you — questions?'.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117F6-2B3F-4576-9A83-3D376BC79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986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734C2-3D76-631F-B088-4DC21F94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C875F-FE00-FE26-EB56-5A1E4C002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2AB50-E884-CC70-EB77-B81EA9CA4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key findings, feasibility conclusion (decision-support, not prediction), four recommendations — then 'Thank you — questions?'.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30823-5D98-D366-BE48-2836C7DE0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49233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919B3-1F11-6A99-3228-BF946772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E7EDC-B5E9-B732-FA30-4CCAAD359B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2372-E0E1-CFCE-DAB1-5D13842C5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key findings, feasibility conclusion (decision-support, not prediction), four recommendations — then 'Thank you — questions?'.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06E67-9CCF-4CF3-921D-512158A92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1862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70432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spc="280">
                <a:solidFill>
                  <a:srgbClr val="3EC7B3"/>
                </a:solidFill>
                <a:latin typeface="Segoe UI"/>
              </a:rPr>
              <a:t>Thesis Oral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36192"/>
            <a:ext cx="12191695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0" b="1" i="0">
                <a:solidFill>
                  <a:srgbClr val="E8F2F5"/>
                </a:solidFill>
                <a:latin typeface="Georgia"/>
              </a:rPr>
              <a:t>FLAIRE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97480"/>
            <a:ext cx="121916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 i="0">
                <a:solidFill>
                  <a:srgbClr val="9FC0C8"/>
                </a:solidFill>
                <a:latin typeface="Segoe UI"/>
              </a:rPr>
              <a:t>Flood Level AI Risk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8FD0C8"/>
                </a:solidFill>
                <a:latin typeface="Segoe UI"/>
              </a:rPr>
              <a:t>An offline-first flood early-warning prototype · Barangay Elvita, Narra, Palawan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5407" y="3712464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133839"/>
          </a:solidFill>
          <a:ln w="15240">
            <a:solidFill>
              <a:srgbClr val="3EC7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spc="100">
                <a:solidFill>
                  <a:srgbClr val="A7EEDF"/>
                </a:solidFill>
                <a:latin typeface="Segoe UI"/>
              </a:rPr>
              <a:t>Solar LoRa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3712464"/>
            <a:ext cx="1645920" cy="384048"/>
          </a:xfrm>
          <a:prstGeom prst="roundRect">
            <a:avLst>
              <a:gd name="adj" fmla="val 30000"/>
            </a:avLst>
          </a:prstGeom>
          <a:solidFill>
            <a:srgbClr val="133839"/>
          </a:solidFill>
          <a:ln w="15240">
            <a:solidFill>
              <a:srgbClr val="3EC7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spc="100">
                <a:solidFill>
                  <a:srgbClr val="A7EEDF"/>
                </a:solidFill>
                <a:latin typeface="Segoe UI"/>
              </a:rPr>
              <a:t>Raspberry Pi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3712464"/>
            <a:ext cx="1783080" cy="384048"/>
          </a:xfrm>
          <a:prstGeom prst="roundRect">
            <a:avLst>
              <a:gd name="adj" fmla="val 30000"/>
            </a:avLst>
          </a:prstGeom>
          <a:solidFill>
            <a:srgbClr val="133839"/>
          </a:solidFill>
          <a:ln w="15240">
            <a:solidFill>
              <a:srgbClr val="3EC7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spc="100">
                <a:solidFill>
                  <a:srgbClr val="A7EEDF"/>
                </a:solidFill>
                <a:latin typeface="Segoe UI"/>
              </a:rPr>
              <a:t>RF + fuzzy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4687" y="3712464"/>
            <a:ext cx="137160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 w="15240">
            <a:solidFill>
              <a:srgbClr val="C9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spc="100">
                <a:solidFill>
                  <a:srgbClr val="E8A3A3"/>
                </a:solidFill>
                <a:latin typeface="Segoe UI"/>
              </a:rPr>
              <a:t>≈ ₱27,920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81144"/>
            <a:ext cx="121916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6E939C"/>
                </a:solidFill>
                <a:latin typeface="Segoe UI"/>
              </a:rPr>
              <a:t>Decision-support tool — the BDRRMC makes the call.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>
                <a:solidFill>
                  <a:srgbClr val="3EC7B3"/>
                </a:solidFill>
                <a:latin typeface="Segoe UI"/>
              </a:rPr>
              <a:t>02 · Background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1981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Background of the study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8DA46-C58D-C1E8-75B7-E6B94EC0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5113A1-D9E7-3B07-6FFB-F5E32787AF5B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03 · STATEMENT OF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DA158-2081-0F98-0EF9-BB1463C1F334}"/>
              </a:ext>
            </a:extLst>
          </p:cNvPr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Statement of the problem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2D6BB8-8B2F-1B94-8D07-D898C02961D4}"/>
              </a:ext>
            </a:extLst>
          </p:cNvPr>
          <p:cNvSpPr/>
          <p:nvPr/>
        </p:nvSpPr>
        <p:spPr>
          <a:xfrm>
            <a:off x="402336" y="1571379"/>
            <a:ext cx="468000" cy="468000"/>
          </a:xfrm>
          <a:prstGeom prst="ellipse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0" dirty="0">
                <a:solidFill>
                  <a:srgbClr val="072226"/>
                </a:solidFill>
                <a:latin typeface="Georgia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74BEF-401C-0E30-FE40-3BED1C542BE9}"/>
              </a:ext>
            </a:extLst>
          </p:cNvPr>
          <p:cNvSpPr txBox="1"/>
          <p:nvPr/>
        </p:nvSpPr>
        <p:spPr>
          <a:xfrm>
            <a:off x="1005840" y="1481327"/>
            <a:ext cx="10637215" cy="875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b="0" i="0" dirty="0">
                <a:solidFill>
                  <a:srgbClr val="E8F2F5"/>
                </a:solidFill>
                <a:latin typeface="Segoe UI"/>
              </a:rPr>
              <a:t>What are the key problems and limitations in current flood-warning practices and data utilization in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Brgy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. Elvita, Narra, Palawan, and how can these be addressed through an offline-first, AI-based flood early-warning system?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31C744-F0DB-667A-30C6-7116AE7699F5}"/>
              </a:ext>
            </a:extLst>
          </p:cNvPr>
          <p:cNvSpPr/>
          <p:nvPr/>
        </p:nvSpPr>
        <p:spPr>
          <a:xfrm>
            <a:off x="393192" y="2567353"/>
            <a:ext cx="468000" cy="468000"/>
          </a:xfrm>
          <a:prstGeom prst="ellipse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i="0" dirty="0">
                <a:solidFill>
                  <a:srgbClr val="072226"/>
                </a:solidFill>
                <a:latin typeface="Georgia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8B9B8-D8F3-4C10-C38E-4096A54F3421}"/>
              </a:ext>
            </a:extLst>
          </p:cNvPr>
          <p:cNvSpPr txBox="1"/>
          <p:nvPr/>
        </p:nvSpPr>
        <p:spPr>
          <a:xfrm>
            <a:off x="1005840" y="2551174"/>
            <a:ext cx="10637215" cy="35677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b="0" i="0" dirty="0">
                <a:solidFill>
                  <a:srgbClr val="E8F2F5"/>
                </a:solidFill>
                <a:latin typeface="Segoe UI"/>
              </a:rPr>
              <a:t>How can a Fuzzy-AI riverine flood-risk classification system be designed and developed for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Brgy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. Elvita that integrates</a:t>
            </a:r>
            <a:r>
              <a:rPr lang="en-US" b="0" i="0" dirty="0">
                <a:solidFill>
                  <a:srgbClr val="E8F2F5"/>
                </a:solidFill>
                <a:latin typeface="Segoe UI"/>
              </a:rPr>
              <a:t>:</a:t>
            </a: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cached seven-day weather and tide forecast data from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OpenMeteo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 (updated at least daily, every six hours, and stored in a local database);</a:t>
            </a:r>
            <a:endParaRPr lang="en-US" b="0" i="0" dirty="0">
              <a:solidFill>
                <a:srgbClr val="E8F2F5"/>
              </a:solidFill>
              <a:latin typeface="Segoe UI"/>
            </a:endParaRP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real-time water-level and rainfall data from a LoRa-based hydrological sensor node transmitted to a Raspberry Pi 5 edge device;</a:t>
            </a:r>
            <a:endParaRPr lang="en-US" b="0" i="0" dirty="0">
              <a:solidFill>
                <a:srgbClr val="E8F2F5"/>
              </a:solidFill>
              <a:latin typeface="Segoe UI"/>
            </a:endParaRP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a hybrid AI pipeline in which a Random Forest model estimates flood propensity using R1, R3, R7,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rain_days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, TMAX, TMIN,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TideMax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, and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TideMin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 while a fuzzy-logic classifier with 20 rules classifies flood risk as Receding, Alert, Alarm, or Critical;</a:t>
            </a:r>
            <a:endParaRPr lang="en-US" b="0" i="0" dirty="0">
              <a:solidFill>
                <a:srgbClr val="E8F2F5"/>
              </a:solidFill>
              <a:latin typeface="Segoe UI"/>
            </a:endParaRPr>
          </a:p>
          <a:p>
            <a:pPr marL="171450" indent="-1714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and a local web dashboard accessible through a LAN, enabling BDRRMC personnel to monitor real-time sensor data, AI-based risk classifications, and visualizations without internet connectivity, with alerts delivered through the dashboard and SMS?</a:t>
            </a:r>
          </a:p>
        </p:txBody>
      </p:sp>
    </p:spTree>
    <p:extLst>
      <p:ext uri="{BB962C8B-B14F-4D97-AF65-F5344CB8AC3E}">
        <p14:creationId xmlns:p14="http://schemas.microsoft.com/office/powerpoint/2010/main" val="186423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391536" y="1623912"/>
            <a:ext cx="468000" cy="468000"/>
          </a:xfrm>
          <a:prstGeom prst="ellipse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2226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10637215" cy="875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b="0" i="0" dirty="0">
                <a:solidFill>
                  <a:srgbClr val="E8F2F5"/>
                </a:solidFill>
                <a:latin typeface="Segoe UI"/>
              </a:rPr>
              <a:t>How consistently does the Random Forest flood-propensity model reproduce the rule-derived Low, Medium, and High flood-propensity categories on a held-out test set, in terms of accuracy, precision, recall, and F1-score?</a:t>
            </a:r>
          </a:p>
        </p:txBody>
      </p:sp>
      <p:sp>
        <p:nvSpPr>
          <p:cNvPr id="12" name="Oval 11"/>
          <p:cNvSpPr/>
          <p:nvPr/>
        </p:nvSpPr>
        <p:spPr>
          <a:xfrm>
            <a:off x="391536" y="2839759"/>
            <a:ext cx="468000" cy="468000"/>
          </a:xfrm>
          <a:prstGeom prst="ellipse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2226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83239"/>
            <a:ext cx="10637215" cy="575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b="0" i="0" dirty="0">
                <a:solidFill>
                  <a:srgbClr val="E8F2F5"/>
                </a:solidFill>
                <a:latin typeface="Segoe UI"/>
              </a:rPr>
              <a:t>How did the FLAIRE prototype perform during a limited field deployment in terms of sensor-data capture, data logging, and data quality?</a:t>
            </a:r>
          </a:p>
        </p:txBody>
      </p:sp>
      <p:sp>
        <p:nvSpPr>
          <p:cNvPr id="14" name="Oval 13"/>
          <p:cNvSpPr/>
          <p:nvPr/>
        </p:nvSpPr>
        <p:spPr>
          <a:xfrm>
            <a:off x="391536" y="4055606"/>
            <a:ext cx="468000" cy="468000"/>
          </a:xfrm>
          <a:prstGeom prst="ellipse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072226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38936"/>
            <a:ext cx="10637215" cy="1174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b="0" i="0" dirty="0">
                <a:solidFill>
                  <a:srgbClr val="E8F2F5"/>
                </a:solidFill>
                <a:latin typeface="Segoe UI"/>
              </a:rPr>
              <a:t>How acceptable is the developed FLAIRE system to the BDRRMC focal persons of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Brgy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. Elvita, Narra, Palawan in terms of functionality, usability, reliability, perceived contribution to disaster preparedness, attitude toward use, and intention to use, as measured through a Technology Acceptance Model (TAM)-based interview or survey?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C2599-EDA6-2B3A-2034-7EE67384719F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03 · STATEMENT OF THE 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326673-C3B9-BFCD-3648-13FD506CBB4C}"/>
              </a:ext>
            </a:extLst>
          </p:cNvPr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Statement of the problem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04 · Significance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Significance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39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Who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64792"/>
            <a:ext cx="5440680" cy="1649266"/>
          </a:xfrm>
          <a:prstGeom prst="roundRect">
            <a:avLst>
              <a:gd name="adj" fmla="val 7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749808" y="1883664"/>
            <a:ext cx="5074920" cy="14330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110">
                <a:solidFill>
                  <a:srgbClr val="3EC7B3"/>
                </a:solidFill>
                <a:latin typeface="Segoe UI"/>
              </a:rPr>
              <a:t>BDRRMC (Barangay Elvita)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400" b="0" i="0">
                <a:solidFill>
                  <a:srgbClr val="E8F2F5"/>
                </a:solidFill>
                <a:latin typeface="Segoe UI"/>
              </a:rPr>
              <a:t>Offline-first, AI-enhanced flood early-warning: flood-risk classifications from real-time sensor data and cached forecasts through a LAN dashboard — supporting informed decisions, preemptive evacuation planning, and resource allocation even during internet or power interruptions.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1" y="1764792"/>
            <a:ext cx="5440680" cy="1649266"/>
          </a:xfrm>
          <a:prstGeom prst="roundRect">
            <a:avLst>
              <a:gd name="adj" fmla="val 7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6400799" y="1883664"/>
            <a:ext cx="5074920" cy="959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110">
                <a:solidFill>
                  <a:srgbClr val="3EC7B3"/>
                </a:solidFill>
                <a:latin typeface="Segoe UI"/>
              </a:rPr>
              <a:t>Barangay officials &amp; residents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400" b="0" i="0">
                <a:solidFill>
                  <a:srgbClr val="E8F2F5"/>
                </a:solidFill>
                <a:latin typeface="Segoe UI"/>
              </a:rPr>
              <a:t>Timely flood notifications through SMS alerts and dashboard-based monitoring, improving community preparedness and resilience in a flood-prone, low-connectivity setting.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6472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749808" y="3895343"/>
            <a:ext cx="5074920" cy="1196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110" dirty="0">
                <a:solidFill>
                  <a:srgbClr val="3EC7B3"/>
                </a:solidFill>
                <a:latin typeface="Segoe UI"/>
              </a:rPr>
              <a:t>Academic community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A documented, reproducible offline-first hybrid Random Forest + fuzzy-logic flood-risk classification for a rural Philippine barangay, with an honest account of its labeling and validation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1" y="3776472"/>
            <a:ext cx="5440680" cy="1463040"/>
          </a:xfrm>
          <a:prstGeom prst="roundRect">
            <a:avLst>
              <a:gd name="adj" fmla="val 7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400799" y="3895343"/>
            <a:ext cx="5074920" cy="1196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110">
                <a:solidFill>
                  <a:srgbClr val="3EC7B3"/>
                </a:solidFill>
                <a:latin typeface="Segoe UI"/>
              </a:rPr>
              <a:t>Policy-makers &amp; future deployments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400" b="0" i="0">
                <a:solidFill>
                  <a:srgbClr val="E8F2F5"/>
                </a:solidFill>
                <a:latin typeface="Segoe UI"/>
              </a:rPr>
              <a:t>Evidence that barangay-scale early warning can run with minimal internet dependency and edge-based AI — an initial basis for scaling low-cost, power-resilient monitoring to similar communities.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05 · Scope and Delimitation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Scope and Delimitation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9303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In scope vs.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36776"/>
            <a:ext cx="5440680" cy="489204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41148" cy="4572000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4983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spc="110">
                <a:solidFill>
                  <a:srgbClr val="3EC7B3"/>
                </a:solidFill>
                <a:latin typeface="Segoe UI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4846320" cy="367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 dirty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Design, development, and pilot deployment of FLAIRE — offline-first hybrid Fuzzy-AI riverine flood-risk classification and early-warning system, </a:t>
            </a:r>
            <a:r>
              <a:rPr sz="1600" b="0" i="0" dirty="0" err="1">
                <a:solidFill>
                  <a:srgbClr val="E8F2F5"/>
                </a:solidFill>
                <a:latin typeface="Segoe UI"/>
              </a:rPr>
              <a:t>Brgy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. Elvita, Narra, Palawan (one vulnerable river section)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Historical data (PAGASA, NAMRIA) + cached Open-</a:t>
            </a:r>
            <a:r>
              <a:rPr sz="1600" b="0" i="0" dirty="0" err="1">
                <a:solidFill>
                  <a:srgbClr val="E8F2F5"/>
                </a:solidFill>
                <a:latin typeface="Segoe UI"/>
              </a:rPr>
              <a:t>Meteo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 forecasts (6 h refresh), stored locally in SQLite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LoRa sensor node → Raspberry Pi 5 edge device; RF flood propensity (8 features) + 20-rule fuzzy logic → four risk levels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LAN dashboard + SMS alerts; BDRRMC retains alert authority</a:t>
            </a:r>
          </a:p>
          <a:p>
            <a:pPr>
              <a:spcAft>
                <a:spcPts val="800"/>
              </a:spcAft>
            </a:pPr>
            <a:r>
              <a:rPr sz="1600" b="0" i="0" dirty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 dirty="0">
                <a:solidFill>
                  <a:srgbClr val="E8F2F5"/>
                </a:solidFill>
                <a:latin typeface="Segoe UI"/>
              </a:rPr>
              <a:t>Held-out test-set evaluation (80/20) and TAM acceptability survey (n = 2 focal persons)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636776"/>
            <a:ext cx="5440680" cy="489204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199631" y="1783080"/>
            <a:ext cx="41148" cy="457200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55664" y="1801368"/>
            <a:ext cx="4983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 spc="110">
                <a:solidFill>
                  <a:srgbClr val="F4B942"/>
                </a:solidFill>
                <a:latin typeface="Segoe UI"/>
              </a:rPr>
              <a:t>Delimitations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258568"/>
            <a:ext cx="4846320" cy="3559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Riverine flooding only in Brgy. Elvita — excludes coastal flooding, upstream flash floods, areas outside the barangay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Single sensor node; no full river-system coverage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Decision support, not prediction: rule-derived labels; no measured forecast lead time; no threshold-baseline comparison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Preliminary four-event check only; limited deployment duration (~21.5 h)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n = 2 survey — preliminary, not generalizable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EC7B3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E8F2F5"/>
                </a:solidFill>
                <a:latin typeface="Segoe UI"/>
              </a:rPr>
              <a:t>Dependent on historical / forecast / real-time data availability and quality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06 · 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272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River-monitor database schema — insert figure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D4F8F5-574F-7F5E-4602-1293052C5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896" y="1801451"/>
            <a:ext cx="4565902" cy="41146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28102-18DD-98D6-1183-4DB371E0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77C4D-406C-C561-4E25-F6981346661B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06 · Entity relationship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F174F-5C82-374E-0E60-B285016B8CB4}"/>
              </a:ext>
            </a:extLst>
          </p:cNvPr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Entity relationship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8519A-CC7A-1607-66D3-E91E8E7B3583}"/>
              </a:ext>
            </a:extLst>
          </p:cNvPr>
          <p:cNvSpPr txBox="1"/>
          <p:nvPr/>
        </p:nvSpPr>
        <p:spPr>
          <a:xfrm>
            <a:off x="548640" y="125272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River-monitor database schema — insert figure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B2C52E3-98DD-72F4-C7CD-A5FC21B9F9BE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1C8F38-1CAC-2344-FB08-C16F3710B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90" r="7691" b="41161"/>
          <a:stretch>
            <a:fillRect/>
          </a:stretch>
        </p:blipFill>
        <p:spPr>
          <a:xfrm>
            <a:off x="1542134" y="1645920"/>
            <a:ext cx="10100921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2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DB50A-DEDC-98F1-F39C-8785EAA6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A33FD6-7F31-9A9D-96BF-0C1C900F2719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06 · Entity relationship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3893D-5E4D-C51D-F171-183CFF1B0932}"/>
              </a:ext>
            </a:extLst>
          </p:cNvPr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Entity relationship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AC685-E470-7438-DCBE-6D48E59984DB}"/>
              </a:ext>
            </a:extLst>
          </p:cNvPr>
          <p:cNvSpPr txBox="1"/>
          <p:nvPr/>
        </p:nvSpPr>
        <p:spPr>
          <a:xfrm>
            <a:off x="548640" y="125272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River-monitor database schema — insert figure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F6C8E9-BF48-1BE9-38E0-881542B2955C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805A-38CC-5F69-E693-3ED698AA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37" t="53451"/>
          <a:stretch>
            <a:fillRect/>
          </a:stretch>
        </p:blipFill>
        <p:spPr>
          <a:xfrm>
            <a:off x="542544" y="1645920"/>
            <a:ext cx="10107015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0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96DAF-078F-96CA-1A60-7D5E362E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B63E01-3D8A-CB6F-FA6B-CE5B8DCA5200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06 · Entity relationship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052E0-EB80-2510-E8B0-C308B2C20F0F}"/>
              </a:ext>
            </a:extLst>
          </p:cNvPr>
          <p:cNvSpPr txBox="1"/>
          <p:nvPr/>
        </p:nvSpPr>
        <p:spPr>
          <a:xfrm>
            <a:off x="548640" y="62179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Entity relationship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6F12F-E6F0-67E1-8702-6CF5EFD99589}"/>
              </a:ext>
            </a:extLst>
          </p:cNvPr>
          <p:cNvSpPr txBox="1"/>
          <p:nvPr/>
        </p:nvSpPr>
        <p:spPr>
          <a:xfrm>
            <a:off x="548640" y="125272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River-monitor database schema — insert figure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0AA5771-AB29-4DF4-F5F0-D633184D3B57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0539DF-2F94-9C17-C6E7-7F27D5C02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35" b="53451"/>
          <a:stretch>
            <a:fillRect/>
          </a:stretch>
        </p:blipFill>
        <p:spPr>
          <a:xfrm>
            <a:off x="542544" y="1645920"/>
            <a:ext cx="10107015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7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08BAB-A497-8FF2-59F5-E89B8584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122DE-F07D-73A8-0F6A-A841B2ECB377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260" dirty="0">
                <a:solidFill>
                  <a:srgbClr val="3EC7B3"/>
                </a:solidFill>
                <a:latin typeface="Segoe UI"/>
              </a:rPr>
              <a:t>07 · SYSTEM FLOWCHART — NODE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BD663-3057-6994-A0EE-358933C01293}"/>
              </a:ext>
            </a:extLst>
          </p:cNvPr>
          <p:cNvSpPr txBox="1"/>
          <p:nvPr/>
        </p:nvSpPr>
        <p:spPr>
          <a:xfrm>
            <a:off x="548640" y="63361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 dirty="0">
                <a:solidFill>
                  <a:srgbClr val="E8F2F5"/>
                </a:solidFill>
                <a:latin typeface="Georgia"/>
              </a:rPr>
              <a:t>System flowchart — sensor node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23A5F-D291-6693-CEEB-DF1EE22B3375}"/>
              </a:ext>
            </a:extLst>
          </p:cNvPr>
          <p:cNvSpPr txBox="1"/>
          <p:nvPr/>
        </p:nvSpPr>
        <p:spPr>
          <a:xfrm>
            <a:off x="548640" y="125339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 spc="60" dirty="0">
                <a:solidFill>
                  <a:srgbClr val="9FC0C8"/>
                </a:solidFill>
                <a:latin typeface="Segoe UI"/>
              </a:rPr>
              <a:t>Field sensing segment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995E9D92-6A99-AEFE-D875-C303CD441FE3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D2C65CB-B08A-E88C-3235-5FB0622831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8" b="5254"/>
          <a:stretch>
            <a:fillRect/>
          </a:stretch>
        </p:blipFill>
        <p:spPr>
          <a:xfrm>
            <a:off x="3529584" y="1917771"/>
            <a:ext cx="4407408" cy="404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85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08 · SYSTEM FLOWCHART — EDGE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361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4000" b="1" dirty="0">
                <a:solidFill>
                  <a:srgbClr val="E8F2F5"/>
                </a:solidFill>
                <a:latin typeface="Georgia"/>
              </a:rPr>
              <a:t>System flowchart — edge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5339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1400" b="1" spc="60" dirty="0">
                <a:solidFill>
                  <a:srgbClr val="9FC0C8"/>
                </a:solidFill>
                <a:latin typeface="Segoe UI"/>
              </a:rPr>
              <a:t>Raspberry Pi 5 segment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CE7588DB-4A86-7CEB-123A-AE482E77889C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5B3924-052C-3BAD-A66E-2E579A44D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79" y="1699668"/>
            <a:ext cx="4386834" cy="45982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C440B4-7B2D-400C-CCF1-9D63DF5DF9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24" b="10512"/>
          <a:stretch>
            <a:fillRect/>
          </a:stretch>
        </p:blipFill>
        <p:spPr>
          <a:xfrm>
            <a:off x="6634814" y="1707665"/>
            <a:ext cx="4040885" cy="44096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1B770-01BF-DEE7-A87E-89FE4E68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21E158-55EF-60F8-5E7E-E86DAC459417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1600" b="1" spc="260" dirty="0">
                <a:solidFill>
                  <a:srgbClr val="3EC7B3"/>
                </a:solidFill>
                <a:latin typeface="Segoe UI"/>
              </a:rPr>
              <a:t>09 · SYSTEM FLOWCHART —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00164-811B-961A-0AF8-303F22D1E18F}"/>
              </a:ext>
            </a:extLst>
          </p:cNvPr>
          <p:cNvSpPr txBox="1"/>
          <p:nvPr/>
        </p:nvSpPr>
        <p:spPr>
          <a:xfrm>
            <a:off x="548640" y="63361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4000" b="1" dirty="0">
                <a:solidFill>
                  <a:srgbClr val="E8F2F5"/>
                </a:solidFill>
                <a:latin typeface="Georgia"/>
              </a:rPr>
              <a:t>System flowchart —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2C8DD-0C07-BA1A-19E8-341DC39AA467}"/>
              </a:ext>
            </a:extLst>
          </p:cNvPr>
          <p:cNvSpPr txBox="1"/>
          <p:nvPr/>
        </p:nvSpPr>
        <p:spPr>
          <a:xfrm>
            <a:off x="548640" y="125339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1400" b="1" spc="60" dirty="0" err="1">
                <a:solidFill>
                  <a:srgbClr val="9FC0C8"/>
                </a:solidFill>
                <a:latin typeface="Segoe UI"/>
              </a:rPr>
              <a:t>FastAPI</a:t>
            </a:r>
            <a:r>
              <a:rPr lang="en-PH" sz="1400" b="1" spc="60" dirty="0">
                <a:solidFill>
                  <a:srgbClr val="9FC0C8"/>
                </a:solidFill>
                <a:latin typeface="Segoe UI"/>
              </a:rPr>
              <a:t> web dashboard segment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555497F-006F-53C3-9803-E545B4ACAB83}"/>
              </a:ext>
            </a:extLst>
          </p:cNvPr>
          <p:cNvSpPr/>
          <p:nvPr/>
        </p:nvSpPr>
        <p:spPr>
          <a:xfrm>
            <a:off x="548640" y="1645920"/>
            <a:ext cx="11100816" cy="4590288"/>
          </a:xfrm>
          <a:prstGeom prst="roundRect">
            <a:avLst>
              <a:gd name="adj" fmla="val 6000"/>
            </a:avLst>
          </a:prstGeom>
          <a:solidFill>
            <a:srgbClr val="102930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0BE161-4294-E6C2-5226-7CB537AA44CD}"/>
              </a:ext>
            </a:extLst>
          </p:cNvPr>
          <p:cNvSpPr/>
          <p:nvPr/>
        </p:nvSpPr>
        <p:spPr>
          <a:xfrm>
            <a:off x="8174736" y="1728914"/>
            <a:ext cx="310896" cy="4376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78651-F03A-E075-0226-9E2F4A14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1728914"/>
            <a:ext cx="5053584" cy="45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05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48640" y="1810512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120" dirty="0">
                <a:solidFill>
                  <a:srgbClr val="3EC7B3"/>
                </a:solidFill>
                <a:latin typeface="Segoe UI"/>
              </a:rPr>
              <a:t>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65376"/>
            <a:ext cx="822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E8F2F5"/>
                </a:solidFill>
                <a:latin typeface="Segoe UI"/>
              </a:rPr>
              <a:t>₱7,070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Adafruit RFM95 LoRa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Mini magnets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Meshtastic 915 MHz LoRa antenna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Reed switch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MCP73871 power boost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UART 7.5 m waterproof ultrasonic sensor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3.5 W solar panel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3.7 V 10 Ah battery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Enclosure box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PVC pipe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Housing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212848"/>
            <a:ext cx="685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₱2,500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₱300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₱300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₱1,500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₱220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₱250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₱1,000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69538"/>
            <a:ext cx="32826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E8F2F5"/>
                </a:solidFill>
                <a:latin typeface="Segoe UI"/>
              </a:rPr>
              <a:t>Subtotal — ₱7,070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898138"/>
            <a:ext cx="3282696" cy="82296"/>
          </a:xfrm>
          <a:prstGeom prst="roundRect">
            <a:avLst>
              <a:gd name="adj" fmla="val 50000"/>
            </a:avLst>
          </a:prstGeom>
          <a:solidFill>
            <a:srgbClr val="1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3898138"/>
            <a:ext cx="820674" cy="82296"/>
          </a:xfrm>
          <a:prstGeom prst="roundRect">
            <a:avLst>
              <a:gd name="adj" fmla="val 50000"/>
            </a:avLst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9392" y="1810512"/>
            <a:ext cx="3611880" cy="22860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3" y="1901952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120">
                <a:solidFill>
                  <a:srgbClr val="3EC7B3"/>
                </a:solidFill>
                <a:latin typeface="Segoe UI"/>
              </a:rPr>
              <a:t>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1" y="1865376"/>
            <a:ext cx="822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E8F2F5"/>
                </a:solidFill>
                <a:latin typeface="Segoe UI"/>
              </a:rPr>
              <a:t>₱19,050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212848"/>
            <a:ext cx="2606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Meshtastic 915 MHz LoRa antenna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52Pi RPi5 power expansion board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Micro SD card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RPi5 active cooler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Raspberry Pi 5 2 GB board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12 V 12 Ah LiFePO4 battery pack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LoRa RFM95W transceiver board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60 W solar panel w/ controller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SIMCOM A7608e-H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SMS load (yearly)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3" y="2212848"/>
            <a:ext cx="685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₱300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₱1,600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₱750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₱250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₱6,500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₱2,220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₱2,000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₱1,900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₱1,530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3541267"/>
            <a:ext cx="32826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E8F2F5"/>
                </a:solidFill>
                <a:latin typeface="Segoe UI"/>
              </a:rPr>
              <a:t>Subtotal — ₱19,050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3" y="3769867"/>
            <a:ext cx="3282696" cy="82296"/>
          </a:xfrm>
          <a:prstGeom prst="roundRect">
            <a:avLst>
              <a:gd name="adj" fmla="val 50000"/>
            </a:avLst>
          </a:prstGeom>
          <a:solidFill>
            <a:srgbClr val="1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43983" y="3769867"/>
            <a:ext cx="2232233" cy="82296"/>
          </a:xfrm>
          <a:prstGeom prst="roundRect">
            <a:avLst>
              <a:gd name="adj" fmla="val 50000"/>
            </a:avLst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10144" y="1810512"/>
            <a:ext cx="3081528" cy="22860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74736" y="1901952"/>
            <a:ext cx="193852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spc="120">
                <a:solidFill>
                  <a:srgbClr val="3EC7B3"/>
                </a:solidFill>
                <a:latin typeface="Segoe UI"/>
              </a:rPr>
              <a:t>General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1" y="1865376"/>
            <a:ext cx="822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 i="0">
                <a:solidFill>
                  <a:srgbClr val="E8F2F5"/>
                </a:solidFill>
                <a:latin typeface="Segoe UI"/>
              </a:rPr>
              <a:t>₱1,800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212848"/>
            <a:ext cx="207568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Breadboard (2 × 100)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Wires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Marine plywood</a:t>
            </a:r>
          </a:p>
          <a:p>
            <a:pPr>
              <a:spcAft>
                <a:spcPts val="50"/>
              </a:spcAft>
            </a:pPr>
            <a:r>
              <a:rPr sz="800" b="0" i="0">
                <a:solidFill>
                  <a:srgbClr val="E8F2F5"/>
                </a:solidFill>
                <a:latin typeface="Segoe UI"/>
              </a:rPr>
              <a:t>Miscellaneous electrical components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0424" y="2212848"/>
            <a:ext cx="6858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₱200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₱400</a:t>
            </a:r>
          </a:p>
          <a:p>
            <a:pPr algn="r">
              <a:spcAft>
                <a:spcPts val="50"/>
              </a:spcAft>
            </a:pPr>
            <a:r>
              <a:rPr sz="800" b="1" i="0">
                <a:solidFill>
                  <a:srgbClr val="3EC7B3"/>
                </a:solidFill>
                <a:latin typeface="Segoe UI"/>
              </a:rPr>
              <a:t>₱1,000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771648"/>
            <a:ext cx="27523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E8F2F5"/>
                </a:solidFill>
                <a:latin typeface="Segoe UI"/>
              </a:rPr>
              <a:t>Subtotal — ₱1,800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3000248"/>
            <a:ext cx="2752344" cy="82296"/>
          </a:xfrm>
          <a:prstGeom prst="roundRect">
            <a:avLst>
              <a:gd name="adj" fmla="val 50000"/>
            </a:avLst>
          </a:prstGeom>
          <a:solidFill>
            <a:srgbClr val="1E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74736" y="3000248"/>
            <a:ext cx="165140" cy="82296"/>
          </a:xfrm>
          <a:prstGeom prst="roundRect">
            <a:avLst>
              <a:gd name="adj" fmla="val 50000"/>
            </a:avLst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10144" y="4775667"/>
            <a:ext cx="3081528" cy="914400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30" name="Rectangle 29"/>
          <p:cNvSpPr/>
          <p:nvPr/>
        </p:nvSpPr>
        <p:spPr>
          <a:xfrm>
            <a:off x="8083296" y="4803100"/>
            <a:ext cx="2935224" cy="41148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8138160" y="4862591"/>
            <a:ext cx="2825496" cy="7771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E8F2F5"/>
                </a:solidFill>
                <a:latin typeface="Georgia"/>
              </a:rPr>
              <a:t>₱27,920</a:t>
            </a:r>
          </a:p>
          <a:p>
            <a:pPr algn="ctr">
              <a:spcBef>
                <a:spcPts val="300"/>
              </a:spcBef>
            </a:pPr>
            <a:r>
              <a:rPr sz="1200" b="1" i="0" spc="120">
                <a:solidFill>
                  <a:srgbClr val="9FC0C8"/>
                </a:solidFill>
                <a:latin typeface="Segoe UI"/>
              </a:rPr>
              <a:t>Total build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58538"/>
            <a:ext cx="7086600" cy="1935185"/>
          </a:xfrm>
          <a:prstGeom prst="roundRect">
            <a:avLst>
              <a:gd name="adj" fmla="val 8000"/>
            </a:avLst>
          </a:prstGeom>
          <a:solidFill>
            <a:srgbClr val="21302B"/>
          </a:solidFill>
          <a:ln w="1524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600"/>
          </a:p>
        </p:txBody>
      </p:sp>
      <p:sp>
        <p:nvSpPr>
          <p:cNvPr id="33" name="TextBox 32"/>
          <p:cNvSpPr txBox="1"/>
          <p:nvPr/>
        </p:nvSpPr>
        <p:spPr>
          <a:xfrm>
            <a:off x="749808" y="4627627"/>
            <a:ext cx="6684264" cy="1777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 dirty="0">
                <a:solidFill>
                  <a:srgbClr val="F4B942"/>
                </a:solidFill>
                <a:latin typeface="Segoe UI"/>
              </a:rPr>
              <a:t>Benefits (thesis):</a:t>
            </a:r>
          </a:p>
          <a:p>
            <a:pPr>
              <a:spcAft>
                <a:spcPts val="300"/>
              </a:spcAft>
            </a:pPr>
            <a:r>
              <a:rPr sz="1200" b="0" i="0" dirty="0">
                <a:solidFill>
                  <a:srgbClr val="E8F2F5"/>
                </a:solidFill>
                <a:latin typeface="Segoe UI"/>
              </a:rPr>
              <a:t>Technical — continuous water-level and rainfall monitoring without constant internet; local storage; RF + fuzzy-logic pipeline on the Pi 5; LAN dashboard.</a:t>
            </a:r>
          </a:p>
          <a:p>
            <a:pPr>
              <a:spcAft>
                <a:spcPts val="300"/>
              </a:spcAft>
            </a:pPr>
            <a:r>
              <a:rPr sz="1200" b="0" i="0" dirty="0">
                <a:solidFill>
                  <a:srgbClr val="E8F2F5"/>
                </a:solidFill>
                <a:latin typeface="Segoe UI"/>
              </a:rPr>
              <a:t>Operational — continuous hydrological information and AI risk classifications for BDRRMC personnel; Receding classification under stable conditions; Alert / Alarm / Critical with SMS during heavy rainfall.</a:t>
            </a:r>
          </a:p>
          <a:p>
            <a:pPr>
              <a:spcAft>
                <a:spcPts val="300"/>
              </a:spcAft>
            </a:pPr>
            <a:r>
              <a:rPr sz="1200" b="0" i="0" dirty="0">
                <a:solidFill>
                  <a:srgbClr val="E8F2F5"/>
                </a:solidFill>
                <a:latin typeface="Segoe UI"/>
              </a:rPr>
              <a:t>Community — improved situational awareness and earlier preparedness; reduced dependence on visual observation and municipality-wide MDRRMO alerts. Final alert authority stays with the BDRRMC — decision-support, not autonomous warning.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EC9CFB-2098-E69D-0748-FA63FEB14CE2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1600" b="1" spc="260" dirty="0">
                <a:solidFill>
                  <a:srgbClr val="3EC7B3"/>
                </a:solidFill>
                <a:latin typeface="Segoe UI"/>
              </a:rPr>
              <a:t>10 · COST AND BENEFITS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D7B297-0E00-5B7A-CB00-33C4BD4A7812}"/>
              </a:ext>
            </a:extLst>
          </p:cNvPr>
          <p:cNvSpPr txBox="1"/>
          <p:nvPr/>
        </p:nvSpPr>
        <p:spPr>
          <a:xfrm>
            <a:off x="548640" y="63361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Cost and benefits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E335F-860D-BC92-72C0-32107C2EFD85}"/>
              </a:ext>
            </a:extLst>
          </p:cNvPr>
          <p:cNvSpPr txBox="1"/>
          <p:nvPr/>
        </p:nvSpPr>
        <p:spPr>
          <a:xfrm>
            <a:off x="548640" y="1253397"/>
            <a:ext cx="110944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1" spc="60" dirty="0">
                <a:solidFill>
                  <a:srgbClr val="9FC0C8"/>
                </a:solidFill>
                <a:latin typeface="Segoe UI"/>
              </a:rPr>
              <a:t>Bill of materials &amp; expected benefits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640" y="2012476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 dirty="0">
                <a:solidFill>
                  <a:srgbClr val="9FC0C8"/>
                </a:solidFill>
                <a:latin typeface="Segoe UI"/>
              </a:rPr>
              <a:t>Q1: What are the key problems and limitations in current flood-warning practices and data utilization in </a:t>
            </a:r>
            <a:r>
              <a:rPr sz="1600" b="0" i="0" dirty="0" err="1">
                <a:solidFill>
                  <a:srgbClr val="9FC0C8"/>
                </a:solidFill>
                <a:latin typeface="Segoe UI"/>
              </a:rPr>
              <a:t>Brgy</a:t>
            </a:r>
            <a:r>
              <a:rPr sz="1600" b="0" i="0" dirty="0">
                <a:solidFill>
                  <a:srgbClr val="9FC0C8"/>
                </a:solidFill>
                <a:latin typeface="Segoe UI"/>
              </a:rPr>
              <a:t>. Elvita, and how can an offline-first, AI-based flood early-warning system address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40545"/>
            <a:ext cx="5989320" cy="32316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Current monitoring relies on a manual rain gauge, visual river observation, and a tide calendar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MDRRMO advisories cover the whole municipality — an alert may not mean 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Brgy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. Elvita is affected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H" b="0" i="0" dirty="0">
                <a:solidFill>
                  <a:srgbClr val="E8F2F5"/>
                </a:solidFill>
                <a:latin typeface="Segoe UI"/>
              </a:rPr>
              <a:t>O</a:t>
            </a:r>
            <a:r>
              <a:rPr b="0" i="0" dirty="0" err="1">
                <a:solidFill>
                  <a:srgbClr val="E8F2F5"/>
                </a:solidFill>
                <a:latin typeface="Segoe UI"/>
              </a:rPr>
              <a:t>fficials</a:t>
            </a:r>
            <a:r>
              <a:rPr b="0" i="0" dirty="0">
                <a:solidFill>
                  <a:srgbClr val="E8F2F5"/>
                </a:solidFill>
                <a:latin typeface="Segoe UI"/>
              </a:rPr>
              <a:t> face uncertainty deciding whether an advisory needs local preparedness or response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Network or power interruptions can limit communication and warning/response efforts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b="0" i="0" dirty="0">
                <a:solidFill>
                  <a:srgbClr val="E8F2F5"/>
                </a:solidFill>
                <a:latin typeface="Segoe UI"/>
              </a:rPr>
              <a:t>No continuous, automated, barangay-specific water-level and rainfall records exist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7609" y="2691737"/>
            <a:ext cx="4782312" cy="3748123"/>
          </a:xfrm>
          <a:prstGeom prst="roundRect">
            <a:avLst>
              <a:gd name="adj" fmla="val 6000"/>
            </a:avLst>
          </a:prstGeom>
          <a:solidFill>
            <a:srgbClr val="A1D5E3"/>
          </a:solidFill>
          <a:ln w="19050">
            <a:solidFill>
              <a:srgbClr val="3263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9178B-5B8E-981B-6D1E-47391E63B193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11 · RESULTS AND DISCUSSION — Q1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6EBA7-80AE-19E9-F6BA-B947B1A2FC30}"/>
              </a:ext>
            </a:extLst>
          </p:cNvPr>
          <p:cNvSpPr txBox="1"/>
          <p:nvPr/>
        </p:nvSpPr>
        <p:spPr>
          <a:xfrm>
            <a:off x="548640" y="633612"/>
            <a:ext cx="1109441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Results and discussion — Q1: Current practices &amp; the warning gap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CB50A07-BF06-38AB-8CF8-7011216A9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911530"/>
            <a:ext cx="4422074" cy="3800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4DCA7-E00A-9D72-CBAA-6B418A17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35B8B9-E784-823D-27AD-E571811573F6}"/>
              </a:ext>
            </a:extLst>
          </p:cNvPr>
          <p:cNvSpPr txBox="1"/>
          <p:nvPr/>
        </p:nvSpPr>
        <p:spPr>
          <a:xfrm>
            <a:off x="548640" y="2011107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9FC0C8"/>
                </a:solidFill>
                <a:latin typeface="Segoe UI"/>
              </a:rPr>
              <a:t>Q2: How can a Fuzzy-AI riverine flood-risk classification system be designed and developed for </a:t>
            </a:r>
            <a:r>
              <a:rPr lang="en-US" sz="1600" dirty="0" err="1">
                <a:solidFill>
                  <a:srgbClr val="9FC0C8"/>
                </a:solidFill>
                <a:latin typeface="Segoe UI"/>
              </a:rPr>
              <a:t>Brgy</a:t>
            </a:r>
            <a:r>
              <a:rPr lang="en-US" sz="1600" dirty="0">
                <a:solidFill>
                  <a:srgbClr val="9FC0C8"/>
                </a:solidFill>
                <a:latin typeface="Segoe UI"/>
              </a:rPr>
              <a:t>. Elvita integrating cached forecasts, a LoRa sensor node, an </a:t>
            </a:r>
            <a:r>
              <a:rPr lang="en-US" sz="1600" dirty="0" err="1">
                <a:solidFill>
                  <a:srgbClr val="9FC0C8"/>
                </a:solidFill>
                <a:latin typeface="Segoe UI"/>
              </a:rPr>
              <a:t>RF+fuzzy</a:t>
            </a:r>
            <a:r>
              <a:rPr lang="en-US" sz="1600" dirty="0">
                <a:solidFill>
                  <a:srgbClr val="9FC0C8"/>
                </a:solidFill>
                <a:latin typeface="Segoe UI"/>
              </a:rPr>
              <a:t> pipeline, and a LAN dashboard?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BA9B2-ABE9-2288-A913-427AF9308DF6}"/>
              </a:ext>
            </a:extLst>
          </p:cNvPr>
          <p:cNvSpPr txBox="1"/>
          <p:nvPr/>
        </p:nvSpPr>
        <p:spPr>
          <a:xfrm>
            <a:off x="548639" y="2819626"/>
            <a:ext cx="11094415" cy="22390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Offline-first: cached Open-</a:t>
            </a:r>
            <a:r>
              <a:rPr lang="en-PH" dirty="0" err="1">
                <a:solidFill>
                  <a:srgbClr val="E8F2F5"/>
                </a:solidFill>
                <a:latin typeface="Segoe UI"/>
              </a:rPr>
              <a:t>Meteo</a:t>
            </a:r>
            <a:r>
              <a:rPr lang="en-PH" dirty="0">
                <a:solidFill>
                  <a:srgbClr val="E8F2F5"/>
                </a:solidFill>
                <a:latin typeface="Segoe UI"/>
              </a:rPr>
              <a:t> weather/tide forecasts stored locally on the Pi 5</a:t>
            </a:r>
          </a:p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LoRa sensor node sends water-level + rainfall to the Raspberry Pi 5 edge device</a:t>
            </a:r>
          </a:p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Hybrid AI pipeline: RF flood propensity (8 features) → 20-rule fuzzy → 4 risk levels</a:t>
            </a:r>
          </a:p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Local SQLite database stores readings, forecasts, model outputs, and alerts</a:t>
            </a:r>
          </a:p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LAN dashboard shows live status, graphs, RF/fuzzy results, alert history — no internet needed</a:t>
            </a:r>
          </a:p>
          <a:p>
            <a:pPr>
              <a:spcAft>
                <a:spcPts val="900"/>
              </a:spcAft>
            </a:pPr>
            <a:r>
              <a:rPr lang="en-PH" dirty="0">
                <a:solidFill>
                  <a:srgbClr val="E8F2F5"/>
                </a:solidFill>
                <a:latin typeface="Segoe UI"/>
              </a:rPr>
              <a:t>✓ SMS via GSM modem (Alarm/Critical only); BDRRMC retains alert authority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82BCE6-EFF8-D893-8A94-7CA0C3EA5C56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12 · RESULTS AND DISCUSSION — Q2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CCCEA-871B-B7E3-D94E-20517523D948}"/>
              </a:ext>
            </a:extLst>
          </p:cNvPr>
          <p:cNvSpPr txBox="1"/>
          <p:nvPr/>
        </p:nvSpPr>
        <p:spPr>
          <a:xfrm>
            <a:off x="548640" y="633612"/>
            <a:ext cx="1109441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Results and discussion — Q2: System design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394991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89CDF-E23E-FC6E-FCC0-1FF88D5D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0AB0F4-6683-1EEF-8DC3-488C8EDF5588}"/>
              </a:ext>
            </a:extLst>
          </p:cNvPr>
          <p:cNvSpPr txBox="1"/>
          <p:nvPr/>
        </p:nvSpPr>
        <p:spPr>
          <a:xfrm>
            <a:off x="548640" y="2011389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9FC0C8"/>
                </a:solidFill>
                <a:latin typeface="Segoe UI"/>
              </a:rPr>
              <a:t>Q3: How consistently does the Random Forest reproduce the rule-derived Low, Medium, and High flood-propensity categories on a held-out test set?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63000E-5884-B403-6572-AA67C446519D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13 · RESULTS AND DISCUSSION — Q3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BDB82-8403-CF7C-35E9-3E52872B09DE}"/>
              </a:ext>
            </a:extLst>
          </p:cNvPr>
          <p:cNvSpPr txBox="1"/>
          <p:nvPr/>
        </p:nvSpPr>
        <p:spPr>
          <a:xfrm>
            <a:off x="548640" y="633612"/>
            <a:ext cx="1109441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Results and discussion — Q3: Random Forest consistency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3814BBA9-DBE7-2D24-C752-58BBE6C546E3}"/>
              </a:ext>
            </a:extLst>
          </p:cNvPr>
          <p:cNvSpPr/>
          <p:nvPr/>
        </p:nvSpPr>
        <p:spPr>
          <a:xfrm>
            <a:off x="548640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9BDEB6-0AC9-86FE-8FCF-ED954339D199}"/>
              </a:ext>
            </a:extLst>
          </p:cNvPr>
          <p:cNvSpPr/>
          <p:nvPr/>
        </p:nvSpPr>
        <p:spPr>
          <a:xfrm>
            <a:off x="621792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5C852-1229-D709-7C57-54A15BBA5CAF}"/>
              </a:ext>
            </a:extLst>
          </p:cNvPr>
          <p:cNvSpPr txBox="1"/>
          <p:nvPr/>
        </p:nvSpPr>
        <p:spPr>
          <a:xfrm>
            <a:off x="676656" y="2798058"/>
            <a:ext cx="1847087" cy="6309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E8F2F5"/>
                </a:solidFill>
                <a:latin typeface="Georgia"/>
              </a:rPr>
              <a:t>94.26%</a:t>
            </a:r>
          </a:p>
          <a:p>
            <a:pPr algn="ctr">
              <a:spcBef>
                <a:spcPts val="300"/>
              </a:spcBef>
            </a:pPr>
            <a:r>
              <a:rPr sz="1050" b="1" i="0" spc="120">
                <a:solidFill>
                  <a:srgbClr val="9FC0C8"/>
                </a:solidFill>
                <a:latin typeface="Segoe UI"/>
              </a:rPr>
              <a:t>Accuracy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7CD342E3-34B8-1459-6907-E477474AC53C}"/>
              </a:ext>
            </a:extLst>
          </p:cNvPr>
          <p:cNvSpPr/>
          <p:nvPr/>
        </p:nvSpPr>
        <p:spPr>
          <a:xfrm>
            <a:off x="2793491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89526D-5969-EB96-D71D-144B7C443DDE}"/>
              </a:ext>
            </a:extLst>
          </p:cNvPr>
          <p:cNvSpPr/>
          <p:nvPr/>
        </p:nvSpPr>
        <p:spPr>
          <a:xfrm>
            <a:off x="2866644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8B44F-1F58-1652-8C36-451A5880305F}"/>
              </a:ext>
            </a:extLst>
          </p:cNvPr>
          <p:cNvSpPr txBox="1"/>
          <p:nvPr/>
        </p:nvSpPr>
        <p:spPr>
          <a:xfrm>
            <a:off x="2921508" y="2798058"/>
            <a:ext cx="1847087" cy="6309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E8F2F5"/>
                </a:solidFill>
                <a:latin typeface="Georgia"/>
              </a:rPr>
              <a:t>0.933</a:t>
            </a:r>
          </a:p>
          <a:p>
            <a:pPr algn="ctr">
              <a:spcBef>
                <a:spcPts val="300"/>
              </a:spcBef>
            </a:pPr>
            <a:r>
              <a:rPr sz="1050" b="1" i="0" spc="120">
                <a:solidFill>
                  <a:srgbClr val="9FC0C8"/>
                </a:solidFill>
                <a:latin typeface="Segoe UI"/>
              </a:rPr>
              <a:t>Macro F1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568F3ABC-7C5F-D21D-8CC5-3C36FF91DDF0}"/>
              </a:ext>
            </a:extLst>
          </p:cNvPr>
          <p:cNvSpPr/>
          <p:nvPr/>
        </p:nvSpPr>
        <p:spPr>
          <a:xfrm>
            <a:off x="5038344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C823FA-7555-B5D7-6FBF-CAC9749EF447}"/>
              </a:ext>
            </a:extLst>
          </p:cNvPr>
          <p:cNvSpPr/>
          <p:nvPr/>
        </p:nvSpPr>
        <p:spPr>
          <a:xfrm>
            <a:off x="5111496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94F5B9-F29D-2F6D-4268-7C4369F65352}"/>
              </a:ext>
            </a:extLst>
          </p:cNvPr>
          <p:cNvSpPr txBox="1"/>
          <p:nvPr/>
        </p:nvSpPr>
        <p:spPr>
          <a:xfrm>
            <a:off x="5166359" y="2798058"/>
            <a:ext cx="1847087" cy="6309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E8F2F5"/>
                </a:solidFill>
                <a:latin typeface="Georgia"/>
              </a:rPr>
              <a:t>0.943</a:t>
            </a:r>
          </a:p>
          <a:p>
            <a:pPr algn="ctr">
              <a:spcBef>
                <a:spcPts val="300"/>
              </a:spcBef>
            </a:pPr>
            <a:r>
              <a:rPr sz="1050" b="1" i="0" spc="120">
                <a:solidFill>
                  <a:srgbClr val="9FC0C8"/>
                </a:solidFill>
                <a:latin typeface="Segoe UI"/>
              </a:rPr>
              <a:t>Weighted F1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87815996-CAB3-3EAA-927C-195D15E4A5B0}"/>
              </a:ext>
            </a:extLst>
          </p:cNvPr>
          <p:cNvSpPr/>
          <p:nvPr/>
        </p:nvSpPr>
        <p:spPr>
          <a:xfrm>
            <a:off x="7283196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AB66FE-7964-B4F9-EDFB-5A56FF6E1E03}"/>
              </a:ext>
            </a:extLst>
          </p:cNvPr>
          <p:cNvSpPr/>
          <p:nvPr/>
        </p:nvSpPr>
        <p:spPr>
          <a:xfrm>
            <a:off x="7356348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E5729E-29C9-B09C-2E1A-614988A80ED2}"/>
              </a:ext>
            </a:extLst>
          </p:cNvPr>
          <p:cNvSpPr txBox="1"/>
          <p:nvPr/>
        </p:nvSpPr>
        <p:spPr>
          <a:xfrm>
            <a:off x="7411212" y="2828835"/>
            <a:ext cx="18470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E8F2F5"/>
                </a:solidFill>
                <a:latin typeface="Georgia"/>
              </a:rPr>
              <a:t>1,826</a:t>
            </a:r>
          </a:p>
          <a:p>
            <a:pPr algn="ctr">
              <a:spcBef>
                <a:spcPts val="300"/>
              </a:spcBef>
            </a:pPr>
            <a:r>
              <a:rPr sz="1050" b="1" i="0" spc="120">
                <a:solidFill>
                  <a:srgbClr val="9FC0C8"/>
                </a:solidFill>
                <a:latin typeface="Segoe UI"/>
              </a:rPr>
              <a:t>Training records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5383F978-F936-DA92-D7C0-5AA9421B9F16}"/>
              </a:ext>
            </a:extLst>
          </p:cNvPr>
          <p:cNvSpPr/>
          <p:nvPr/>
        </p:nvSpPr>
        <p:spPr>
          <a:xfrm>
            <a:off x="9528048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4514F8-6CE2-6EAF-AB97-7C003FC5178D}"/>
              </a:ext>
            </a:extLst>
          </p:cNvPr>
          <p:cNvSpPr/>
          <p:nvPr/>
        </p:nvSpPr>
        <p:spPr>
          <a:xfrm>
            <a:off x="9601200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5F7FF7-9A67-04F4-5975-A1553E2E7403}"/>
              </a:ext>
            </a:extLst>
          </p:cNvPr>
          <p:cNvSpPr txBox="1"/>
          <p:nvPr/>
        </p:nvSpPr>
        <p:spPr>
          <a:xfrm>
            <a:off x="9656064" y="2828835"/>
            <a:ext cx="18470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E8F2F5"/>
                </a:solidFill>
                <a:latin typeface="Georgia"/>
              </a:rPr>
              <a:t>2 of 4</a:t>
            </a:r>
          </a:p>
          <a:p>
            <a:pPr algn="ctr">
              <a:spcBef>
                <a:spcPts val="300"/>
              </a:spcBef>
            </a:pPr>
            <a:r>
              <a:rPr sz="1050" b="1" i="0" spc="120">
                <a:solidFill>
                  <a:srgbClr val="9FC0C8"/>
                </a:solidFill>
                <a:latin typeface="Segoe UI"/>
              </a:rPr>
              <a:t>Events matched rule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D0E140-1F25-A86F-8D3E-79DDE91B4128}"/>
              </a:ext>
            </a:extLst>
          </p:cNvPr>
          <p:cNvSpPr txBox="1"/>
          <p:nvPr/>
        </p:nvSpPr>
        <p:spPr>
          <a:xfrm>
            <a:off x="548640" y="3734428"/>
            <a:ext cx="6217920" cy="2769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Trained 2020–2024 on PAGASA meteorological + NAMRIA tidal data (1,826 daily records)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Random stratified 80/20 split (1,460 train / 366 test); no cross-validation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Rule-derived labels (composite score ≥6.0 High, ≥3.0 Medium, &lt;3.0 Low) from the same 8 features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Low F1 0.9728 · Medium F1 0.9099 · High F1 0.9160 · High recall 0.9524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External probe: 2 of 4 documented flood events (2020–2025) classified High by the rule — diagnostic case check, not validation</a:t>
            </a:r>
          </a:p>
        </p:txBody>
      </p:sp>
    </p:spTree>
    <p:extLst>
      <p:ext uri="{BB962C8B-B14F-4D97-AF65-F5344CB8AC3E}">
        <p14:creationId xmlns:p14="http://schemas.microsoft.com/office/powerpoint/2010/main" val="331456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0B725-EC90-CC71-3104-20779D53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291488-8B10-C24A-1E7A-D955B0F56A89}"/>
              </a:ext>
            </a:extLst>
          </p:cNvPr>
          <p:cNvSpPr txBox="1"/>
          <p:nvPr/>
        </p:nvSpPr>
        <p:spPr>
          <a:xfrm>
            <a:off x="548640" y="2011389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9FC0C8"/>
                </a:solidFill>
                <a:latin typeface="Segoe UI"/>
              </a:rPr>
              <a:t>Q4: How did the FLAIRE prototype perform during a limited field deployment in terms of sensor-data capture, data logging, and data quality?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3B654-4C54-3F0B-3E0E-7884AA404CB5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14 · RESULTS AND DISCUSSION — Q4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04C5BF-A619-C32C-D064-7A15A047545A}"/>
              </a:ext>
            </a:extLst>
          </p:cNvPr>
          <p:cNvSpPr txBox="1"/>
          <p:nvPr/>
        </p:nvSpPr>
        <p:spPr>
          <a:xfrm>
            <a:off x="548640" y="633612"/>
            <a:ext cx="1109441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Results and discussion — Q4: Field deployment performance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141CB8D9-9259-88D7-BF16-EBC603B3A03D}"/>
              </a:ext>
            </a:extLst>
          </p:cNvPr>
          <p:cNvSpPr/>
          <p:nvPr/>
        </p:nvSpPr>
        <p:spPr>
          <a:xfrm>
            <a:off x="548640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0F343-CE49-588F-481E-019CED63F7A4}"/>
              </a:ext>
            </a:extLst>
          </p:cNvPr>
          <p:cNvSpPr/>
          <p:nvPr/>
        </p:nvSpPr>
        <p:spPr>
          <a:xfrm>
            <a:off x="621792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992CE-063E-1AEF-4D00-C49653D5CA39}"/>
              </a:ext>
            </a:extLst>
          </p:cNvPr>
          <p:cNvSpPr txBox="1"/>
          <p:nvPr/>
        </p:nvSpPr>
        <p:spPr>
          <a:xfrm>
            <a:off x="676656" y="2828835"/>
            <a:ext cx="18470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 i="0" dirty="0">
                <a:solidFill>
                  <a:srgbClr val="E8F2F5"/>
                </a:solidFill>
                <a:latin typeface="Georgia"/>
              </a:rPr>
              <a:t>21.5 h</a:t>
            </a:r>
            <a:endParaRPr sz="2400" b="1" i="0" dirty="0">
              <a:solidFill>
                <a:srgbClr val="E8F2F5"/>
              </a:solidFill>
              <a:latin typeface="Georgia"/>
            </a:endParaRPr>
          </a:p>
          <a:p>
            <a:pPr algn="ctr">
              <a:spcBef>
                <a:spcPts val="300"/>
              </a:spcBef>
            </a:pPr>
            <a:r>
              <a:rPr lang="en-US" sz="1000" b="1" spc="120" dirty="0">
                <a:solidFill>
                  <a:srgbClr val="9FC0C8"/>
                </a:solidFill>
                <a:latin typeface="Segoe UI"/>
              </a:rPr>
              <a:t>Logged</a:t>
            </a:r>
            <a:endParaRPr sz="1000" b="1" i="0" spc="120" dirty="0">
              <a:solidFill>
                <a:srgbClr val="9FC0C8"/>
              </a:solidFill>
              <a:latin typeface="Segoe UI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9113B33-6211-0870-DA7F-D8616A153D79}"/>
              </a:ext>
            </a:extLst>
          </p:cNvPr>
          <p:cNvSpPr/>
          <p:nvPr/>
        </p:nvSpPr>
        <p:spPr>
          <a:xfrm>
            <a:off x="2793491" y="2738623"/>
            <a:ext cx="210312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17925-460D-2308-1643-C1249187AA67}"/>
              </a:ext>
            </a:extLst>
          </p:cNvPr>
          <p:cNvSpPr/>
          <p:nvPr/>
        </p:nvSpPr>
        <p:spPr>
          <a:xfrm>
            <a:off x="2866644" y="2766055"/>
            <a:ext cx="1956815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AE41E-3980-8AF8-9C62-B2C4ED6DE73E}"/>
              </a:ext>
            </a:extLst>
          </p:cNvPr>
          <p:cNvSpPr txBox="1"/>
          <p:nvPr/>
        </p:nvSpPr>
        <p:spPr>
          <a:xfrm>
            <a:off x="2921508" y="2828835"/>
            <a:ext cx="1847087" cy="5693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400" b="1" i="0" dirty="0">
                <a:solidFill>
                  <a:srgbClr val="E8F2F5"/>
                </a:solidFill>
                <a:latin typeface="Georgia"/>
              </a:rPr>
              <a:t>13,568</a:t>
            </a:r>
            <a:endParaRPr sz="2400" b="1" i="0" dirty="0">
              <a:solidFill>
                <a:srgbClr val="E8F2F5"/>
              </a:solidFill>
              <a:latin typeface="Georgia"/>
            </a:endParaRPr>
          </a:p>
          <a:p>
            <a:pPr algn="ctr">
              <a:spcBef>
                <a:spcPts val="300"/>
              </a:spcBef>
            </a:pPr>
            <a:r>
              <a:rPr lang="en-US" sz="1000" b="1" spc="120" dirty="0">
                <a:solidFill>
                  <a:srgbClr val="9FC0C8"/>
                </a:solidFill>
                <a:latin typeface="Segoe UI"/>
              </a:rPr>
              <a:t>Records</a:t>
            </a:r>
            <a:endParaRPr sz="1000" b="1" i="0" spc="120" dirty="0">
              <a:solidFill>
                <a:srgbClr val="9FC0C8"/>
              </a:solidFill>
              <a:latin typeface="Segoe U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DD1B04-9D9F-A637-7159-B1EB685C6F02}"/>
              </a:ext>
            </a:extLst>
          </p:cNvPr>
          <p:cNvSpPr txBox="1"/>
          <p:nvPr/>
        </p:nvSpPr>
        <p:spPr>
          <a:xfrm>
            <a:off x="548640" y="3734428"/>
            <a:ext cx="6217920" cy="22006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8F2F5"/>
                </a:solidFill>
                <a:latin typeface="Segoe UI"/>
              </a:rPr>
              <a:t>Logged 13,568 LoRa records over ~21.5 h (intended ~47 h; battery depletion ended it early)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8F2F5"/>
                </a:solidFill>
                <a:latin typeface="Segoe UI"/>
              </a:rPr>
              <a:t>Water level stayed in the Low band (≈0.01–0.18 m), below the alert threshold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8F2F5"/>
                </a:solidFill>
                <a:latin typeface="Segoe UI"/>
              </a:rPr>
              <a:t>67 zero-distance, 124 negative, and 5 implausible-distance readings flagged for review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8F2F5"/>
                </a:solidFill>
                <a:latin typeface="Segoe UI"/>
              </a:rPr>
              <a:t>River stayed Receding — Alert, Alarm, and Critical classes could not be exercised</a:t>
            </a:r>
          </a:p>
        </p:txBody>
      </p:sp>
    </p:spTree>
    <p:extLst>
      <p:ext uri="{BB962C8B-B14F-4D97-AF65-F5344CB8AC3E}">
        <p14:creationId xmlns:p14="http://schemas.microsoft.com/office/powerpoint/2010/main" val="277571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7A25B-338D-73E2-BA0B-0167313F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89D78-9556-5E1D-1C86-D673B2021AE5}"/>
              </a:ext>
            </a:extLst>
          </p:cNvPr>
          <p:cNvSpPr txBox="1"/>
          <p:nvPr/>
        </p:nvSpPr>
        <p:spPr>
          <a:xfrm>
            <a:off x="548640" y="2011389"/>
            <a:ext cx="1109441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9FC0C8"/>
                </a:solidFill>
                <a:latin typeface="Segoe UI"/>
              </a:rPr>
              <a:t>Q5: How acceptable is FLAIRE to the BDRRMC focal persons in terms of functionality, usability, reliability, preparedness, attitude, and intention to use?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B00FD-A2CF-F607-3D50-8E502BFB1F16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1600" b="1" spc="260" dirty="0">
                <a:solidFill>
                  <a:srgbClr val="3EC7B3"/>
                </a:solidFill>
                <a:latin typeface="Segoe UI"/>
              </a:rPr>
              <a:t>16 · SUMMARY, CONCLUSION &amp; RECOMMENDATION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77FFA-1982-62DD-CE51-D0BE54EF8797}"/>
              </a:ext>
            </a:extLst>
          </p:cNvPr>
          <p:cNvSpPr txBox="1"/>
          <p:nvPr/>
        </p:nvSpPr>
        <p:spPr>
          <a:xfrm>
            <a:off x="548640" y="633612"/>
            <a:ext cx="1109441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4000" b="1" dirty="0">
                <a:solidFill>
                  <a:srgbClr val="E8F2F5"/>
                </a:solidFill>
                <a:latin typeface="Georgia"/>
              </a:rPr>
              <a:t>Results and discussion — Q5: Acceptability (TAM)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6DC9172-4008-6CEB-1B81-82D3F0DC43A3}"/>
              </a:ext>
            </a:extLst>
          </p:cNvPr>
          <p:cNvSpPr/>
          <p:nvPr/>
        </p:nvSpPr>
        <p:spPr>
          <a:xfrm>
            <a:off x="548640" y="2736269"/>
            <a:ext cx="237744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8AEA1B-14A9-3846-CA17-D8AC5F60DA5A}"/>
              </a:ext>
            </a:extLst>
          </p:cNvPr>
          <p:cNvSpPr/>
          <p:nvPr/>
        </p:nvSpPr>
        <p:spPr>
          <a:xfrm>
            <a:off x="621792" y="2763700"/>
            <a:ext cx="2231136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5C0582-69B7-B43C-D095-C3CA2332017E}"/>
              </a:ext>
            </a:extLst>
          </p:cNvPr>
          <p:cNvSpPr txBox="1"/>
          <p:nvPr/>
        </p:nvSpPr>
        <p:spPr>
          <a:xfrm>
            <a:off x="676656" y="2857259"/>
            <a:ext cx="2121408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8F2F5"/>
                </a:solidFill>
                <a:latin typeface="Georgia"/>
              </a:rPr>
              <a:t>n = 2</a:t>
            </a:r>
          </a:p>
          <a:p>
            <a:pPr algn="ctr">
              <a:spcBef>
                <a:spcPts val="300"/>
              </a:spcBef>
            </a:pPr>
            <a:r>
              <a:rPr sz="1000" b="1" i="0" spc="120">
                <a:solidFill>
                  <a:srgbClr val="9FC0C8"/>
                </a:solidFill>
                <a:latin typeface="Segoe UI"/>
              </a:rPr>
              <a:t>Focal persons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6BC06BDE-5AFC-8E30-18BB-DC9292740B36}"/>
              </a:ext>
            </a:extLst>
          </p:cNvPr>
          <p:cNvSpPr/>
          <p:nvPr/>
        </p:nvSpPr>
        <p:spPr>
          <a:xfrm>
            <a:off x="3090672" y="2736269"/>
            <a:ext cx="237744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3A6380-013E-C17D-4074-1BE2CFB48328}"/>
              </a:ext>
            </a:extLst>
          </p:cNvPr>
          <p:cNvSpPr/>
          <p:nvPr/>
        </p:nvSpPr>
        <p:spPr>
          <a:xfrm>
            <a:off x="3163824" y="2763700"/>
            <a:ext cx="2231136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EE31B-7C2A-A191-8FB2-36E50BA26430}"/>
              </a:ext>
            </a:extLst>
          </p:cNvPr>
          <p:cNvSpPr txBox="1"/>
          <p:nvPr/>
        </p:nvSpPr>
        <p:spPr>
          <a:xfrm>
            <a:off x="3218688" y="2857259"/>
            <a:ext cx="2121408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8F2F5"/>
                </a:solidFill>
                <a:latin typeface="Georgia"/>
              </a:rPr>
              <a:t>5.00</a:t>
            </a:r>
          </a:p>
          <a:p>
            <a:pPr algn="ctr">
              <a:spcBef>
                <a:spcPts val="300"/>
              </a:spcBef>
            </a:pPr>
            <a:r>
              <a:rPr sz="1000" b="1" i="0" spc="120">
                <a:solidFill>
                  <a:srgbClr val="9FC0C8"/>
                </a:solidFill>
                <a:latin typeface="Segoe UI"/>
              </a:rPr>
              <a:t>Five dimensions</a:t>
            </a: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12ECE338-825B-C0F0-3C52-6FC362439F58}"/>
              </a:ext>
            </a:extLst>
          </p:cNvPr>
          <p:cNvSpPr/>
          <p:nvPr/>
        </p:nvSpPr>
        <p:spPr>
          <a:xfrm>
            <a:off x="5632704" y="2736269"/>
            <a:ext cx="2377440" cy="713232"/>
          </a:xfrm>
          <a:prstGeom prst="roundRect">
            <a:avLst>
              <a:gd name="adj" fmla="val 10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0B4CA1-6F3A-A04D-C650-18D73EB1A439}"/>
              </a:ext>
            </a:extLst>
          </p:cNvPr>
          <p:cNvSpPr/>
          <p:nvPr/>
        </p:nvSpPr>
        <p:spPr>
          <a:xfrm>
            <a:off x="5705856" y="2763700"/>
            <a:ext cx="2231136" cy="41148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FF1794-C50C-3024-9BA1-9E4CAE610260}"/>
              </a:ext>
            </a:extLst>
          </p:cNvPr>
          <p:cNvSpPr txBox="1"/>
          <p:nvPr/>
        </p:nvSpPr>
        <p:spPr>
          <a:xfrm>
            <a:off x="5760720" y="2857259"/>
            <a:ext cx="2121408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E8F2F5"/>
                </a:solidFill>
                <a:latin typeface="Georgia"/>
              </a:rPr>
              <a:t>4.75</a:t>
            </a:r>
          </a:p>
          <a:p>
            <a:pPr algn="ctr">
              <a:spcBef>
                <a:spcPts val="300"/>
              </a:spcBef>
            </a:pPr>
            <a:r>
              <a:rPr sz="1000" b="1" i="0" spc="120">
                <a:solidFill>
                  <a:srgbClr val="9FC0C8"/>
                </a:solidFill>
                <a:latin typeface="Segoe UI"/>
              </a:rPr>
              <a:t>Usability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679989-7CEC-C56E-F47E-5B1AC762B3C0}"/>
              </a:ext>
            </a:extLst>
          </p:cNvPr>
          <p:cNvSpPr txBox="1"/>
          <p:nvPr/>
        </p:nvSpPr>
        <p:spPr>
          <a:xfrm>
            <a:off x="548639" y="3696389"/>
            <a:ext cx="11094415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Two BDRRMC focal persons rated six TAM dimensions on a 5-point Likert scale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Five dimensions (functionality, reliability, preparedness, attitude, intention): 5.00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Usability: 4.75 — favorable initial feedback</a:t>
            </a:r>
            <a:endParaRPr lang="en-US" sz="1600" b="0" i="0" dirty="0">
              <a:solidFill>
                <a:srgbClr val="E8F2F5"/>
              </a:solidFill>
              <a:latin typeface="Segoe UI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E8F2F5"/>
                </a:solidFill>
                <a:latin typeface="Segoe UI"/>
              </a:rPr>
              <a:t>Small-n caveat: encouraging but not generalizable to all barangay officials/residents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E8F2F5"/>
                </a:solidFill>
                <a:latin typeface="Segoe UI"/>
              </a:rPr>
              <a:t>Perceived reliability read alongside deployment findings (battery depletion, anomalous readings)</a:t>
            </a:r>
          </a:p>
        </p:txBody>
      </p:sp>
    </p:spTree>
    <p:extLst>
      <p:ext uri="{BB962C8B-B14F-4D97-AF65-F5344CB8AC3E}">
        <p14:creationId xmlns:p14="http://schemas.microsoft.com/office/powerpoint/2010/main" val="2580260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EC6BD-07E7-5A7B-33F8-61B43079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1AB9CE-9738-3418-DEA5-B914DC9D37AF}"/>
              </a:ext>
            </a:extLst>
          </p:cNvPr>
          <p:cNvSpPr txBox="1"/>
          <p:nvPr/>
        </p:nvSpPr>
        <p:spPr>
          <a:xfrm>
            <a:off x="548640" y="1372942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60" dirty="0">
                <a:solidFill>
                  <a:srgbClr val="9FC0C8"/>
                </a:solidFill>
                <a:latin typeface="Segoe UI"/>
              </a:rPr>
              <a:t>Chapter 5 — what the study establishes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9D12C-6132-12CC-E9FC-526564B9094D}"/>
              </a:ext>
            </a:extLst>
          </p:cNvPr>
          <p:cNvSpPr txBox="1"/>
          <p:nvPr/>
        </p:nvSpPr>
        <p:spPr>
          <a:xfrm>
            <a:off x="548640" y="310896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spc="260" dirty="0">
                <a:solidFill>
                  <a:srgbClr val="3EC7B3"/>
                </a:solidFill>
                <a:latin typeface="Segoe UI"/>
              </a:rPr>
              <a:t>15 · RESULTS AND DISCUSSION — Q5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9767B-8EF9-1A91-D57D-BDC4904B06A8}"/>
              </a:ext>
            </a:extLst>
          </p:cNvPr>
          <p:cNvSpPr txBox="1"/>
          <p:nvPr/>
        </p:nvSpPr>
        <p:spPr>
          <a:xfrm>
            <a:off x="548640" y="633612"/>
            <a:ext cx="1109441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PH" sz="4000" b="1" dirty="0">
                <a:solidFill>
                  <a:srgbClr val="E8F2F5"/>
                </a:solidFill>
                <a:latin typeface="Georgia"/>
              </a:rPr>
              <a:t>Summary, conclusion &amp; recommendation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1A5E708C-A3A9-0405-5AB5-61412227F579}"/>
              </a:ext>
            </a:extLst>
          </p:cNvPr>
          <p:cNvSpPr/>
          <p:nvPr/>
        </p:nvSpPr>
        <p:spPr>
          <a:xfrm>
            <a:off x="548640" y="1954365"/>
            <a:ext cx="3593592" cy="36576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818D0-4C62-F85F-FA2A-EBF018A2EC36}"/>
              </a:ext>
            </a:extLst>
          </p:cNvPr>
          <p:cNvSpPr/>
          <p:nvPr/>
        </p:nvSpPr>
        <p:spPr>
          <a:xfrm>
            <a:off x="548640" y="2128101"/>
            <a:ext cx="41148" cy="3337560"/>
          </a:xfrm>
          <a:prstGeom prst="rect">
            <a:avLst/>
          </a:prstGeom>
          <a:solidFill>
            <a:srgbClr val="3EC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1CAF5-DC03-D1EC-0806-2F2E8DC7444B}"/>
              </a:ext>
            </a:extLst>
          </p:cNvPr>
          <p:cNvSpPr txBox="1"/>
          <p:nvPr/>
        </p:nvSpPr>
        <p:spPr>
          <a:xfrm>
            <a:off x="777240" y="2053534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110" dirty="0">
                <a:solidFill>
                  <a:srgbClr val="3EC7B3"/>
                </a:solidFill>
                <a:latin typeface="Segoe UI"/>
              </a:rPr>
              <a:t>Summary — key findings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BF9EA5F-0DE6-2B27-3765-EA4EF7167390}"/>
              </a:ext>
            </a:extLst>
          </p:cNvPr>
          <p:cNvSpPr/>
          <p:nvPr/>
        </p:nvSpPr>
        <p:spPr>
          <a:xfrm>
            <a:off x="4297680" y="1954365"/>
            <a:ext cx="3593592" cy="36576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6CE82A-5D82-A964-0924-9321D6FAAF86}"/>
              </a:ext>
            </a:extLst>
          </p:cNvPr>
          <p:cNvSpPr/>
          <p:nvPr/>
        </p:nvSpPr>
        <p:spPr>
          <a:xfrm>
            <a:off x="4297680" y="2128101"/>
            <a:ext cx="41148" cy="33375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6497A4-8417-C012-D812-BD5B3B220940}"/>
              </a:ext>
            </a:extLst>
          </p:cNvPr>
          <p:cNvSpPr txBox="1"/>
          <p:nvPr/>
        </p:nvSpPr>
        <p:spPr>
          <a:xfrm>
            <a:off x="4526280" y="2053534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110">
                <a:solidFill>
                  <a:srgbClr val="F4B942"/>
                </a:solidFill>
                <a:latin typeface="Segoe UI"/>
              </a:rPr>
              <a:t>Conclusion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012657BC-F9F8-A1C4-ACA5-09EFFE4498ED}"/>
              </a:ext>
            </a:extLst>
          </p:cNvPr>
          <p:cNvSpPr/>
          <p:nvPr/>
        </p:nvSpPr>
        <p:spPr>
          <a:xfrm>
            <a:off x="8046720" y="1954365"/>
            <a:ext cx="3593592" cy="3657600"/>
          </a:xfrm>
          <a:prstGeom prst="roundRect">
            <a:avLst>
              <a:gd name="adj" fmla="val 5000"/>
            </a:avLst>
          </a:prstGeom>
          <a:solidFill>
            <a:srgbClr val="14323A"/>
          </a:solidFill>
          <a:ln w="12700">
            <a:solidFill>
              <a:srgbClr val="3263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9EAFF8-25B6-9FD3-E5A1-A5915E8525E4}"/>
              </a:ext>
            </a:extLst>
          </p:cNvPr>
          <p:cNvSpPr/>
          <p:nvPr/>
        </p:nvSpPr>
        <p:spPr>
          <a:xfrm>
            <a:off x="8046720" y="2128101"/>
            <a:ext cx="41148" cy="3337560"/>
          </a:xfrm>
          <a:prstGeom prst="rect">
            <a:avLst/>
          </a:prstGeom>
          <a:solidFill>
            <a:srgbClr val="C9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D6CDE-6C3F-9F27-C046-2A16522FF8B2}"/>
              </a:ext>
            </a:extLst>
          </p:cNvPr>
          <p:cNvSpPr txBox="1"/>
          <p:nvPr/>
        </p:nvSpPr>
        <p:spPr>
          <a:xfrm>
            <a:off x="8275320" y="2053534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spc="110">
                <a:solidFill>
                  <a:srgbClr val="C95252"/>
                </a:solidFill>
                <a:latin typeface="Segoe UI"/>
              </a:rPr>
              <a:t>Recommendation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3180F6-62C6-6B91-08DF-4B481BD49318}"/>
              </a:ext>
            </a:extLst>
          </p:cNvPr>
          <p:cNvSpPr txBox="1"/>
          <p:nvPr/>
        </p:nvSpPr>
        <p:spPr>
          <a:xfrm>
            <a:off x="932688" y="2374989"/>
            <a:ext cx="3017520" cy="3005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MDRRMO alerts are municipality-wide; monitoring gaps remain — current practice is manual (rain gauge, visual observation, tide calendar).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RF reproduced its rule-derived labels (94.26% accuracy) — consistency, not independent flood-prediction skill.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Pilot logged 13,568 records over ~21.5 h at Receding; battery depletion ended deployment; acceptability 5.00 / 4.75 (n = 2).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87F22-7F5F-3D71-DF02-361798E207CA}"/>
              </a:ext>
            </a:extLst>
          </p:cNvPr>
          <p:cNvSpPr txBox="1"/>
          <p:nvPr/>
        </p:nvSpPr>
        <p:spPr>
          <a:xfrm>
            <a:off x="4681728" y="2374989"/>
            <a:ext cx="3017520" cy="2359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Feasibility established — the offline-first hybrid RF + fuzzy-logic prototype runs end-to-end on a Pi 5.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Decision-support, not prediction — the BDRRMC makes the alert call.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Human-in-the-loop alerting (SMS at Alarm / Critical, BDRRMC confirmation) is essential.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3A9008-340D-6985-A83A-70FD496B1342}"/>
              </a:ext>
            </a:extLst>
          </p:cNvPr>
          <p:cNvSpPr txBox="1"/>
          <p:nvPr/>
        </p:nvSpPr>
        <p:spPr>
          <a:xfrm>
            <a:off x="8430768" y="2374989"/>
            <a:ext cx="3017520" cy="2246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Use independent, BDRRMC-validated flood labels.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Validate chronologically (e.g., train 2020–2023, test 2024).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Harden power: panel placement, battery capacity, voltage monitoring.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00" b="0" i="0" dirty="0">
                <a:solidFill>
                  <a:srgbClr val="E8F2F5"/>
                </a:solidFill>
                <a:latin typeface="Segoe UI"/>
              </a:rPr>
              <a:t>Expand the acceptability sample beyond n = 2.</a:t>
            </a:r>
          </a:p>
        </p:txBody>
      </p:sp>
    </p:spTree>
    <p:extLst>
      <p:ext uri="{BB962C8B-B14F-4D97-AF65-F5344CB8AC3E}">
        <p14:creationId xmlns:p14="http://schemas.microsoft.com/office/powerpoint/2010/main" val="619869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0" y="2321004"/>
            <a:ext cx="12191695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600" b="1" i="0" spc="160" dirty="0">
                <a:solidFill>
                  <a:srgbClr val="9FC0C8"/>
                </a:solidFill>
                <a:latin typeface="Segoe UI"/>
              </a:rPr>
              <a:t>Thank you!</a:t>
            </a:r>
          </a:p>
          <a:p>
            <a:pPr algn="ctr"/>
            <a:endParaRPr lang="en-US" sz="3600" b="1" spc="160" dirty="0">
              <a:solidFill>
                <a:srgbClr val="9FC0C8"/>
              </a:solidFill>
              <a:latin typeface="Segoe UI"/>
            </a:endParaRPr>
          </a:p>
          <a:p>
            <a:pPr algn="ctr"/>
            <a:endParaRPr lang="en-US" sz="3600" b="1" i="0" spc="160" dirty="0">
              <a:solidFill>
                <a:srgbClr val="9FC0C8"/>
              </a:solidFill>
              <a:latin typeface="Segoe UI"/>
            </a:endParaRPr>
          </a:p>
          <a:p>
            <a:pPr algn="ctr"/>
            <a:r>
              <a:rPr lang="en-US" sz="3600" b="1" spc="160" dirty="0">
                <a:solidFill>
                  <a:srgbClr val="9FC0C8"/>
                </a:solidFill>
                <a:latin typeface="Segoe UI"/>
              </a:rPr>
              <a:t>Mercy po</a:t>
            </a:r>
            <a:endParaRPr sz="3600" b="1" i="0" spc="160" dirty="0">
              <a:solidFill>
                <a:srgbClr val="9FC0C8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75326-DBB2-2D6D-C9D4-B7F5DEE8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AF062E9-D475-F0FC-43CC-5BC5B612E4CC}"/>
              </a:ext>
            </a:extLst>
          </p:cNvPr>
          <p:cNvSpPr txBox="1"/>
          <p:nvPr/>
        </p:nvSpPr>
        <p:spPr>
          <a:xfrm>
            <a:off x="0" y="2321004"/>
            <a:ext cx="12191695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600" b="1" i="0" spc="160" dirty="0">
                <a:solidFill>
                  <a:srgbClr val="9FC0C8"/>
                </a:solidFill>
                <a:latin typeface="Segoe UI"/>
              </a:rPr>
              <a:t>Defended </a:t>
            </a:r>
            <a:r>
              <a:rPr lang="en-US" sz="3600" b="1" i="0" spc="160" dirty="0" err="1">
                <a:solidFill>
                  <a:srgbClr val="9FC0C8"/>
                </a:solidFill>
                <a:latin typeface="Segoe UI"/>
              </a:rPr>
              <a:t>ba</a:t>
            </a:r>
            <a:r>
              <a:rPr lang="en-US" sz="3600" b="1" i="0" spc="160" dirty="0">
                <a:solidFill>
                  <a:srgbClr val="9FC0C8"/>
                </a:solidFill>
                <a:latin typeface="Segoe UI"/>
              </a:rPr>
              <a:t>?</a:t>
            </a:r>
          </a:p>
          <a:p>
            <a:pPr algn="ctr"/>
            <a:endParaRPr lang="en-US" sz="3600" b="1" spc="160" dirty="0">
              <a:solidFill>
                <a:srgbClr val="9FC0C8"/>
              </a:solidFill>
              <a:latin typeface="Segoe UI"/>
            </a:endParaRPr>
          </a:p>
          <a:p>
            <a:pPr algn="ctr"/>
            <a:r>
              <a:rPr lang="en-US" sz="3600" b="1" i="0" spc="160" dirty="0">
                <a:solidFill>
                  <a:srgbClr val="9FC0C8"/>
                </a:solidFill>
                <a:latin typeface="Segoe UI"/>
              </a:rPr>
              <a:t>Legit?</a:t>
            </a:r>
            <a:endParaRPr sz="3600" b="1" i="0" spc="160" dirty="0">
              <a:solidFill>
                <a:srgbClr val="9FC0C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17761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4BD0F-FF0F-0400-DEB0-6E105472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A9BFF67-6E9D-AEF4-B2C6-035AC2F84E38}"/>
              </a:ext>
            </a:extLst>
          </p:cNvPr>
          <p:cNvSpPr txBox="1"/>
          <p:nvPr/>
        </p:nvSpPr>
        <p:spPr>
          <a:xfrm>
            <a:off x="0" y="317288"/>
            <a:ext cx="121916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600" b="1" spc="160" dirty="0">
                <a:solidFill>
                  <a:srgbClr val="9FC0C8"/>
                </a:solidFill>
                <a:latin typeface="Segoe UI"/>
              </a:rPr>
              <a:t>See you after 3 weeks</a:t>
            </a:r>
            <a:endParaRPr sz="3600" b="1" i="0" spc="160" dirty="0">
              <a:solidFill>
                <a:srgbClr val="9FC0C8"/>
              </a:solidFill>
              <a:latin typeface="Segoe UI"/>
            </a:endParaRPr>
          </a:p>
        </p:txBody>
      </p:sp>
      <p:pic>
        <p:nvPicPr>
          <p:cNvPr id="2" name="360p-watermark">
            <a:hlinkClick r:id="" action="ppaction://media"/>
            <a:extLst>
              <a:ext uri="{FF2B5EF4-FFF2-40B4-BE49-F238E27FC236}">
                <a16:creationId xmlns:a16="http://schemas.microsoft.com/office/drawing/2014/main" id="{A355698A-06AF-9635-A790-15C5F84A89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70107" y="1220771"/>
            <a:ext cx="7851480" cy="441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3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2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DA7A6-D188-C113-FB4A-A233B60F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BF8E285-7241-BF6F-CE9F-44CE5901FC10}"/>
              </a:ext>
            </a:extLst>
          </p:cNvPr>
          <p:cNvSpPr txBox="1"/>
          <p:nvPr/>
        </p:nvSpPr>
        <p:spPr>
          <a:xfrm>
            <a:off x="0" y="331947"/>
            <a:ext cx="1219169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8000" b="1" spc="160" dirty="0">
                <a:solidFill>
                  <a:srgbClr val="9FC0C8"/>
                </a:solidFill>
                <a:latin typeface="Segoe UI"/>
              </a:rPr>
              <a:t>THESIS DEFENDED</a:t>
            </a:r>
            <a:endParaRPr sz="8000" b="1" i="0" spc="160" dirty="0">
              <a:solidFill>
                <a:srgbClr val="9FC0C8"/>
              </a:solidFill>
              <a:latin typeface="Segoe UI"/>
            </a:endParaRPr>
          </a:p>
        </p:txBody>
      </p:sp>
      <p:pic>
        <p:nvPicPr>
          <p:cNvPr id="3" name="Picture 2" descr="a husky dog is squatting down with its paws up and the word official is visible in the corner">
            <a:extLst>
              <a:ext uri="{FF2B5EF4-FFF2-40B4-BE49-F238E27FC236}">
                <a16:creationId xmlns:a16="http://schemas.microsoft.com/office/drawing/2014/main" id="{7579B892-E453-3E91-039E-B324D027D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23" y="2323363"/>
            <a:ext cx="3316909" cy="2211273"/>
          </a:xfrm>
          <a:prstGeom prst="rect">
            <a:avLst/>
          </a:prstGeom>
        </p:spPr>
      </p:pic>
      <p:pic>
        <p:nvPicPr>
          <p:cNvPr id="4" name="Picture 3" descr="a man and a dog are dancing in front of a brazilian flag .">
            <a:extLst>
              <a:ext uri="{FF2B5EF4-FFF2-40B4-BE49-F238E27FC236}">
                <a16:creationId xmlns:a16="http://schemas.microsoft.com/office/drawing/2014/main" id="{520EEE85-78FC-7025-FAEA-042527EEC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785" y="2040195"/>
            <a:ext cx="3089248" cy="4231334"/>
          </a:xfrm>
          <a:prstGeom prst="rect">
            <a:avLst/>
          </a:prstGeom>
        </p:spPr>
      </p:pic>
      <p:pic>
        <p:nvPicPr>
          <p:cNvPr id="5" name="TikTok - Make Your Day">
            <a:hlinkClick r:id="" action="ppaction://media"/>
            <a:extLst>
              <a:ext uri="{FF2B5EF4-FFF2-40B4-BE49-F238E27FC236}">
                <a16:creationId xmlns:a16="http://schemas.microsoft.com/office/drawing/2014/main" id="{ABD66E39-2298-8AF6-BEA6-267CC111A3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83050" y="1563053"/>
            <a:ext cx="2825593" cy="50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8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2525</Words>
  <Application>Microsoft Office PowerPoint</Application>
  <PresentationFormat>Widescreen</PresentationFormat>
  <Paragraphs>254</Paragraphs>
  <Slides>24</Slides>
  <Notes>24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nathaniel betita</cp:lastModifiedBy>
  <cp:revision>4</cp:revision>
  <dcterms:created xsi:type="dcterms:W3CDTF">2013-01-27T09:14:16Z</dcterms:created>
  <dcterms:modified xsi:type="dcterms:W3CDTF">2026-10-21T22:32:07Z</dcterms:modified>
  <cp:category/>
</cp:coreProperties>
</file>