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problem: advisories are municipality-wide — they don't say whether this barangay is affected — and connectivity drops when warnings matter most.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Placeholder slide per user request — insert background-of-study material here before the defense.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of the problem from thesis Chapter 1: current flood-warning limitations in Brgy. Elvita and the five research questions FLAIRE seeks to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Beneficiaries per thesis Chapter 1: BDRRMC, barangay officials and residents, the academic community, and policy-makers / future deployments.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Faithful to thesis Chapter 1: barangay-scale offline-first prototype, decision-support framing, n=2 acceptability survey, ~21.5 h deployment.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ERD placeholder — insert the database diagram from DATABASE_ERD.md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sensor node segment: ultrasonic water-level + tipping-bucket rain gauge, on-board controller, LoRa RFM95W @ 915 MHz, 1-min cadence, solar/battery power.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Raspberry Pi 5 edge segment: LoRa receiver, Open-Meteo cache, SQLite, RF+fuzzy AI pipeline, SMS handler (A7608e-H, Alarm/Critical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FastAPI web dashboard segment: LAN server, browser dashboard, BDRRMC review/confirm, SMS fan-out to contacts.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₱27,920 BOM — Node ₱7,070 · Edge ₱19,050 · General ₱1,800 — plus thesis benefit categories: technical, operational, community-level.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findings (thesis Ch.4): manual rain gauge, visual observation, tide calendar; municipality-wide MDRRMO alerts; no continuous localized records.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 findings (thesis Ch.4): offline-first node→Pi→dashboard chain built; cached forecasts, RF+fuzzy pipeline, LAN dashboard + SMS all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 findings (thesis Ch.4): RF 94.26% accuracy, macro F1 0.933 on held-out set; labels rule-derived so consistency ≠ prediction skill; 2 of 4 documented flood events matched the rule's High class.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 findings (thesis Ch.4): 13,568 records over ~21.5 h; battery died early; water stayed Receding/Low; sensor-logging pipeline validated.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 findings (thesis Ch.4): n=2 focal persons; five dimensions 5.00, usability 4.75; preliminary, not generalizable.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key findings, feasibility conclusion (decision-support, not prediction), four recommendations — then 'Thank you —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2228"/>
        </a:solidFill>
        <a:effectLst/>
      </p:bgPr>
    </p:bg>
    <p:spTree>
      <p:nvGrpSpPr>
        <p:cNvPr id="1" name=""/>
        <p:cNvGrpSpPr/>
        <p:nvPr/>
      </p:nvGrpSpPr>
      <p:grpSpPr/>
      <p:sp>
        <p:nvSpPr>
          <p:cNvPr id="2" name="TextBox 1"/>
          <p:cNvSpPr txBox="1"/>
          <p:nvPr/>
        </p:nvSpPr>
        <p:spPr>
          <a:xfrm>
            <a:off x="0" y="1170432"/>
            <a:ext cx="12191695" cy="292608"/>
          </a:xfrm>
          <a:prstGeom prst="rect">
            <a:avLst/>
          </a:prstGeom>
          <a:noFill/>
        </p:spPr>
        <p:txBody>
          <a:bodyPr wrap="square" lIns="0" rIns="0" tIns="0" bIns="0">
            <a:spAutoFit/>
          </a:bodyPr>
          <a:lstStyle/>
          <a:p>
            <a:pPr algn="ctr"/>
            <a:r>
              <a:rPr sz="1100" b="1" i="0" spc="280">
                <a:solidFill>
                  <a:srgbClr val="3EC7B3"/>
                </a:solidFill>
                <a:latin typeface="Segoe UI"/>
              </a:rPr>
              <a:t>Thesis Oral Defense</a:t>
            </a:r>
          </a:p>
        </p:txBody>
      </p:sp>
      <p:sp>
        <p:nvSpPr>
          <p:cNvPr id="3" name="TextBox 2"/>
          <p:cNvSpPr txBox="1"/>
          <p:nvPr/>
        </p:nvSpPr>
        <p:spPr>
          <a:xfrm>
            <a:off x="0" y="1536192"/>
            <a:ext cx="12191695" cy="1051560"/>
          </a:xfrm>
          <a:prstGeom prst="rect">
            <a:avLst/>
          </a:prstGeom>
          <a:noFill/>
        </p:spPr>
        <p:txBody>
          <a:bodyPr wrap="square" lIns="0" rIns="0" tIns="0" bIns="0">
            <a:spAutoFit/>
          </a:bodyPr>
          <a:lstStyle/>
          <a:p>
            <a:pPr algn="ctr"/>
            <a:r>
              <a:rPr sz="6300" b="1" i="0">
                <a:solidFill>
                  <a:srgbClr val="E8F2F5"/>
                </a:solidFill>
                <a:latin typeface="Georgia"/>
              </a:rPr>
              <a:t>FLAIRE</a:t>
            </a:r>
          </a:p>
        </p:txBody>
      </p:sp>
      <p:sp>
        <p:nvSpPr>
          <p:cNvPr id="4" name="TextBox 3"/>
          <p:cNvSpPr txBox="1"/>
          <p:nvPr/>
        </p:nvSpPr>
        <p:spPr>
          <a:xfrm>
            <a:off x="0" y="2697480"/>
            <a:ext cx="12191695" cy="411480"/>
          </a:xfrm>
          <a:prstGeom prst="rect">
            <a:avLst/>
          </a:prstGeom>
          <a:noFill/>
        </p:spPr>
        <p:txBody>
          <a:bodyPr wrap="square" lIns="0" rIns="0" tIns="0" bIns="0">
            <a:spAutoFit/>
          </a:bodyPr>
          <a:lstStyle/>
          <a:p>
            <a:pPr algn="ctr"/>
            <a:r>
              <a:rPr sz="1900" b="0" i="0">
                <a:solidFill>
                  <a:srgbClr val="9FC0C8"/>
                </a:solidFill>
                <a:latin typeface="Segoe UI"/>
              </a:rPr>
              <a:t>Flood Level AI Risk Evaluation</a:t>
            </a:r>
          </a:p>
        </p:txBody>
      </p:sp>
      <p:sp>
        <p:nvSpPr>
          <p:cNvPr id="5" name="TextBox 4"/>
          <p:cNvSpPr txBox="1"/>
          <p:nvPr/>
        </p:nvSpPr>
        <p:spPr>
          <a:xfrm>
            <a:off x="0" y="3200400"/>
            <a:ext cx="12191695" cy="548640"/>
          </a:xfrm>
          <a:prstGeom prst="rect">
            <a:avLst/>
          </a:prstGeom>
          <a:noFill/>
        </p:spPr>
        <p:txBody>
          <a:bodyPr wrap="square" lIns="0" rIns="0" tIns="0" bIns="0">
            <a:spAutoFit/>
          </a:bodyPr>
          <a:lstStyle/>
          <a:p>
            <a:pPr algn="ctr"/>
            <a:r>
              <a:rPr sz="1250" b="1" i="0">
                <a:solidFill>
                  <a:srgbClr val="8FD0C8"/>
                </a:solidFill>
                <a:latin typeface="Segoe UI"/>
              </a:rPr>
              <a:t>An offline-first flood early-warning prototype · Barangay Elvita, Narra, Palawan</a:t>
            </a:r>
          </a:p>
        </p:txBody>
      </p:sp>
      <p:sp>
        <p:nvSpPr>
          <p:cNvPr id="6" name="TextBox 5"/>
          <p:cNvSpPr txBox="1"/>
          <p:nvPr/>
        </p:nvSpPr>
        <p:spPr>
          <a:xfrm>
            <a:off x="0" y="3675887"/>
            <a:ext cx="12191695" cy="320040"/>
          </a:xfrm>
          <a:prstGeom prst="rect">
            <a:avLst/>
          </a:prstGeom>
          <a:noFill/>
        </p:spPr>
        <p:txBody>
          <a:bodyPr wrap="square" lIns="0" rIns="0" tIns="0" bIns="0">
            <a:spAutoFit/>
          </a:bodyPr>
          <a:lstStyle/>
          <a:p>
            <a:pPr algn="ctr"/>
            <a:r>
              <a:rPr sz="1150" b="0" i="0">
                <a:solidFill>
                  <a:srgbClr val="9FC0C8"/>
                </a:solidFill>
                <a:latin typeface="Segoe UI"/>
              </a:rPr>
              <a:t>[Candidate Name] · [Adviser] · [Date]</a:t>
            </a:r>
          </a:p>
        </p:txBody>
      </p:sp>
      <p:sp>
        <p:nvSpPr>
          <p:cNvPr id="7" name="Rounded Rectangle 6"/>
          <p:cNvSpPr/>
          <p:nvPr/>
        </p:nvSpPr>
        <p:spPr>
          <a:xfrm>
            <a:off x="2575407" y="4206240"/>
            <a:ext cx="1828800" cy="384048"/>
          </a:xfrm>
          <a:prstGeom prst="roundRect">
            <a:avLst>
              <a:gd name="adj" fmla="val 30000"/>
            </a:avLst>
          </a:prstGeom>
          <a:solidFill>
            <a:srgbClr val="133839"/>
          </a:solidFill>
          <a:ln w="15240">
            <a:solidFill>
              <a:srgbClr val="3EC7B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i="0" spc="100">
                <a:solidFill>
                  <a:srgbClr val="A7EEDF"/>
                </a:solidFill>
                <a:latin typeface="Segoe UI"/>
              </a:rPr>
              <a:t>Solar LoRa node</a:t>
            </a:r>
          </a:p>
        </p:txBody>
      </p:sp>
      <p:sp>
        <p:nvSpPr>
          <p:cNvPr id="8" name="Rounded Rectangle 7"/>
          <p:cNvSpPr/>
          <p:nvPr/>
        </p:nvSpPr>
        <p:spPr>
          <a:xfrm>
            <a:off x="4541367" y="4206240"/>
            <a:ext cx="1645920" cy="384048"/>
          </a:xfrm>
          <a:prstGeom prst="roundRect">
            <a:avLst>
              <a:gd name="adj" fmla="val 30000"/>
            </a:avLst>
          </a:prstGeom>
          <a:solidFill>
            <a:srgbClr val="133839"/>
          </a:solidFill>
          <a:ln w="15240">
            <a:solidFill>
              <a:srgbClr val="3EC7B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i="0" spc="100">
                <a:solidFill>
                  <a:srgbClr val="A7EEDF"/>
                </a:solidFill>
                <a:latin typeface="Segoe UI"/>
              </a:rPr>
              <a:t>Raspberry Pi 5</a:t>
            </a:r>
          </a:p>
        </p:txBody>
      </p:sp>
      <p:sp>
        <p:nvSpPr>
          <p:cNvPr id="9" name="Rounded Rectangle 8"/>
          <p:cNvSpPr/>
          <p:nvPr/>
        </p:nvSpPr>
        <p:spPr>
          <a:xfrm>
            <a:off x="6324447" y="4206240"/>
            <a:ext cx="1783080" cy="384048"/>
          </a:xfrm>
          <a:prstGeom prst="roundRect">
            <a:avLst>
              <a:gd name="adj" fmla="val 30000"/>
            </a:avLst>
          </a:prstGeom>
          <a:solidFill>
            <a:srgbClr val="133839"/>
          </a:solidFill>
          <a:ln w="15240">
            <a:solidFill>
              <a:srgbClr val="3EC7B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i="0" spc="100">
                <a:solidFill>
                  <a:srgbClr val="A7EEDF"/>
                </a:solidFill>
                <a:latin typeface="Segoe UI"/>
              </a:rPr>
              <a:t>RF + fuzzy logic</a:t>
            </a:r>
          </a:p>
        </p:txBody>
      </p:sp>
      <p:sp>
        <p:nvSpPr>
          <p:cNvPr id="10" name="Rounded Rectangle 9"/>
          <p:cNvSpPr/>
          <p:nvPr/>
        </p:nvSpPr>
        <p:spPr>
          <a:xfrm>
            <a:off x="8244687" y="4206240"/>
            <a:ext cx="1371600" cy="384048"/>
          </a:xfrm>
          <a:prstGeom prst="roundRect">
            <a:avLst>
              <a:gd name="adj" fmla="val 30000"/>
            </a:avLst>
          </a:prstGeom>
          <a:solidFill>
            <a:srgbClr val="2A2A2E"/>
          </a:solidFill>
          <a:ln w="15240">
            <a:solidFill>
              <a:srgbClr val="C95252"/>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i="0" spc="100">
                <a:solidFill>
                  <a:srgbClr val="E8A3A3"/>
                </a:solidFill>
                <a:latin typeface="Segoe UI"/>
              </a:rPr>
              <a:t>≈ ₱27,920</a:t>
            </a:r>
          </a:p>
        </p:txBody>
      </p:sp>
      <p:sp>
        <p:nvSpPr>
          <p:cNvPr id="11" name="TextBox 10"/>
          <p:cNvSpPr txBox="1"/>
          <p:nvPr/>
        </p:nvSpPr>
        <p:spPr>
          <a:xfrm>
            <a:off x="0" y="5074920"/>
            <a:ext cx="12191695" cy="320040"/>
          </a:xfrm>
          <a:prstGeom prst="rect">
            <a:avLst/>
          </a:prstGeom>
          <a:noFill/>
        </p:spPr>
        <p:txBody>
          <a:bodyPr wrap="square" lIns="0" rIns="0" tIns="0" bIns="0">
            <a:spAutoFit/>
          </a:bodyPr>
          <a:lstStyle/>
          <a:p>
            <a:pPr algn="ctr"/>
            <a:r>
              <a:rPr sz="1050" b="0" i="0">
                <a:solidFill>
                  <a:srgbClr val="6E939C"/>
                </a:solidFill>
                <a:latin typeface="Segoe UI"/>
              </a:rPr>
              <a:t>Decision-support tool — the BDRRMC makes the call.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C2228"/>
        </a:solidFill>
        <a:effectLst/>
      </p:bgPr>
    </p:bg>
    <p:spTree>
      <p:nvGrpSpPr>
        <p:cNvPr id="1" name=""/>
        <p:cNvGrpSpPr/>
        <p:nvPr/>
      </p:nvGrpSpPr>
      <p:grpSpPr/>
      <p:sp>
        <p:nvSpPr>
          <p:cNvPr id="2" name="TextBox 1"/>
          <p:cNvSpPr txBox="1"/>
          <p:nvPr/>
        </p:nvSpPr>
        <p:spPr>
          <a:xfrm>
            <a:off x="548640" y="310896"/>
            <a:ext cx="11094415" cy="274320"/>
          </a:xfrm>
          <a:prstGeom prst="rect">
            <a:avLst/>
          </a:prstGeom>
          <a:noFill/>
        </p:spPr>
        <p:txBody>
          <a:bodyPr wrap="square" lIns="0" rIns="0" tIns="0" bIns="0">
            <a:spAutoFit/>
          </a:bodyPr>
          <a:lstStyle/>
          <a:p>
            <a:r>
              <a:rPr sz="1000" b="1" i="0" spc="260">
                <a:solidFill>
                  <a:srgbClr val="3EC7B3"/>
                </a:solidFill>
                <a:latin typeface="Segoe UI"/>
              </a:rPr>
              <a:t>02 · Background of the study</a:t>
            </a:r>
          </a:p>
        </p:txBody>
      </p:sp>
      <p:sp>
        <p:nvSpPr>
          <p:cNvPr id="3" name="TextBox 2"/>
          <p:cNvSpPr txBox="1"/>
          <p:nvPr/>
        </p:nvSpPr>
        <p:spPr>
          <a:xfrm>
            <a:off x="548640" y="530352"/>
            <a:ext cx="11094415" cy="548640"/>
          </a:xfrm>
          <a:prstGeom prst="rect">
            <a:avLst/>
          </a:prstGeom>
          <a:noFill/>
        </p:spPr>
        <p:txBody>
          <a:bodyPr wrap="square" lIns="0" rIns="0" tIns="0" bIns="0">
            <a:spAutoFit/>
          </a:bodyPr>
          <a:lstStyle/>
          <a:p>
            <a:r>
              <a:rPr sz="2300" b="1" i="0">
                <a:solidFill>
                  <a:srgbClr val="E8F2F5"/>
                </a:solidFill>
                <a:latin typeface="Georgia"/>
              </a:rPr>
              <a:t>Background of the study</a:t>
            </a:r>
          </a:p>
        </p:txBody>
      </p:sp>
      <p:sp>
        <p:nvSpPr>
          <p:cNvPr id="4" name="Rounded Rectangle 3"/>
          <p:cNvSpPr/>
          <p:nvPr/>
        </p:nvSpPr>
        <p:spPr>
          <a:xfrm>
            <a:off x="548640" y="1481328"/>
            <a:ext cx="11094415" cy="4800600"/>
          </a:xfrm>
          <a:prstGeom prst="roundRect">
            <a:avLst>
              <a:gd name="adj" fmla="val 5000"/>
            </a:avLst>
          </a:prstGeom>
          <a:solidFill>
            <a:srgbClr val="0E262C"/>
          </a:solidFill>
          <a:ln w="22225">
            <a:solidFill>
              <a:srgbClr val="6E939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1828800" y="3108960"/>
            <a:ext cx="8534095" cy="1463040"/>
          </a:xfrm>
          <a:prstGeom prst="rect">
            <a:avLst/>
          </a:prstGeom>
          <a:noFill/>
        </p:spPr>
        <p:txBody>
          <a:bodyPr wrap="square" lIns="0" rIns="0" tIns="0" bIns="0" anchor="ctr">
            <a:spAutoFit/>
          </a:bodyPr>
          <a:lstStyle/>
          <a:p>
            <a:pPr algn="ctr"/>
            <a:r>
              <a:rPr sz="1100" b="1" i="0" spc="180">
                <a:solidFill>
                  <a:srgbClr val="9FC0C8"/>
                </a:solidFill>
                <a:latin typeface="Segoe UI"/>
              </a:rPr>
              <a:t>CONTENT / FIGURE PLACEHOLDER</a:t>
            </a:r>
          </a:p>
          <a:p>
            <a:pPr algn="ctr">
              <a:spcBef>
                <a:spcPts val="1000"/>
              </a:spcBef>
            </a:pPr>
            <a:r>
              <a:rPr sz="1150" b="0" i="0">
                <a:solidFill>
                  <a:srgbClr val="9FC0C8"/>
                </a:solidFill>
                <a:latin typeface="Segoe UI"/>
              </a:rPr>
              <a:t>Add background-of-study material here — flood context of Barangay Elvita, Narra, Palawan, existing warning practices, and related literature. Intended to be replaced.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C2228"/>
        </a:solidFill>
        <a:effectLst/>
      </p:bgPr>
    </p:bg>
    <p:spTree>
      <p:nvGrpSpPr>
        <p:cNvPr id="1" name=""/>
        <p:cNvGrpSpPr/>
        <p:nvPr/>
      </p:nvGrpSpPr>
      <p:grpSpPr/>
      <p:sp>
        <p:nvSpPr>
          <p:cNvPr id="2" name="TextBox 1"/>
          <p:cNvSpPr txBox="1"/>
          <p:nvPr/>
        </p:nvSpPr>
        <p:spPr>
          <a:xfrm>
            <a:off x="548640" y="310896"/>
            <a:ext cx="11094415" cy="274320"/>
          </a:xfrm>
          <a:prstGeom prst="rect">
            <a:avLst/>
          </a:prstGeom>
          <a:noFill/>
        </p:spPr>
        <p:txBody>
          <a:bodyPr wrap="square" lIns="0" rIns="0" tIns="0" bIns="0">
            <a:spAutoFit/>
          </a:bodyPr>
          <a:lstStyle/>
          <a:p>
            <a:r>
              <a:rPr sz="1000" b="1" i="0" spc="260">
                <a:solidFill>
                  <a:srgbClr val="3EC7B3"/>
                </a:solidFill>
                <a:latin typeface="Segoe UI"/>
              </a:rPr>
              <a:t>03 · STATEMENT OF THE PROBLEM</a:t>
            </a:r>
          </a:p>
        </p:txBody>
      </p:sp>
      <p:sp>
        <p:nvSpPr>
          <p:cNvPr id="3" name="TextBox 2"/>
          <p:cNvSpPr txBox="1"/>
          <p:nvPr/>
        </p:nvSpPr>
        <p:spPr>
          <a:xfrm>
            <a:off x="548640" y="530352"/>
            <a:ext cx="11094415" cy="548640"/>
          </a:xfrm>
          <a:prstGeom prst="rect">
            <a:avLst/>
          </a:prstGeom>
          <a:noFill/>
        </p:spPr>
        <p:txBody>
          <a:bodyPr wrap="square" lIns="0" rIns="0" tIns="0" bIns="0">
            <a:spAutoFit/>
          </a:bodyPr>
          <a:lstStyle/>
          <a:p>
            <a:r>
              <a:rPr sz="2300" b="1" i="0">
                <a:solidFill>
                  <a:srgbClr val="E8F2F5"/>
                </a:solidFill>
                <a:latin typeface="Georgia"/>
              </a:rPr>
              <a:t>Statement of the problem</a:t>
            </a:r>
          </a:p>
        </p:txBody>
      </p:sp>
      <p:sp>
        <p:nvSpPr>
          <p:cNvPr id="4" name="Rectangle 3"/>
          <p:cNvSpPr/>
          <p:nvPr/>
        </p:nvSpPr>
        <p:spPr>
          <a:xfrm>
            <a:off x="548640" y="1097280"/>
            <a:ext cx="41148" cy="969264"/>
          </a:xfrm>
          <a:prstGeom prst="rect">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5" name="TextBox 4"/>
          <p:cNvSpPr txBox="1"/>
          <p:nvPr/>
        </p:nvSpPr>
        <p:spPr>
          <a:xfrm>
            <a:off x="731520" y="1133856"/>
            <a:ext cx="10820095" cy="914400"/>
          </a:xfrm>
          <a:prstGeom prst="rect">
            <a:avLst/>
          </a:prstGeom>
          <a:noFill/>
        </p:spPr>
        <p:txBody>
          <a:bodyPr wrap="square" lIns="0" rIns="0" tIns="0" bIns="0">
            <a:spAutoFit/>
          </a:bodyPr>
          <a:lstStyle/>
          <a:p>
            <a:pPr>
              <a:lnSpc>
                <a:spcPct val="115000"/>
              </a:lnSpc>
            </a:pPr>
            <a:r>
              <a:rPr sz="1000" b="0" i="1">
                <a:solidFill>
                  <a:srgbClr val="9FC0C8"/>
                </a:solidFill>
                <a:latin typeface="Segoe UI"/>
              </a:rPr>
              <a:t>Flooding is a persistent threat in Brgy. Elvita, Narra, Palawan — a flood-vulnerable barangay along a major river system with limited structural flood-mitigation works, unreliable internet connectivity, and continued reliance on manual observation and threshold-based warnings. Existing centralized systems can be unreachable during network outages, and few documented implementations combine offline, edge-based hybrid AI analytics for rural barangay deployment. FLAIRE addresses this gap.</a:t>
            </a:r>
          </a:p>
        </p:txBody>
      </p:sp>
      <p:sp>
        <p:nvSpPr>
          <p:cNvPr id="6" name="Oval 5"/>
          <p:cNvSpPr/>
          <p:nvPr/>
        </p:nvSpPr>
        <p:spPr>
          <a:xfrm>
            <a:off x="548640" y="2231136"/>
            <a:ext cx="310896" cy="310896"/>
          </a:xfrm>
          <a:prstGeom prst="ellipse">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072226"/>
                </a:solidFill>
                <a:latin typeface="Georgia"/>
              </a:rPr>
              <a:t>1</a:t>
            </a:r>
          </a:p>
        </p:txBody>
      </p:sp>
      <p:sp>
        <p:nvSpPr>
          <p:cNvPr id="7" name="TextBox 6"/>
          <p:cNvSpPr txBox="1"/>
          <p:nvPr/>
        </p:nvSpPr>
        <p:spPr>
          <a:xfrm>
            <a:off x="1005840" y="2212848"/>
            <a:ext cx="10637215" cy="685800"/>
          </a:xfrm>
          <a:prstGeom prst="rect">
            <a:avLst/>
          </a:prstGeom>
          <a:noFill/>
        </p:spPr>
        <p:txBody>
          <a:bodyPr wrap="square" lIns="0" rIns="0" tIns="0" bIns="0">
            <a:spAutoFit/>
          </a:bodyPr>
          <a:lstStyle/>
          <a:p>
            <a:pPr>
              <a:lnSpc>
                <a:spcPct val="108000"/>
              </a:lnSpc>
            </a:pPr>
            <a:r>
              <a:rPr sz="1050" b="0" i="0">
                <a:solidFill>
                  <a:srgbClr val="E8F2F5"/>
                </a:solidFill>
                <a:latin typeface="Segoe UI"/>
              </a:rPr>
              <a:t>What are the key problems and limitations in current flood-warning practices and data utilization in Brgy. Elvita, Narra, Palawan, and how can these be addressed through an offline-first, AI-based flood early-warning system?</a:t>
            </a:r>
          </a:p>
        </p:txBody>
      </p:sp>
      <p:sp>
        <p:nvSpPr>
          <p:cNvPr id="8" name="Oval 7"/>
          <p:cNvSpPr/>
          <p:nvPr/>
        </p:nvSpPr>
        <p:spPr>
          <a:xfrm>
            <a:off x="548640" y="2871215"/>
            <a:ext cx="310896" cy="310896"/>
          </a:xfrm>
          <a:prstGeom prst="ellipse">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072226"/>
                </a:solidFill>
                <a:latin typeface="Georgia"/>
              </a:rPr>
              <a:t>2</a:t>
            </a:r>
          </a:p>
        </p:txBody>
      </p:sp>
      <p:sp>
        <p:nvSpPr>
          <p:cNvPr id="9" name="TextBox 8"/>
          <p:cNvSpPr txBox="1"/>
          <p:nvPr/>
        </p:nvSpPr>
        <p:spPr>
          <a:xfrm>
            <a:off x="1005840" y="2852927"/>
            <a:ext cx="10637215" cy="1252728"/>
          </a:xfrm>
          <a:prstGeom prst="rect">
            <a:avLst/>
          </a:prstGeom>
          <a:noFill/>
        </p:spPr>
        <p:txBody>
          <a:bodyPr wrap="square" lIns="0" rIns="0" tIns="0" bIns="0">
            <a:spAutoFit/>
          </a:bodyPr>
          <a:lstStyle/>
          <a:p>
            <a:pPr>
              <a:lnSpc>
                <a:spcPct val="108000"/>
              </a:lnSpc>
            </a:pPr>
            <a:r>
              <a:rPr sz="1050" b="0" i="0">
                <a:solidFill>
                  <a:srgbClr val="E8F2F5"/>
                </a:solidFill>
                <a:latin typeface="Segoe UI"/>
              </a:rPr>
              <a:t>How can a Fuzzy-AI riverine flood-risk classification system be designed and developed for Brgy. Elvita that integrates cached seven-day weather and tide forecast data from OpenMeteo (updated at least daily, every six hours, and stored in a local database); real-time water-level and rainfall data from a LoRa-based hydrological sensor node transmitted to a Raspberry Pi 5 edge device; a hybrid AI pipeline in which a Random Forest model estimates flood propensity using R1, R3, R7, rain_days, TMAX, TMIN, TideMax, and TideMin while a fuzzy-logic classifier with 20 rules classifies flood risk as Receding, Alert, Alarm, or Critical; and a local web dashboard accessible through a LAN, enabling BDRRMC personnel to monitor real-time sensor data, AI-based risk classifications, and visualizations without internet connectivity, with alerts delivered through the dashboard and SMS?</a:t>
            </a:r>
          </a:p>
        </p:txBody>
      </p:sp>
      <p:sp>
        <p:nvSpPr>
          <p:cNvPr id="10" name="Oval 9"/>
          <p:cNvSpPr/>
          <p:nvPr/>
        </p:nvSpPr>
        <p:spPr>
          <a:xfrm>
            <a:off x="548640" y="4078224"/>
            <a:ext cx="310896" cy="310896"/>
          </a:xfrm>
          <a:prstGeom prst="ellipse">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072226"/>
                </a:solidFill>
                <a:latin typeface="Georgia"/>
              </a:rPr>
              <a:t>3</a:t>
            </a:r>
          </a:p>
        </p:txBody>
      </p:sp>
      <p:sp>
        <p:nvSpPr>
          <p:cNvPr id="11" name="TextBox 10"/>
          <p:cNvSpPr txBox="1"/>
          <p:nvPr/>
        </p:nvSpPr>
        <p:spPr>
          <a:xfrm>
            <a:off x="1005840" y="4059936"/>
            <a:ext cx="10637215" cy="704088"/>
          </a:xfrm>
          <a:prstGeom prst="rect">
            <a:avLst/>
          </a:prstGeom>
          <a:noFill/>
        </p:spPr>
        <p:txBody>
          <a:bodyPr wrap="square" lIns="0" rIns="0" tIns="0" bIns="0">
            <a:spAutoFit/>
          </a:bodyPr>
          <a:lstStyle/>
          <a:p>
            <a:pPr>
              <a:lnSpc>
                <a:spcPct val="108000"/>
              </a:lnSpc>
            </a:pPr>
            <a:r>
              <a:rPr sz="1050" b="0" i="0">
                <a:solidFill>
                  <a:srgbClr val="E8F2F5"/>
                </a:solidFill>
                <a:latin typeface="Segoe UI"/>
              </a:rPr>
              <a:t>How consistently does the Random Forest flood-propensity model reproduce the rule-derived Low, Medium, and High flood-propensity categories on a held-out test set, in terms of accuracy, precision, recall, and F1-score?</a:t>
            </a:r>
          </a:p>
        </p:txBody>
      </p:sp>
      <p:sp>
        <p:nvSpPr>
          <p:cNvPr id="12" name="Oval 11"/>
          <p:cNvSpPr/>
          <p:nvPr/>
        </p:nvSpPr>
        <p:spPr>
          <a:xfrm>
            <a:off x="548640" y="4736592"/>
            <a:ext cx="310896" cy="310896"/>
          </a:xfrm>
          <a:prstGeom prst="ellipse">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072226"/>
                </a:solidFill>
                <a:latin typeface="Georgia"/>
              </a:rPr>
              <a:t>4</a:t>
            </a:r>
          </a:p>
        </p:txBody>
      </p:sp>
      <p:sp>
        <p:nvSpPr>
          <p:cNvPr id="13" name="TextBox 12"/>
          <p:cNvSpPr txBox="1"/>
          <p:nvPr/>
        </p:nvSpPr>
        <p:spPr>
          <a:xfrm>
            <a:off x="1005840" y="4718304"/>
            <a:ext cx="10637215" cy="521207"/>
          </a:xfrm>
          <a:prstGeom prst="rect">
            <a:avLst/>
          </a:prstGeom>
          <a:noFill/>
        </p:spPr>
        <p:txBody>
          <a:bodyPr wrap="square" lIns="0" rIns="0" tIns="0" bIns="0">
            <a:spAutoFit/>
          </a:bodyPr>
          <a:lstStyle/>
          <a:p>
            <a:pPr>
              <a:lnSpc>
                <a:spcPct val="108000"/>
              </a:lnSpc>
            </a:pPr>
            <a:r>
              <a:rPr sz="1050" b="0" i="0">
                <a:solidFill>
                  <a:srgbClr val="E8F2F5"/>
                </a:solidFill>
                <a:latin typeface="Segoe UI"/>
              </a:rPr>
              <a:t>How did the FLAIRE prototype perform during a limited field deployment in terms of sensor-data capture, data logging, and data quality?</a:t>
            </a:r>
          </a:p>
        </p:txBody>
      </p:sp>
      <p:sp>
        <p:nvSpPr>
          <p:cNvPr id="14" name="Oval 13"/>
          <p:cNvSpPr/>
          <p:nvPr/>
        </p:nvSpPr>
        <p:spPr>
          <a:xfrm>
            <a:off x="548640" y="5212079"/>
            <a:ext cx="310896" cy="310896"/>
          </a:xfrm>
          <a:prstGeom prst="ellipse">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072226"/>
                </a:solidFill>
                <a:latin typeface="Georgia"/>
              </a:rPr>
              <a:t>5</a:t>
            </a:r>
          </a:p>
        </p:txBody>
      </p:sp>
      <p:sp>
        <p:nvSpPr>
          <p:cNvPr id="15" name="TextBox 14"/>
          <p:cNvSpPr txBox="1"/>
          <p:nvPr/>
        </p:nvSpPr>
        <p:spPr>
          <a:xfrm>
            <a:off x="1005840" y="5193792"/>
            <a:ext cx="10637215" cy="722376"/>
          </a:xfrm>
          <a:prstGeom prst="rect">
            <a:avLst/>
          </a:prstGeom>
          <a:noFill/>
        </p:spPr>
        <p:txBody>
          <a:bodyPr wrap="square" lIns="0" rIns="0" tIns="0" bIns="0">
            <a:spAutoFit/>
          </a:bodyPr>
          <a:lstStyle/>
          <a:p>
            <a:pPr>
              <a:lnSpc>
                <a:spcPct val="108000"/>
              </a:lnSpc>
            </a:pPr>
            <a:r>
              <a:rPr sz="1050" b="0" i="0">
                <a:solidFill>
                  <a:srgbClr val="E8F2F5"/>
                </a:solidFill>
                <a:latin typeface="Segoe UI"/>
              </a:rPr>
              <a:t>How acceptable is the developed FLAIRE system to the BDRRMC focal persons of Brgy. Elvita, Narra, Palawan in terms of functionality, usability, reliability, perceived contribution to disaster preparedness, attitude toward use, and intention to use, as measured through a Technology Acceptance Model (TAM)-based interview or survey?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C2228"/>
        </a:solidFill>
        <a:effectLst/>
      </p:bgPr>
    </p:bg>
    <p:spTree>
      <p:nvGrpSpPr>
        <p:cNvPr id="1" name=""/>
        <p:cNvGrpSpPr/>
        <p:nvPr/>
      </p:nvGrpSpPr>
      <p:grpSpPr/>
      <p:sp>
        <p:nvSpPr>
          <p:cNvPr id="2" name="TextBox 1"/>
          <p:cNvSpPr txBox="1"/>
          <p:nvPr/>
        </p:nvSpPr>
        <p:spPr>
          <a:xfrm>
            <a:off x="548640" y="310896"/>
            <a:ext cx="11094415" cy="274320"/>
          </a:xfrm>
          <a:prstGeom prst="rect">
            <a:avLst/>
          </a:prstGeom>
          <a:noFill/>
        </p:spPr>
        <p:txBody>
          <a:bodyPr wrap="square" lIns="0" rIns="0" tIns="0" bIns="0">
            <a:spAutoFit/>
          </a:bodyPr>
          <a:lstStyle/>
          <a:p>
            <a:r>
              <a:rPr sz="1000" b="1" i="0" spc="260">
                <a:solidFill>
                  <a:srgbClr val="3EC7B3"/>
                </a:solidFill>
                <a:latin typeface="Segoe UI"/>
              </a:rPr>
              <a:t>04 · Significance of the study</a:t>
            </a:r>
          </a:p>
        </p:txBody>
      </p:sp>
      <p:sp>
        <p:nvSpPr>
          <p:cNvPr id="3" name="TextBox 2"/>
          <p:cNvSpPr txBox="1"/>
          <p:nvPr/>
        </p:nvSpPr>
        <p:spPr>
          <a:xfrm>
            <a:off x="548640" y="530352"/>
            <a:ext cx="11094415" cy="548640"/>
          </a:xfrm>
          <a:prstGeom prst="rect">
            <a:avLst/>
          </a:prstGeom>
          <a:noFill/>
        </p:spPr>
        <p:txBody>
          <a:bodyPr wrap="square" lIns="0" rIns="0" tIns="0" bIns="0">
            <a:spAutoFit/>
          </a:bodyPr>
          <a:lstStyle/>
          <a:p>
            <a:r>
              <a:rPr sz="2300" b="1" i="0">
                <a:solidFill>
                  <a:srgbClr val="E8F2F5"/>
                </a:solidFill>
                <a:latin typeface="Georgia"/>
              </a:rPr>
              <a:t>Significance of the study</a:t>
            </a:r>
          </a:p>
        </p:txBody>
      </p:sp>
      <p:sp>
        <p:nvSpPr>
          <p:cNvPr id="4" name="TextBox 3"/>
          <p:cNvSpPr txBox="1"/>
          <p:nvPr/>
        </p:nvSpPr>
        <p:spPr>
          <a:xfrm>
            <a:off x="548640" y="1042415"/>
            <a:ext cx="11094415" cy="256032"/>
          </a:xfrm>
          <a:prstGeom prst="rect">
            <a:avLst/>
          </a:prstGeom>
          <a:noFill/>
        </p:spPr>
        <p:txBody>
          <a:bodyPr wrap="square" lIns="0" rIns="0" tIns="0" bIns="0">
            <a:spAutoFit/>
          </a:bodyPr>
          <a:lstStyle/>
          <a:p>
            <a:r>
              <a:rPr sz="950" b="1" i="0" spc="60">
                <a:solidFill>
                  <a:srgbClr val="9FC0C8"/>
                </a:solidFill>
                <a:latin typeface="Segoe UI"/>
              </a:rPr>
              <a:t>Who benefits</a:t>
            </a:r>
          </a:p>
        </p:txBody>
      </p:sp>
      <p:sp>
        <p:nvSpPr>
          <p:cNvPr id="5" name="Rounded Rectangle 4"/>
          <p:cNvSpPr/>
          <p:nvPr/>
        </p:nvSpPr>
        <p:spPr>
          <a:xfrm>
            <a:off x="548640" y="1426464"/>
            <a:ext cx="5440680" cy="1463040"/>
          </a:xfrm>
          <a:prstGeom prst="roundRect">
            <a:avLst>
              <a:gd name="adj" fmla="val 7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5"/>
          <p:cNvSpPr txBox="1"/>
          <p:nvPr/>
        </p:nvSpPr>
        <p:spPr>
          <a:xfrm>
            <a:off x="749808" y="1545336"/>
            <a:ext cx="5074920" cy="1234440"/>
          </a:xfrm>
          <a:prstGeom prst="rect">
            <a:avLst/>
          </a:prstGeom>
          <a:noFill/>
        </p:spPr>
        <p:txBody>
          <a:bodyPr wrap="square" lIns="0" rIns="0" tIns="0" bIns="0">
            <a:spAutoFit/>
          </a:bodyPr>
          <a:lstStyle/>
          <a:p>
            <a:r>
              <a:rPr sz="950" b="1" i="0" spc="110">
                <a:solidFill>
                  <a:srgbClr val="3EC7B3"/>
                </a:solidFill>
                <a:latin typeface="Segoe UI"/>
              </a:rPr>
              <a:t>BDRRMC (Barangay Elvita)</a:t>
            </a:r>
          </a:p>
          <a:p>
            <a:pPr>
              <a:lnSpc>
                <a:spcPct val="110000"/>
              </a:lnSpc>
              <a:spcBef>
                <a:spcPts val="400"/>
              </a:spcBef>
            </a:pPr>
            <a:r>
              <a:rPr sz="950" b="0" i="0">
                <a:solidFill>
                  <a:srgbClr val="E8F2F5"/>
                </a:solidFill>
                <a:latin typeface="Segoe UI"/>
              </a:rPr>
              <a:t>Offline-first, AI-enhanced flood early-warning: flood-risk classifications from real-time sensor data and cached forecasts through a LAN dashboard — supporting informed decisions, preemptive evacuation planning, and resource allocation even during internet or power interruptions.</a:t>
            </a:r>
          </a:p>
        </p:txBody>
      </p:sp>
      <p:sp>
        <p:nvSpPr>
          <p:cNvPr id="7" name="Rounded Rectangle 6"/>
          <p:cNvSpPr/>
          <p:nvPr/>
        </p:nvSpPr>
        <p:spPr>
          <a:xfrm>
            <a:off x="6199631" y="1426464"/>
            <a:ext cx="5440680" cy="1463040"/>
          </a:xfrm>
          <a:prstGeom prst="roundRect">
            <a:avLst>
              <a:gd name="adj" fmla="val 7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TextBox 7"/>
          <p:cNvSpPr txBox="1"/>
          <p:nvPr/>
        </p:nvSpPr>
        <p:spPr>
          <a:xfrm>
            <a:off x="6400799" y="1545336"/>
            <a:ext cx="5074920" cy="1234440"/>
          </a:xfrm>
          <a:prstGeom prst="rect">
            <a:avLst/>
          </a:prstGeom>
          <a:noFill/>
        </p:spPr>
        <p:txBody>
          <a:bodyPr wrap="square" lIns="0" rIns="0" tIns="0" bIns="0">
            <a:spAutoFit/>
          </a:bodyPr>
          <a:lstStyle/>
          <a:p>
            <a:r>
              <a:rPr sz="950" b="1" i="0" spc="110">
                <a:solidFill>
                  <a:srgbClr val="3EC7B3"/>
                </a:solidFill>
                <a:latin typeface="Segoe UI"/>
              </a:rPr>
              <a:t>Barangay officials &amp; residents</a:t>
            </a:r>
          </a:p>
          <a:p>
            <a:pPr>
              <a:lnSpc>
                <a:spcPct val="110000"/>
              </a:lnSpc>
              <a:spcBef>
                <a:spcPts val="400"/>
              </a:spcBef>
            </a:pPr>
            <a:r>
              <a:rPr sz="950" b="0" i="0">
                <a:solidFill>
                  <a:srgbClr val="E8F2F5"/>
                </a:solidFill>
                <a:latin typeface="Segoe UI"/>
              </a:rPr>
              <a:t>Timely flood notifications through SMS alerts and dashboard-based monitoring, improving community preparedness and resilience in a flood-prone, low-connectivity setting.</a:t>
            </a:r>
          </a:p>
        </p:txBody>
      </p:sp>
      <p:sp>
        <p:nvSpPr>
          <p:cNvPr id="9" name="Rounded Rectangle 8"/>
          <p:cNvSpPr/>
          <p:nvPr/>
        </p:nvSpPr>
        <p:spPr>
          <a:xfrm>
            <a:off x="548640" y="2999232"/>
            <a:ext cx="5440680" cy="1463040"/>
          </a:xfrm>
          <a:prstGeom prst="roundRect">
            <a:avLst>
              <a:gd name="adj" fmla="val 7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0" name="TextBox 9"/>
          <p:cNvSpPr txBox="1"/>
          <p:nvPr/>
        </p:nvSpPr>
        <p:spPr>
          <a:xfrm>
            <a:off x="749808" y="3118103"/>
            <a:ext cx="5074920" cy="1234440"/>
          </a:xfrm>
          <a:prstGeom prst="rect">
            <a:avLst/>
          </a:prstGeom>
          <a:noFill/>
        </p:spPr>
        <p:txBody>
          <a:bodyPr wrap="square" lIns="0" rIns="0" tIns="0" bIns="0">
            <a:spAutoFit/>
          </a:bodyPr>
          <a:lstStyle/>
          <a:p>
            <a:r>
              <a:rPr sz="950" b="1" i="0" spc="110">
                <a:solidFill>
                  <a:srgbClr val="3EC7B3"/>
                </a:solidFill>
                <a:latin typeface="Segoe UI"/>
              </a:rPr>
              <a:t>Academic community</a:t>
            </a:r>
          </a:p>
          <a:p>
            <a:pPr>
              <a:lnSpc>
                <a:spcPct val="110000"/>
              </a:lnSpc>
              <a:spcBef>
                <a:spcPts val="400"/>
              </a:spcBef>
            </a:pPr>
            <a:r>
              <a:rPr sz="950" b="0" i="0">
                <a:solidFill>
                  <a:srgbClr val="E8F2F5"/>
                </a:solidFill>
                <a:latin typeface="Segoe UI"/>
              </a:rPr>
              <a:t>A documented, reproducible offline-first hybrid Random Forest + fuzzy-logic flood-risk classification for a rural Philippine barangay, with an honest account of its labeling and validation limits.</a:t>
            </a:r>
          </a:p>
        </p:txBody>
      </p:sp>
      <p:sp>
        <p:nvSpPr>
          <p:cNvPr id="11" name="Rounded Rectangle 10"/>
          <p:cNvSpPr/>
          <p:nvPr/>
        </p:nvSpPr>
        <p:spPr>
          <a:xfrm>
            <a:off x="6199631" y="2999232"/>
            <a:ext cx="5440680" cy="1463040"/>
          </a:xfrm>
          <a:prstGeom prst="roundRect">
            <a:avLst>
              <a:gd name="adj" fmla="val 7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TextBox 11"/>
          <p:cNvSpPr txBox="1"/>
          <p:nvPr/>
        </p:nvSpPr>
        <p:spPr>
          <a:xfrm>
            <a:off x="6400799" y="3118103"/>
            <a:ext cx="5074920" cy="1234440"/>
          </a:xfrm>
          <a:prstGeom prst="rect">
            <a:avLst/>
          </a:prstGeom>
          <a:noFill/>
        </p:spPr>
        <p:txBody>
          <a:bodyPr wrap="square" lIns="0" rIns="0" tIns="0" bIns="0">
            <a:spAutoFit/>
          </a:bodyPr>
          <a:lstStyle/>
          <a:p>
            <a:r>
              <a:rPr sz="950" b="1" i="0" spc="110">
                <a:solidFill>
                  <a:srgbClr val="3EC7B3"/>
                </a:solidFill>
                <a:latin typeface="Segoe UI"/>
              </a:rPr>
              <a:t>Policy-makers &amp; future deployments</a:t>
            </a:r>
          </a:p>
          <a:p>
            <a:pPr>
              <a:lnSpc>
                <a:spcPct val="110000"/>
              </a:lnSpc>
              <a:spcBef>
                <a:spcPts val="400"/>
              </a:spcBef>
            </a:pPr>
            <a:r>
              <a:rPr sz="950" b="0" i="0">
                <a:solidFill>
                  <a:srgbClr val="E8F2F5"/>
                </a:solidFill>
                <a:latin typeface="Segoe UI"/>
              </a:rPr>
              <a:t>Evidence that barangay-scale early warning can run with minimal internet dependency and edge-based AI — an initial basis for scaling low-cost, power-resilient monitoring to similar communities.</a:t>
            </a:r>
          </a:p>
        </p:txBody>
      </p:sp>
      <p:sp>
        <p:nvSpPr>
          <p:cNvPr id="13" name="Rounded Rectangle 12"/>
          <p:cNvSpPr/>
          <p:nvPr/>
        </p:nvSpPr>
        <p:spPr>
          <a:xfrm>
            <a:off x="4270248" y="4690872"/>
            <a:ext cx="3657600" cy="1371600"/>
          </a:xfrm>
          <a:prstGeom prst="roundRect">
            <a:avLst>
              <a:gd name="adj" fmla="val 6000"/>
            </a:avLst>
          </a:prstGeom>
          <a:solidFill>
            <a:srgbClr val="102930"/>
          </a:solidFill>
          <a:ln w="19050">
            <a:solidFill>
              <a:srgbClr val="3263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3"/>
          <p:cNvSpPr txBox="1"/>
          <p:nvPr/>
        </p:nvSpPr>
        <p:spPr>
          <a:xfrm>
            <a:off x="4498848" y="4690872"/>
            <a:ext cx="3200400" cy="1371600"/>
          </a:xfrm>
          <a:prstGeom prst="rect">
            <a:avLst/>
          </a:prstGeom>
          <a:noFill/>
        </p:spPr>
        <p:txBody>
          <a:bodyPr wrap="square" lIns="0" rIns="0" tIns="0" bIns="0" anchor="ctr">
            <a:spAutoFit/>
          </a:bodyPr>
          <a:lstStyle/>
          <a:p>
            <a:pPr algn="ctr"/>
            <a:r>
              <a:rPr sz="850" b="1" i="0" spc="200">
                <a:solidFill>
                  <a:srgbClr val="3EC7B3"/>
                </a:solidFill>
                <a:latin typeface="Segoe UI"/>
              </a:rPr>
              <a:t>◲ FIGURE PLACEHOLDER · DROP IMAGE TO INSERT</a:t>
            </a:r>
          </a:p>
          <a:p>
            <a:pPr algn="ctr">
              <a:spcBef>
                <a:spcPts val="600"/>
              </a:spcBef>
            </a:pPr>
            <a:r>
              <a:rPr sz="950" b="0" i="0">
                <a:solidFill>
                  <a:srgbClr val="9FC0C8"/>
                </a:solidFill>
                <a:latin typeface="Segoe UI"/>
              </a:rPr>
              <a:t>Significance of the study — beneficiary map (BDRRMC, residents, researchers, policy).</a:t>
            </a:r>
          </a:p>
        </p:txBody>
      </p:sp>
      <p:sp>
        <p:nvSpPr>
          <p:cNvPr id="15" name="TextBox 14"/>
          <p:cNvSpPr txBox="1"/>
          <p:nvPr/>
        </p:nvSpPr>
        <p:spPr>
          <a:xfrm>
            <a:off x="3355848" y="6117336"/>
            <a:ext cx="5486400" cy="274320"/>
          </a:xfrm>
          <a:prstGeom prst="rect">
            <a:avLst/>
          </a:prstGeom>
          <a:noFill/>
        </p:spPr>
        <p:txBody>
          <a:bodyPr wrap="square" lIns="0" rIns="0" tIns="0" bIns="0">
            <a:spAutoFit/>
          </a:bodyPr>
          <a:lstStyle/>
          <a:p>
            <a:pPr algn="ctr"/>
            <a:r>
              <a:rPr sz="850" b="1" i="0" spc="100">
                <a:solidFill>
                  <a:srgbClr val="6E939C"/>
                </a:solidFill>
                <a:latin typeface="Segoe UI"/>
              </a:rPr>
              <a:t>Figure 1. Significance of the study — beneficiaries.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C2228"/>
        </a:solidFill>
        <a:effectLst/>
      </p:bgPr>
    </p:bg>
    <p:spTree>
      <p:nvGrpSpPr>
        <p:cNvPr id="1" name=""/>
        <p:cNvGrpSpPr/>
        <p:nvPr/>
      </p:nvGrpSpPr>
      <p:grpSpPr/>
      <p:sp>
        <p:nvSpPr>
          <p:cNvPr id="2" name="TextBox 1"/>
          <p:cNvSpPr txBox="1"/>
          <p:nvPr/>
        </p:nvSpPr>
        <p:spPr>
          <a:xfrm>
            <a:off x="548640" y="310896"/>
            <a:ext cx="11094415" cy="274320"/>
          </a:xfrm>
          <a:prstGeom prst="rect">
            <a:avLst/>
          </a:prstGeom>
          <a:noFill/>
        </p:spPr>
        <p:txBody>
          <a:bodyPr wrap="square" lIns="0" rIns="0" tIns="0" bIns="0">
            <a:spAutoFit/>
          </a:bodyPr>
          <a:lstStyle/>
          <a:p>
            <a:r>
              <a:rPr sz="1000" b="1" i="0" spc="260">
                <a:solidFill>
                  <a:srgbClr val="3EC7B3"/>
                </a:solidFill>
                <a:latin typeface="Segoe UI"/>
              </a:rPr>
              <a:t>05 · Scope and Delimitation</a:t>
            </a:r>
          </a:p>
        </p:txBody>
      </p:sp>
      <p:sp>
        <p:nvSpPr>
          <p:cNvPr id="3" name="TextBox 2"/>
          <p:cNvSpPr txBox="1"/>
          <p:nvPr/>
        </p:nvSpPr>
        <p:spPr>
          <a:xfrm>
            <a:off x="548640" y="530352"/>
            <a:ext cx="11094415" cy="548640"/>
          </a:xfrm>
          <a:prstGeom prst="rect">
            <a:avLst/>
          </a:prstGeom>
          <a:noFill/>
        </p:spPr>
        <p:txBody>
          <a:bodyPr wrap="square" lIns="0" rIns="0" tIns="0" bIns="0">
            <a:spAutoFit/>
          </a:bodyPr>
          <a:lstStyle/>
          <a:p>
            <a:r>
              <a:rPr sz="2300" b="1" i="0">
                <a:solidFill>
                  <a:srgbClr val="E8F2F5"/>
                </a:solidFill>
                <a:latin typeface="Georgia"/>
              </a:rPr>
              <a:t>Scope and Delimitation</a:t>
            </a:r>
          </a:p>
        </p:txBody>
      </p:sp>
      <p:sp>
        <p:nvSpPr>
          <p:cNvPr id="4" name="TextBox 3"/>
          <p:cNvSpPr txBox="1"/>
          <p:nvPr/>
        </p:nvSpPr>
        <p:spPr>
          <a:xfrm>
            <a:off x="548640" y="1042415"/>
            <a:ext cx="11094415" cy="256032"/>
          </a:xfrm>
          <a:prstGeom prst="rect">
            <a:avLst/>
          </a:prstGeom>
          <a:noFill/>
        </p:spPr>
        <p:txBody>
          <a:bodyPr wrap="square" lIns="0" rIns="0" tIns="0" bIns="0">
            <a:spAutoFit/>
          </a:bodyPr>
          <a:lstStyle/>
          <a:p>
            <a:r>
              <a:rPr sz="950" b="1" i="0" spc="60">
                <a:solidFill>
                  <a:srgbClr val="9FC0C8"/>
                </a:solidFill>
                <a:latin typeface="Segoe UI"/>
              </a:rPr>
              <a:t>In scope vs. boundaries</a:t>
            </a:r>
          </a:p>
        </p:txBody>
      </p:sp>
      <p:sp>
        <p:nvSpPr>
          <p:cNvPr id="5" name="Rounded Rectangle 4"/>
          <p:cNvSpPr/>
          <p:nvPr/>
        </p:nvSpPr>
        <p:spPr>
          <a:xfrm>
            <a:off x="548640" y="1426464"/>
            <a:ext cx="5440680" cy="4892040"/>
          </a:xfrm>
          <a:prstGeom prst="roundRect">
            <a:avLst>
              <a:gd name="adj" fmla="val 5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Rectangle 5"/>
          <p:cNvSpPr/>
          <p:nvPr/>
        </p:nvSpPr>
        <p:spPr>
          <a:xfrm>
            <a:off x="548640" y="1572768"/>
            <a:ext cx="41148" cy="4572000"/>
          </a:xfrm>
          <a:prstGeom prst="rect">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TextBox 6"/>
          <p:cNvSpPr txBox="1"/>
          <p:nvPr/>
        </p:nvSpPr>
        <p:spPr>
          <a:xfrm>
            <a:off x="804672" y="1591056"/>
            <a:ext cx="4983480" cy="274320"/>
          </a:xfrm>
          <a:prstGeom prst="rect">
            <a:avLst/>
          </a:prstGeom>
          <a:noFill/>
        </p:spPr>
        <p:txBody>
          <a:bodyPr wrap="square" lIns="0" rIns="0" tIns="0" bIns="0">
            <a:spAutoFit/>
          </a:bodyPr>
          <a:lstStyle/>
          <a:p>
            <a:r>
              <a:rPr sz="1000" b="1" i="0" spc="110">
                <a:solidFill>
                  <a:srgbClr val="3EC7B3"/>
                </a:solidFill>
                <a:latin typeface="Segoe UI"/>
              </a:rPr>
              <a:t>In scope</a:t>
            </a:r>
          </a:p>
        </p:txBody>
      </p:sp>
      <p:sp>
        <p:nvSpPr>
          <p:cNvPr id="8" name="TextBox 7"/>
          <p:cNvSpPr txBox="1"/>
          <p:nvPr/>
        </p:nvSpPr>
        <p:spPr>
          <a:xfrm>
            <a:off x="960120" y="2048256"/>
            <a:ext cx="4846320" cy="4261104"/>
          </a:xfrm>
          <a:prstGeom prst="rect">
            <a:avLst/>
          </a:prstGeom>
          <a:noFill/>
        </p:spPr>
        <p:txBody>
          <a:bodyPr wrap="square" lIns="0" rIns="0" tIns="0" bIns="0">
            <a:spAutoFit/>
          </a:bodyPr>
          <a:lstStyle/>
          <a:p>
            <a:pPr>
              <a:spcAft>
                <a:spcPts val="800"/>
              </a:spcAft>
            </a:pPr>
            <a:r>
              <a:rPr sz="700" b="0" i="0">
                <a:solidFill>
                  <a:srgbClr val="3EC7B3"/>
                </a:solidFill>
                <a:latin typeface="Segoe UI"/>
              </a:rPr>
              <a:t>●  </a:t>
            </a:r>
            <a:r>
              <a:rPr sz="1100" b="0" i="0">
                <a:solidFill>
                  <a:srgbClr val="E8F2F5"/>
                </a:solidFill>
                <a:latin typeface="Segoe UI"/>
              </a:rPr>
              <a:t>Design, development, and pilot deployment of FLAIRE — offline-first hybrid Fuzzy-AI riverine flood-risk classification and early-warning system, Brgy. Elvita, Narra, Palawan (one vulnerable river section)</a:t>
            </a:r>
          </a:p>
          <a:p>
            <a:pPr>
              <a:spcAft>
                <a:spcPts val="800"/>
              </a:spcAft>
            </a:pPr>
            <a:r>
              <a:rPr sz="1100" b="0" i="0">
                <a:solidFill>
                  <a:srgbClr val="3EC7B3"/>
                </a:solidFill>
                <a:latin typeface="Segoe UI"/>
              </a:rPr>
              <a:t>●  </a:t>
            </a:r>
            <a:r>
              <a:rPr sz="1100" b="0" i="0">
                <a:solidFill>
                  <a:srgbClr val="E8F2F5"/>
                </a:solidFill>
                <a:latin typeface="Segoe UI"/>
              </a:rPr>
              <a:t>Historical data (PAGASA, NAMRIA) + cached Open-Meteo forecasts (6 h refresh), stored locally in SQLite</a:t>
            </a:r>
          </a:p>
          <a:p>
            <a:pPr>
              <a:spcAft>
                <a:spcPts val="800"/>
              </a:spcAft>
            </a:pPr>
            <a:r>
              <a:rPr sz="1100" b="0" i="0">
                <a:solidFill>
                  <a:srgbClr val="3EC7B3"/>
                </a:solidFill>
                <a:latin typeface="Segoe UI"/>
              </a:rPr>
              <a:t>●  </a:t>
            </a:r>
            <a:r>
              <a:rPr sz="1100" b="0" i="0">
                <a:solidFill>
                  <a:srgbClr val="E8F2F5"/>
                </a:solidFill>
                <a:latin typeface="Segoe UI"/>
              </a:rPr>
              <a:t>LoRa sensor node → Raspberry Pi 5 edge device; RF flood propensity (8 features) + 20-rule fuzzy logic → four risk levels</a:t>
            </a:r>
          </a:p>
          <a:p>
            <a:pPr>
              <a:spcAft>
                <a:spcPts val="800"/>
              </a:spcAft>
            </a:pPr>
            <a:r>
              <a:rPr sz="1100" b="0" i="0">
                <a:solidFill>
                  <a:srgbClr val="3EC7B3"/>
                </a:solidFill>
                <a:latin typeface="Segoe UI"/>
              </a:rPr>
              <a:t>●  </a:t>
            </a:r>
            <a:r>
              <a:rPr sz="1100" b="0" i="0">
                <a:solidFill>
                  <a:srgbClr val="E8F2F5"/>
                </a:solidFill>
                <a:latin typeface="Segoe UI"/>
              </a:rPr>
              <a:t>LAN dashboard + SMS alerts; BDRRMC retains alert authority</a:t>
            </a:r>
          </a:p>
          <a:p>
            <a:pPr>
              <a:spcAft>
                <a:spcPts val="800"/>
              </a:spcAft>
            </a:pPr>
            <a:r>
              <a:rPr sz="1100" b="0" i="0">
                <a:solidFill>
                  <a:srgbClr val="3EC7B3"/>
                </a:solidFill>
                <a:latin typeface="Segoe UI"/>
              </a:rPr>
              <a:t>●  </a:t>
            </a:r>
            <a:r>
              <a:rPr sz="1100" b="0" i="0">
                <a:solidFill>
                  <a:srgbClr val="E8F2F5"/>
                </a:solidFill>
                <a:latin typeface="Segoe UI"/>
              </a:rPr>
              <a:t>Held-out test-set evaluation (80/20) and TAM acceptability survey (n = 2 focal persons)</a:t>
            </a:r>
          </a:p>
        </p:txBody>
      </p:sp>
      <p:sp>
        <p:nvSpPr>
          <p:cNvPr id="9" name="Rounded Rectangle 8"/>
          <p:cNvSpPr/>
          <p:nvPr/>
        </p:nvSpPr>
        <p:spPr>
          <a:xfrm>
            <a:off x="6199631" y="1426464"/>
            <a:ext cx="5440680" cy="4892040"/>
          </a:xfrm>
          <a:prstGeom prst="roundRect">
            <a:avLst>
              <a:gd name="adj" fmla="val 5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0" name="Rectangle 9"/>
          <p:cNvSpPr/>
          <p:nvPr/>
        </p:nvSpPr>
        <p:spPr>
          <a:xfrm>
            <a:off x="6199631" y="1572768"/>
            <a:ext cx="41148" cy="4572000"/>
          </a:xfrm>
          <a:prstGeom prst="rect">
            <a:avLst/>
          </a:prstGeom>
          <a:solidFill>
            <a:srgbClr val="F4B9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0"/>
          <p:cNvSpPr txBox="1"/>
          <p:nvPr/>
        </p:nvSpPr>
        <p:spPr>
          <a:xfrm>
            <a:off x="6455664" y="1591056"/>
            <a:ext cx="4983480" cy="274320"/>
          </a:xfrm>
          <a:prstGeom prst="rect">
            <a:avLst/>
          </a:prstGeom>
          <a:noFill/>
        </p:spPr>
        <p:txBody>
          <a:bodyPr wrap="square" lIns="0" rIns="0" tIns="0" bIns="0">
            <a:spAutoFit/>
          </a:bodyPr>
          <a:lstStyle/>
          <a:p>
            <a:r>
              <a:rPr sz="1000" b="1" i="0" spc="110">
                <a:solidFill>
                  <a:srgbClr val="F4B942"/>
                </a:solidFill>
                <a:latin typeface="Segoe UI"/>
              </a:rPr>
              <a:t>Delimitations</a:t>
            </a:r>
          </a:p>
        </p:txBody>
      </p:sp>
      <p:sp>
        <p:nvSpPr>
          <p:cNvPr id="12" name="TextBox 11"/>
          <p:cNvSpPr txBox="1"/>
          <p:nvPr/>
        </p:nvSpPr>
        <p:spPr>
          <a:xfrm>
            <a:off x="6611112" y="2048256"/>
            <a:ext cx="4846320" cy="4261104"/>
          </a:xfrm>
          <a:prstGeom prst="rect">
            <a:avLst/>
          </a:prstGeom>
          <a:noFill/>
        </p:spPr>
        <p:txBody>
          <a:bodyPr wrap="square" lIns="0" rIns="0" tIns="0" bIns="0">
            <a:spAutoFit/>
          </a:bodyPr>
          <a:lstStyle/>
          <a:p>
            <a:pPr>
              <a:spcAft>
                <a:spcPts val="800"/>
              </a:spcAft>
            </a:pPr>
            <a:r>
              <a:rPr sz="700" b="0" i="0">
                <a:solidFill>
                  <a:srgbClr val="3EC7B3"/>
                </a:solidFill>
                <a:latin typeface="Segoe UI"/>
              </a:rPr>
              <a:t>●  </a:t>
            </a:r>
            <a:r>
              <a:rPr sz="1100" b="0" i="0">
                <a:solidFill>
                  <a:srgbClr val="E8F2F5"/>
                </a:solidFill>
                <a:latin typeface="Segoe UI"/>
              </a:rPr>
              <a:t>Riverine flooding only in Brgy. Elvita — excludes coastal flooding, upstream flash floods, areas outside the barangay</a:t>
            </a:r>
          </a:p>
          <a:p>
            <a:pPr>
              <a:spcAft>
                <a:spcPts val="800"/>
              </a:spcAft>
            </a:pPr>
            <a:r>
              <a:rPr sz="1100" b="0" i="0">
                <a:solidFill>
                  <a:srgbClr val="3EC7B3"/>
                </a:solidFill>
                <a:latin typeface="Segoe UI"/>
              </a:rPr>
              <a:t>●  </a:t>
            </a:r>
            <a:r>
              <a:rPr sz="1100" b="0" i="0">
                <a:solidFill>
                  <a:srgbClr val="E8F2F5"/>
                </a:solidFill>
                <a:latin typeface="Segoe UI"/>
              </a:rPr>
              <a:t>Single sensor node; no full river-system coverage</a:t>
            </a:r>
          </a:p>
          <a:p>
            <a:pPr>
              <a:spcAft>
                <a:spcPts val="800"/>
              </a:spcAft>
            </a:pPr>
            <a:r>
              <a:rPr sz="1100" b="0" i="0">
                <a:solidFill>
                  <a:srgbClr val="3EC7B3"/>
                </a:solidFill>
                <a:latin typeface="Segoe UI"/>
              </a:rPr>
              <a:t>●  </a:t>
            </a:r>
            <a:r>
              <a:rPr sz="1100" b="0" i="0">
                <a:solidFill>
                  <a:srgbClr val="E8F2F5"/>
                </a:solidFill>
                <a:latin typeface="Segoe UI"/>
              </a:rPr>
              <a:t>Decision support, not prediction: rule-derived labels; no measured forecast lead time; no threshold-baseline comparison</a:t>
            </a:r>
          </a:p>
          <a:p>
            <a:pPr>
              <a:spcAft>
                <a:spcPts val="800"/>
              </a:spcAft>
            </a:pPr>
            <a:r>
              <a:rPr sz="1100" b="0" i="0">
                <a:solidFill>
                  <a:srgbClr val="3EC7B3"/>
                </a:solidFill>
                <a:latin typeface="Segoe UI"/>
              </a:rPr>
              <a:t>●  </a:t>
            </a:r>
            <a:r>
              <a:rPr sz="1100" b="0" i="0">
                <a:solidFill>
                  <a:srgbClr val="E8F2F5"/>
                </a:solidFill>
                <a:latin typeface="Segoe UI"/>
              </a:rPr>
              <a:t>Preliminary four-event check only; limited deployment duration (~21.5 h)</a:t>
            </a:r>
          </a:p>
          <a:p>
            <a:pPr>
              <a:spcAft>
                <a:spcPts val="800"/>
              </a:spcAft>
            </a:pPr>
            <a:r>
              <a:rPr sz="1100" b="0" i="0">
                <a:solidFill>
                  <a:srgbClr val="3EC7B3"/>
                </a:solidFill>
                <a:latin typeface="Segoe UI"/>
              </a:rPr>
              <a:t>●  </a:t>
            </a:r>
            <a:r>
              <a:rPr sz="1100" b="0" i="0">
                <a:solidFill>
                  <a:srgbClr val="E8F2F5"/>
                </a:solidFill>
                <a:latin typeface="Segoe UI"/>
              </a:rPr>
              <a:t>n = 2 survey — preliminary, not generalizable</a:t>
            </a:r>
          </a:p>
          <a:p>
            <a:pPr>
              <a:spcAft>
                <a:spcPts val="800"/>
              </a:spcAft>
            </a:pPr>
            <a:r>
              <a:rPr sz="1100" b="0" i="0">
                <a:solidFill>
                  <a:srgbClr val="3EC7B3"/>
                </a:solidFill>
                <a:latin typeface="Segoe UI"/>
              </a:rPr>
              <a:t>●  </a:t>
            </a:r>
            <a:r>
              <a:rPr sz="1100" b="0" i="0">
                <a:solidFill>
                  <a:srgbClr val="E8F2F5"/>
                </a:solidFill>
                <a:latin typeface="Segoe UI"/>
              </a:rPr>
              <a:t>Dependent on historical / forecast / real-time data availability and quality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C2228"/>
        </a:solidFill>
        <a:effectLst/>
      </p:bgPr>
    </p:bg>
    <p:spTree>
      <p:nvGrpSpPr>
        <p:cNvPr id="1" name=""/>
        <p:cNvGrpSpPr/>
        <p:nvPr/>
      </p:nvGrpSpPr>
      <p:grpSpPr/>
      <p:sp>
        <p:nvSpPr>
          <p:cNvPr id="2" name="TextBox 1"/>
          <p:cNvSpPr txBox="1"/>
          <p:nvPr/>
        </p:nvSpPr>
        <p:spPr>
          <a:xfrm>
            <a:off x="548640" y="310896"/>
            <a:ext cx="11094415" cy="274320"/>
          </a:xfrm>
          <a:prstGeom prst="rect">
            <a:avLst/>
          </a:prstGeom>
          <a:noFill/>
        </p:spPr>
        <p:txBody>
          <a:bodyPr wrap="square" lIns="0" rIns="0" tIns="0" bIns="0">
            <a:spAutoFit/>
          </a:bodyPr>
          <a:lstStyle/>
          <a:p>
            <a:r>
              <a:rPr sz="1000" b="1" i="0" spc="260">
                <a:solidFill>
                  <a:srgbClr val="3EC7B3"/>
                </a:solidFill>
                <a:latin typeface="Segoe UI"/>
              </a:rPr>
              <a:t>06 · Entity relationship diagram</a:t>
            </a:r>
          </a:p>
        </p:txBody>
      </p:sp>
      <p:sp>
        <p:nvSpPr>
          <p:cNvPr id="3" name="TextBox 2"/>
          <p:cNvSpPr txBox="1"/>
          <p:nvPr/>
        </p:nvSpPr>
        <p:spPr>
          <a:xfrm>
            <a:off x="548640" y="530352"/>
            <a:ext cx="11094415" cy="548640"/>
          </a:xfrm>
          <a:prstGeom prst="rect">
            <a:avLst/>
          </a:prstGeom>
          <a:noFill/>
        </p:spPr>
        <p:txBody>
          <a:bodyPr wrap="square" lIns="0" rIns="0" tIns="0" bIns="0">
            <a:spAutoFit/>
          </a:bodyPr>
          <a:lstStyle/>
          <a:p>
            <a:r>
              <a:rPr sz="2300" b="1" i="0">
                <a:solidFill>
                  <a:srgbClr val="E8F2F5"/>
                </a:solidFill>
                <a:latin typeface="Georgia"/>
              </a:rPr>
              <a:t>Entity relationship diagram</a:t>
            </a:r>
          </a:p>
        </p:txBody>
      </p:sp>
      <p:sp>
        <p:nvSpPr>
          <p:cNvPr id="4" name="TextBox 3"/>
          <p:cNvSpPr txBox="1"/>
          <p:nvPr/>
        </p:nvSpPr>
        <p:spPr>
          <a:xfrm>
            <a:off x="548640" y="1042415"/>
            <a:ext cx="11094415" cy="256032"/>
          </a:xfrm>
          <a:prstGeom prst="rect">
            <a:avLst/>
          </a:prstGeom>
          <a:noFill/>
        </p:spPr>
        <p:txBody>
          <a:bodyPr wrap="square" lIns="0" rIns="0" tIns="0" bIns="0">
            <a:spAutoFit/>
          </a:bodyPr>
          <a:lstStyle/>
          <a:p>
            <a:r>
              <a:rPr sz="950" b="1" i="0" spc="60">
                <a:solidFill>
                  <a:srgbClr val="9FC0C8"/>
                </a:solidFill>
                <a:latin typeface="Segoe UI"/>
              </a:rPr>
              <a:t>River-monitor database schema — insert figure</a:t>
            </a:r>
          </a:p>
        </p:txBody>
      </p:sp>
      <p:sp>
        <p:nvSpPr>
          <p:cNvPr id="5" name="Rounded Rectangle 4"/>
          <p:cNvSpPr/>
          <p:nvPr/>
        </p:nvSpPr>
        <p:spPr>
          <a:xfrm>
            <a:off x="2807208" y="1645920"/>
            <a:ext cx="6583680" cy="3657600"/>
          </a:xfrm>
          <a:prstGeom prst="roundRect">
            <a:avLst>
              <a:gd name="adj" fmla="val 6000"/>
            </a:avLst>
          </a:prstGeom>
          <a:solidFill>
            <a:srgbClr val="102930"/>
          </a:solidFill>
          <a:ln w="19050">
            <a:solidFill>
              <a:srgbClr val="3263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5"/>
          <p:cNvSpPr txBox="1"/>
          <p:nvPr/>
        </p:nvSpPr>
        <p:spPr>
          <a:xfrm>
            <a:off x="3035808" y="1645920"/>
            <a:ext cx="6126480" cy="3657600"/>
          </a:xfrm>
          <a:prstGeom prst="rect">
            <a:avLst/>
          </a:prstGeom>
          <a:noFill/>
        </p:spPr>
        <p:txBody>
          <a:bodyPr wrap="square" lIns="0" rIns="0" tIns="0" bIns="0" anchor="ctr">
            <a:spAutoFit/>
          </a:bodyPr>
          <a:lstStyle/>
          <a:p>
            <a:pPr algn="ctr"/>
            <a:r>
              <a:rPr sz="850" b="1" i="0" spc="200">
                <a:solidFill>
                  <a:srgbClr val="3EC7B3"/>
                </a:solidFill>
                <a:latin typeface="Segoe UI"/>
              </a:rPr>
              <a:t>◲ FIGURE PLACEHOLDER · DROP IMAGE TO INSERT</a:t>
            </a:r>
          </a:p>
          <a:p>
            <a:pPr algn="ctr">
              <a:spcBef>
                <a:spcPts val="600"/>
              </a:spcBef>
            </a:pPr>
            <a:r>
              <a:rPr sz="950" b="0" i="0">
                <a:solidFill>
                  <a:srgbClr val="9FC0C8"/>
                </a:solidFill>
                <a:latin typeface="Segoe UI"/>
              </a:rPr>
              <a:t>Entity-relationship diagram of the FLAIRE river-monitor database — insert the actual ERD image here.</a:t>
            </a:r>
          </a:p>
        </p:txBody>
      </p:sp>
      <p:sp>
        <p:nvSpPr>
          <p:cNvPr id="7" name="TextBox 6"/>
          <p:cNvSpPr txBox="1"/>
          <p:nvPr/>
        </p:nvSpPr>
        <p:spPr>
          <a:xfrm>
            <a:off x="1892807" y="5358383"/>
            <a:ext cx="8412480" cy="274320"/>
          </a:xfrm>
          <a:prstGeom prst="rect">
            <a:avLst/>
          </a:prstGeom>
          <a:noFill/>
        </p:spPr>
        <p:txBody>
          <a:bodyPr wrap="square" lIns="0" rIns="0" tIns="0" bIns="0">
            <a:spAutoFit/>
          </a:bodyPr>
          <a:lstStyle/>
          <a:p>
            <a:pPr algn="ctr"/>
            <a:r>
              <a:rPr sz="850" b="1" i="0" spc="100">
                <a:solidFill>
                  <a:srgbClr val="6E939C"/>
                </a:solidFill>
                <a:latin typeface="Segoe UI"/>
              </a:rPr>
              <a:t>Figure 2. Entity-relationship diagram of the river-monitor database.</a:t>
            </a:r>
          </a:p>
        </p:txBody>
      </p:sp>
      <p:sp>
        <p:nvSpPr>
          <p:cNvPr id="8" name="TextBox 7"/>
          <p:cNvSpPr txBox="1"/>
          <p:nvPr/>
        </p:nvSpPr>
        <p:spPr>
          <a:xfrm>
            <a:off x="548640" y="5806440"/>
            <a:ext cx="11094415" cy="274320"/>
          </a:xfrm>
          <a:prstGeom prst="rect">
            <a:avLst/>
          </a:prstGeom>
          <a:noFill/>
        </p:spPr>
        <p:txBody>
          <a:bodyPr wrap="square" lIns="0" rIns="0" tIns="0" bIns="0">
            <a:spAutoFit/>
          </a:bodyPr>
          <a:lstStyle/>
          <a:p>
            <a:pPr algn="ctr"/>
            <a:r>
              <a:rPr sz="900" b="0" i="0">
                <a:solidFill>
                  <a:srgbClr val="6E939C"/>
                </a:solidFill>
                <a:latin typeface="Segoe UI"/>
              </a:rPr>
              <a:t>Source material: DATABASE_ERD.md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C2228"/>
        </a:solidFill>
        <a:effectLst/>
      </p:bgPr>
    </p:bg>
    <p:spTree>
      <p:nvGrpSpPr>
        <p:cNvPr id="1" name=""/>
        <p:cNvGrpSpPr/>
        <p:nvPr/>
      </p:nvGrpSpPr>
      <p:grpSpPr/>
      <p:sp>
        <p:nvSpPr>
          <p:cNvPr id="2" name="TextBox 1"/>
          <p:cNvSpPr txBox="1"/>
          <p:nvPr/>
        </p:nvSpPr>
        <p:spPr>
          <a:xfrm>
            <a:off x="548640" y="310896"/>
            <a:ext cx="11094415" cy="274320"/>
          </a:xfrm>
          <a:prstGeom prst="rect">
            <a:avLst/>
          </a:prstGeom>
          <a:noFill/>
        </p:spPr>
        <p:txBody>
          <a:bodyPr wrap="square" lIns="0" rIns="0" tIns="0" bIns="0">
            <a:spAutoFit/>
          </a:bodyPr>
          <a:lstStyle/>
          <a:p>
            <a:r>
              <a:rPr sz="1000" b="1" i="0" spc="260">
                <a:solidFill>
                  <a:srgbClr val="3EC7B3"/>
                </a:solidFill>
                <a:latin typeface="Segoe UI"/>
              </a:rPr>
              <a:t>07 · SYSTEM FLOWCHART — NODE</a:t>
            </a:r>
          </a:p>
        </p:txBody>
      </p:sp>
      <p:sp>
        <p:nvSpPr>
          <p:cNvPr id="3" name="TextBox 2"/>
          <p:cNvSpPr txBox="1"/>
          <p:nvPr/>
        </p:nvSpPr>
        <p:spPr>
          <a:xfrm>
            <a:off x="548640" y="530352"/>
            <a:ext cx="11094415" cy="548640"/>
          </a:xfrm>
          <a:prstGeom prst="rect">
            <a:avLst/>
          </a:prstGeom>
          <a:noFill/>
        </p:spPr>
        <p:txBody>
          <a:bodyPr wrap="square" lIns="0" rIns="0" tIns="0" bIns="0">
            <a:spAutoFit/>
          </a:bodyPr>
          <a:lstStyle/>
          <a:p>
            <a:r>
              <a:rPr sz="2300" b="1" i="0">
                <a:solidFill>
                  <a:srgbClr val="E8F2F5"/>
                </a:solidFill>
                <a:latin typeface="Georgia"/>
              </a:rPr>
              <a:t>System flowchart — sensor node</a:t>
            </a:r>
          </a:p>
        </p:txBody>
      </p:sp>
      <p:sp>
        <p:nvSpPr>
          <p:cNvPr id="4" name="TextBox 3"/>
          <p:cNvSpPr txBox="1"/>
          <p:nvPr/>
        </p:nvSpPr>
        <p:spPr>
          <a:xfrm>
            <a:off x="548640" y="1042415"/>
            <a:ext cx="11094415" cy="256032"/>
          </a:xfrm>
          <a:prstGeom prst="rect">
            <a:avLst/>
          </a:prstGeom>
          <a:noFill/>
        </p:spPr>
        <p:txBody>
          <a:bodyPr wrap="square" lIns="0" rIns="0" tIns="0" bIns="0">
            <a:spAutoFit/>
          </a:bodyPr>
          <a:lstStyle/>
          <a:p>
            <a:r>
              <a:rPr sz="950" b="1" i="0" spc="60">
                <a:solidFill>
                  <a:srgbClr val="9FC0C8"/>
                </a:solidFill>
                <a:latin typeface="Segoe UI"/>
              </a:rPr>
              <a:t>Field sensing segment</a:t>
            </a:r>
          </a:p>
        </p:txBody>
      </p:sp>
      <p:sp>
        <p:nvSpPr>
          <p:cNvPr id="5" name="TextBox 4"/>
          <p:cNvSpPr txBox="1"/>
          <p:nvPr/>
        </p:nvSpPr>
        <p:spPr>
          <a:xfrm>
            <a:off x="548640" y="1298448"/>
            <a:ext cx="11094415" cy="320040"/>
          </a:xfrm>
          <a:prstGeom prst="rect">
            <a:avLst/>
          </a:prstGeom>
          <a:noFill/>
        </p:spPr>
        <p:txBody>
          <a:bodyPr wrap="square" lIns="0" rIns="0" tIns="0" bIns="0">
            <a:spAutoFit/>
          </a:bodyPr>
          <a:lstStyle/>
          <a:p>
            <a:r>
              <a:rPr sz="1150" b="0" i="0">
                <a:solidFill>
                  <a:srgbClr val="9FC0C8"/>
                </a:solidFill>
                <a:latin typeface="Segoe UI"/>
              </a:rPr>
              <a:t>The sensor node measures river water level and rainfall, then transmits readings over LoRa every minute.</a:t>
            </a:r>
          </a:p>
        </p:txBody>
      </p:sp>
      <p:sp>
        <p:nvSpPr>
          <p:cNvPr id="6" name="Rounded Rectangle 5"/>
          <p:cNvSpPr/>
          <p:nvPr/>
        </p:nvSpPr>
        <p:spPr>
          <a:xfrm>
            <a:off x="2898648" y="1783080"/>
            <a:ext cx="6400800" cy="3566160"/>
          </a:xfrm>
          <a:prstGeom prst="roundRect">
            <a:avLst>
              <a:gd name="adj" fmla="val 6000"/>
            </a:avLst>
          </a:prstGeom>
          <a:solidFill>
            <a:srgbClr val="102930"/>
          </a:solidFill>
          <a:ln w="19050">
            <a:solidFill>
              <a:srgbClr val="3263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TextBox 6"/>
          <p:cNvSpPr txBox="1"/>
          <p:nvPr/>
        </p:nvSpPr>
        <p:spPr>
          <a:xfrm>
            <a:off x="3127248" y="1783080"/>
            <a:ext cx="5943600" cy="3566160"/>
          </a:xfrm>
          <a:prstGeom prst="rect">
            <a:avLst/>
          </a:prstGeom>
          <a:noFill/>
        </p:spPr>
        <p:txBody>
          <a:bodyPr wrap="square" lIns="0" rIns="0" tIns="0" bIns="0" anchor="ctr">
            <a:spAutoFit/>
          </a:bodyPr>
          <a:lstStyle/>
          <a:p>
            <a:pPr algn="ctr"/>
            <a:r>
              <a:rPr sz="850" b="1" i="0" spc="200">
                <a:solidFill>
                  <a:srgbClr val="3EC7B3"/>
                </a:solidFill>
                <a:latin typeface="Segoe UI"/>
              </a:rPr>
              <a:t>◲ FIGURE PLACEHOLDER · DROP IMAGE TO INSERT</a:t>
            </a:r>
          </a:p>
          <a:p>
            <a:pPr algn="ctr">
              <a:spcBef>
                <a:spcPts val="600"/>
              </a:spcBef>
            </a:pPr>
            <a:r>
              <a:rPr sz="950" b="0" i="0">
                <a:solidFill>
                  <a:srgbClr val="9FC0C8"/>
                </a:solidFill>
                <a:latin typeface="Segoe UI"/>
              </a:rPr>
              <a:t>Sensor-node flowchart — sensors, controller, LoRa RFM95W @ 915 MHz, solar/battery power.</a:t>
            </a:r>
          </a:p>
        </p:txBody>
      </p:sp>
      <p:sp>
        <p:nvSpPr>
          <p:cNvPr id="8" name="TextBox 7"/>
          <p:cNvSpPr txBox="1"/>
          <p:nvPr/>
        </p:nvSpPr>
        <p:spPr>
          <a:xfrm>
            <a:off x="1984248" y="5404103"/>
            <a:ext cx="8229600" cy="274320"/>
          </a:xfrm>
          <a:prstGeom prst="rect">
            <a:avLst/>
          </a:prstGeom>
          <a:noFill/>
        </p:spPr>
        <p:txBody>
          <a:bodyPr wrap="square" lIns="0" rIns="0" tIns="0" bIns="0">
            <a:spAutoFit/>
          </a:bodyPr>
          <a:lstStyle/>
          <a:p>
            <a:pPr algn="ctr"/>
            <a:r>
              <a:rPr sz="850" b="1" i="0" spc="100">
                <a:solidFill>
                  <a:srgbClr val="6E939C"/>
                </a:solidFill>
                <a:latin typeface="Segoe UI"/>
              </a:rPr>
              <a:t>Figure 3. Sensor-node flowchart.</a:t>
            </a:r>
          </a:p>
        </p:txBody>
      </p:sp>
      <p:sp>
        <p:nvSpPr>
          <p:cNvPr id="9" name="TextBox 8"/>
          <p:cNvSpPr txBox="1"/>
          <p:nvPr/>
        </p:nvSpPr>
        <p:spPr>
          <a:xfrm>
            <a:off x="548640" y="5852160"/>
            <a:ext cx="11094415" cy="274320"/>
          </a:xfrm>
          <a:prstGeom prst="rect">
            <a:avLst/>
          </a:prstGeom>
          <a:noFill/>
        </p:spPr>
        <p:txBody>
          <a:bodyPr wrap="square" lIns="0" rIns="0" tIns="0" bIns="0">
            <a:spAutoFit/>
          </a:bodyPr>
          <a:lstStyle/>
          <a:p>
            <a:pPr algn="ctr"/>
            <a:r>
              <a:rPr sz="900" b="0" i="0">
                <a:solidFill>
                  <a:srgbClr val="6E939C"/>
                </a:solidFill>
                <a:latin typeface="Segoe UI"/>
              </a:rPr>
              <a:t>Source material: SYSTEM_FLOWCHART.md · thesis hardware (node side)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C2228"/>
        </a:solidFill>
        <a:effectLst/>
      </p:bgPr>
    </p:bg>
    <p:spTree>
      <p:nvGrpSpPr>
        <p:cNvPr id="1" name=""/>
        <p:cNvGrpSpPr/>
        <p:nvPr/>
      </p:nvGrpSpPr>
      <p:grpSpPr/>
      <p:sp>
        <p:nvSpPr>
          <p:cNvPr id="2" name="TextBox 1"/>
          <p:cNvSpPr txBox="1"/>
          <p:nvPr/>
        </p:nvSpPr>
        <p:spPr>
          <a:xfrm>
            <a:off x="548640" y="310896"/>
            <a:ext cx="11094415" cy="274320"/>
          </a:xfrm>
          <a:prstGeom prst="rect">
            <a:avLst/>
          </a:prstGeom>
          <a:noFill/>
        </p:spPr>
        <p:txBody>
          <a:bodyPr wrap="square" lIns="0" rIns="0" tIns="0" bIns="0">
            <a:spAutoFit/>
          </a:bodyPr>
          <a:lstStyle/>
          <a:p>
            <a:r>
              <a:rPr sz="1000" b="1" i="0" spc="260">
                <a:solidFill>
                  <a:srgbClr val="3EC7B3"/>
                </a:solidFill>
                <a:latin typeface="Segoe UI"/>
              </a:rPr>
              <a:t>08 · SYSTEM FLOWCHART — EDGE DEVICE</a:t>
            </a:r>
          </a:p>
        </p:txBody>
      </p:sp>
      <p:sp>
        <p:nvSpPr>
          <p:cNvPr id="3" name="TextBox 2"/>
          <p:cNvSpPr txBox="1"/>
          <p:nvPr/>
        </p:nvSpPr>
        <p:spPr>
          <a:xfrm>
            <a:off x="548640" y="530352"/>
            <a:ext cx="11094415" cy="548640"/>
          </a:xfrm>
          <a:prstGeom prst="rect">
            <a:avLst/>
          </a:prstGeom>
          <a:noFill/>
        </p:spPr>
        <p:txBody>
          <a:bodyPr wrap="square" lIns="0" rIns="0" tIns="0" bIns="0">
            <a:spAutoFit/>
          </a:bodyPr>
          <a:lstStyle/>
          <a:p>
            <a:r>
              <a:rPr sz="2300" b="1" i="0">
                <a:solidFill>
                  <a:srgbClr val="E8F2F5"/>
                </a:solidFill>
                <a:latin typeface="Georgia"/>
              </a:rPr>
              <a:t>System flowchart — edge device</a:t>
            </a:r>
          </a:p>
        </p:txBody>
      </p:sp>
      <p:sp>
        <p:nvSpPr>
          <p:cNvPr id="4" name="TextBox 3"/>
          <p:cNvSpPr txBox="1"/>
          <p:nvPr/>
        </p:nvSpPr>
        <p:spPr>
          <a:xfrm>
            <a:off x="548640" y="1042415"/>
            <a:ext cx="11094415" cy="256032"/>
          </a:xfrm>
          <a:prstGeom prst="rect">
            <a:avLst/>
          </a:prstGeom>
          <a:noFill/>
        </p:spPr>
        <p:txBody>
          <a:bodyPr wrap="square" lIns="0" rIns="0" tIns="0" bIns="0">
            <a:spAutoFit/>
          </a:bodyPr>
          <a:lstStyle/>
          <a:p>
            <a:r>
              <a:rPr sz="950" b="1" i="0" spc="60">
                <a:solidFill>
                  <a:srgbClr val="9FC0C8"/>
                </a:solidFill>
                <a:latin typeface="Segoe UI"/>
              </a:rPr>
              <a:t>Raspberry Pi 5 segment</a:t>
            </a:r>
          </a:p>
        </p:txBody>
      </p:sp>
      <p:sp>
        <p:nvSpPr>
          <p:cNvPr id="5" name="TextBox 4"/>
          <p:cNvSpPr txBox="1"/>
          <p:nvPr/>
        </p:nvSpPr>
        <p:spPr>
          <a:xfrm>
            <a:off x="548640" y="1298448"/>
            <a:ext cx="11094415" cy="320040"/>
          </a:xfrm>
          <a:prstGeom prst="rect">
            <a:avLst/>
          </a:prstGeom>
          <a:noFill/>
        </p:spPr>
        <p:txBody>
          <a:bodyPr wrap="square" lIns="0" rIns="0" tIns="0" bIns="0">
            <a:spAutoFit/>
          </a:bodyPr>
          <a:lstStyle/>
          <a:p>
            <a:r>
              <a:rPr sz="1150" b="0" i="0">
                <a:solidFill>
                  <a:srgbClr val="9FC0C8"/>
                </a:solidFill>
                <a:latin typeface="Segoe UI"/>
              </a:rPr>
              <a:t>The Raspberry Pi 5 edge node receives LoRa data, enriches it with cached forecasts, classifies risk, and handles alerts — all offline.</a:t>
            </a:r>
          </a:p>
        </p:txBody>
      </p:sp>
      <p:sp>
        <p:nvSpPr>
          <p:cNvPr id="6" name="Rounded Rectangle 5"/>
          <p:cNvSpPr/>
          <p:nvPr/>
        </p:nvSpPr>
        <p:spPr>
          <a:xfrm>
            <a:off x="2898648" y="1783080"/>
            <a:ext cx="6400800" cy="3566160"/>
          </a:xfrm>
          <a:prstGeom prst="roundRect">
            <a:avLst>
              <a:gd name="adj" fmla="val 6000"/>
            </a:avLst>
          </a:prstGeom>
          <a:solidFill>
            <a:srgbClr val="102930"/>
          </a:solidFill>
          <a:ln w="19050">
            <a:solidFill>
              <a:srgbClr val="3263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TextBox 6"/>
          <p:cNvSpPr txBox="1"/>
          <p:nvPr/>
        </p:nvSpPr>
        <p:spPr>
          <a:xfrm>
            <a:off x="3127248" y="1783080"/>
            <a:ext cx="5943600" cy="3566160"/>
          </a:xfrm>
          <a:prstGeom prst="rect">
            <a:avLst/>
          </a:prstGeom>
          <a:noFill/>
        </p:spPr>
        <p:txBody>
          <a:bodyPr wrap="square" lIns="0" rIns="0" tIns="0" bIns="0" anchor="ctr">
            <a:spAutoFit/>
          </a:bodyPr>
          <a:lstStyle/>
          <a:p>
            <a:pPr algn="ctr"/>
            <a:r>
              <a:rPr sz="850" b="1" i="0" spc="200">
                <a:solidFill>
                  <a:srgbClr val="3EC7B3"/>
                </a:solidFill>
                <a:latin typeface="Segoe UI"/>
              </a:rPr>
              <a:t>◲ FIGURE PLACEHOLDER · DROP IMAGE TO INSERT</a:t>
            </a:r>
          </a:p>
          <a:p>
            <a:pPr algn="ctr">
              <a:spcBef>
                <a:spcPts val="600"/>
              </a:spcBef>
            </a:pPr>
            <a:r>
              <a:rPr sz="950" b="0" i="0">
                <a:solidFill>
                  <a:srgbClr val="9FC0C8"/>
                </a:solidFill>
                <a:latin typeface="Segoe UI"/>
              </a:rPr>
              <a:t>Edge-device flowchart — LoRa receiver, forecast cache, SQLite, AI pipeline, SMS handler.</a:t>
            </a:r>
          </a:p>
        </p:txBody>
      </p:sp>
      <p:sp>
        <p:nvSpPr>
          <p:cNvPr id="8" name="TextBox 7"/>
          <p:cNvSpPr txBox="1"/>
          <p:nvPr/>
        </p:nvSpPr>
        <p:spPr>
          <a:xfrm>
            <a:off x="1984248" y="5404103"/>
            <a:ext cx="8229600" cy="274320"/>
          </a:xfrm>
          <a:prstGeom prst="rect">
            <a:avLst/>
          </a:prstGeom>
          <a:noFill/>
        </p:spPr>
        <p:txBody>
          <a:bodyPr wrap="square" lIns="0" rIns="0" tIns="0" bIns="0">
            <a:spAutoFit/>
          </a:bodyPr>
          <a:lstStyle/>
          <a:p>
            <a:pPr algn="ctr"/>
            <a:r>
              <a:rPr sz="850" b="1" i="0" spc="100">
                <a:solidFill>
                  <a:srgbClr val="6E939C"/>
                </a:solidFill>
                <a:latin typeface="Segoe UI"/>
              </a:rPr>
              <a:t>Figure 4. Edge-device flowchart.</a:t>
            </a:r>
          </a:p>
        </p:txBody>
      </p:sp>
      <p:sp>
        <p:nvSpPr>
          <p:cNvPr id="9" name="TextBox 8"/>
          <p:cNvSpPr txBox="1"/>
          <p:nvPr/>
        </p:nvSpPr>
        <p:spPr>
          <a:xfrm>
            <a:off x="548640" y="5852160"/>
            <a:ext cx="11094415" cy="274320"/>
          </a:xfrm>
          <a:prstGeom prst="rect">
            <a:avLst/>
          </a:prstGeom>
          <a:noFill/>
        </p:spPr>
        <p:txBody>
          <a:bodyPr wrap="square" lIns="0" rIns="0" tIns="0" bIns="0">
            <a:spAutoFit/>
          </a:bodyPr>
          <a:lstStyle/>
          <a:p>
            <a:pPr algn="ctr"/>
            <a:r>
              <a:rPr sz="900" b="0" i="0">
                <a:solidFill>
                  <a:srgbClr val="6E939C"/>
                </a:solidFill>
                <a:latin typeface="Segoe UI"/>
              </a:rPr>
              <a:t>Source material: SYSTEM_FLOWCHART.md · thesis edge layer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C2228"/>
        </a:solidFill>
        <a:effectLst/>
      </p:bgPr>
    </p:bg>
    <p:spTree>
      <p:nvGrpSpPr>
        <p:cNvPr id="1" name=""/>
        <p:cNvGrpSpPr/>
        <p:nvPr/>
      </p:nvGrpSpPr>
      <p:grpSpPr/>
      <p:sp>
        <p:nvSpPr>
          <p:cNvPr id="2" name="TextBox 1"/>
          <p:cNvSpPr txBox="1"/>
          <p:nvPr/>
        </p:nvSpPr>
        <p:spPr>
          <a:xfrm>
            <a:off x="548640" y="310896"/>
            <a:ext cx="11094415" cy="274320"/>
          </a:xfrm>
          <a:prstGeom prst="rect">
            <a:avLst/>
          </a:prstGeom>
          <a:noFill/>
        </p:spPr>
        <p:txBody>
          <a:bodyPr wrap="square" lIns="0" rIns="0" tIns="0" bIns="0">
            <a:spAutoFit/>
          </a:bodyPr>
          <a:lstStyle/>
          <a:p>
            <a:r>
              <a:rPr sz="1000" b="1" i="0" spc="260">
                <a:solidFill>
                  <a:srgbClr val="3EC7B3"/>
                </a:solidFill>
                <a:latin typeface="Segoe UI"/>
              </a:rPr>
              <a:t>09 · SYSTEM FLOWCHART — DASHBOARD</a:t>
            </a:r>
          </a:p>
        </p:txBody>
      </p:sp>
      <p:sp>
        <p:nvSpPr>
          <p:cNvPr id="3" name="TextBox 2"/>
          <p:cNvSpPr txBox="1"/>
          <p:nvPr/>
        </p:nvSpPr>
        <p:spPr>
          <a:xfrm>
            <a:off x="548640" y="530352"/>
            <a:ext cx="11094415" cy="548640"/>
          </a:xfrm>
          <a:prstGeom prst="rect">
            <a:avLst/>
          </a:prstGeom>
          <a:noFill/>
        </p:spPr>
        <p:txBody>
          <a:bodyPr wrap="square" lIns="0" rIns="0" tIns="0" bIns="0">
            <a:spAutoFit/>
          </a:bodyPr>
          <a:lstStyle/>
          <a:p>
            <a:r>
              <a:rPr sz="2300" b="1" i="0">
                <a:solidFill>
                  <a:srgbClr val="E8F2F5"/>
                </a:solidFill>
                <a:latin typeface="Georgia"/>
              </a:rPr>
              <a:t>System flowchart — dashboard</a:t>
            </a:r>
          </a:p>
        </p:txBody>
      </p:sp>
      <p:sp>
        <p:nvSpPr>
          <p:cNvPr id="4" name="TextBox 3"/>
          <p:cNvSpPr txBox="1"/>
          <p:nvPr/>
        </p:nvSpPr>
        <p:spPr>
          <a:xfrm>
            <a:off x="548640" y="1042415"/>
            <a:ext cx="11094415" cy="256032"/>
          </a:xfrm>
          <a:prstGeom prst="rect">
            <a:avLst/>
          </a:prstGeom>
          <a:noFill/>
        </p:spPr>
        <p:txBody>
          <a:bodyPr wrap="square" lIns="0" rIns="0" tIns="0" bIns="0">
            <a:spAutoFit/>
          </a:bodyPr>
          <a:lstStyle/>
          <a:p>
            <a:r>
              <a:rPr sz="950" b="1" i="0" spc="60">
                <a:solidFill>
                  <a:srgbClr val="9FC0C8"/>
                </a:solidFill>
                <a:latin typeface="Segoe UI"/>
              </a:rPr>
              <a:t>FastAPI web dashboard segment</a:t>
            </a:r>
          </a:p>
        </p:txBody>
      </p:sp>
      <p:sp>
        <p:nvSpPr>
          <p:cNvPr id="5" name="TextBox 4"/>
          <p:cNvSpPr txBox="1"/>
          <p:nvPr/>
        </p:nvSpPr>
        <p:spPr>
          <a:xfrm>
            <a:off x="548640" y="1298448"/>
            <a:ext cx="11094415" cy="320040"/>
          </a:xfrm>
          <a:prstGeom prst="rect">
            <a:avLst/>
          </a:prstGeom>
          <a:noFill/>
        </p:spPr>
        <p:txBody>
          <a:bodyPr wrap="square" lIns="0" rIns="0" tIns="0" bIns="0">
            <a:spAutoFit/>
          </a:bodyPr>
          <a:lstStyle/>
          <a:p>
            <a:r>
              <a:rPr sz="1150" b="0" i="0">
                <a:solidFill>
                  <a:srgbClr val="9FC0C8"/>
                </a:solidFill>
                <a:latin typeface="Segoe UI"/>
              </a:rPr>
              <a:t>The FastAPI dashboard serves BDRRMC personnel over LAN, showing live data and classifications, with human confirmation before public alerts.</a:t>
            </a:r>
          </a:p>
        </p:txBody>
      </p:sp>
      <p:sp>
        <p:nvSpPr>
          <p:cNvPr id="6" name="Rounded Rectangle 5"/>
          <p:cNvSpPr/>
          <p:nvPr/>
        </p:nvSpPr>
        <p:spPr>
          <a:xfrm>
            <a:off x="2898648" y="1783080"/>
            <a:ext cx="6400800" cy="3566160"/>
          </a:xfrm>
          <a:prstGeom prst="roundRect">
            <a:avLst>
              <a:gd name="adj" fmla="val 6000"/>
            </a:avLst>
          </a:prstGeom>
          <a:solidFill>
            <a:srgbClr val="102930"/>
          </a:solidFill>
          <a:ln w="19050">
            <a:solidFill>
              <a:srgbClr val="3263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TextBox 6"/>
          <p:cNvSpPr txBox="1"/>
          <p:nvPr/>
        </p:nvSpPr>
        <p:spPr>
          <a:xfrm>
            <a:off x="3127248" y="1783080"/>
            <a:ext cx="5943600" cy="3566160"/>
          </a:xfrm>
          <a:prstGeom prst="rect">
            <a:avLst/>
          </a:prstGeom>
          <a:noFill/>
        </p:spPr>
        <p:txBody>
          <a:bodyPr wrap="square" lIns="0" rIns="0" tIns="0" bIns="0" anchor="ctr">
            <a:spAutoFit/>
          </a:bodyPr>
          <a:lstStyle/>
          <a:p>
            <a:pPr algn="ctr"/>
            <a:r>
              <a:rPr sz="850" b="1" i="0" spc="200">
                <a:solidFill>
                  <a:srgbClr val="3EC7B3"/>
                </a:solidFill>
                <a:latin typeface="Segoe UI"/>
              </a:rPr>
              <a:t>◲ FIGURE PLACEHOLDER · DROP IMAGE TO INSERT</a:t>
            </a:r>
          </a:p>
          <a:p>
            <a:pPr algn="ctr">
              <a:spcBef>
                <a:spcPts val="600"/>
              </a:spcBef>
            </a:pPr>
            <a:r>
              <a:rPr sz="950" b="0" i="0">
                <a:solidFill>
                  <a:srgbClr val="9FC0C8"/>
                </a:solidFill>
                <a:latin typeface="Segoe UI"/>
              </a:rPr>
              <a:t>Dashboard flowchart — FastAPI server, browser dashboard, BDRRMC review, SMS fan-out.</a:t>
            </a:r>
          </a:p>
        </p:txBody>
      </p:sp>
      <p:sp>
        <p:nvSpPr>
          <p:cNvPr id="8" name="TextBox 7"/>
          <p:cNvSpPr txBox="1"/>
          <p:nvPr/>
        </p:nvSpPr>
        <p:spPr>
          <a:xfrm>
            <a:off x="1984248" y="5404103"/>
            <a:ext cx="8229600" cy="274320"/>
          </a:xfrm>
          <a:prstGeom prst="rect">
            <a:avLst/>
          </a:prstGeom>
          <a:noFill/>
        </p:spPr>
        <p:txBody>
          <a:bodyPr wrap="square" lIns="0" rIns="0" tIns="0" bIns="0">
            <a:spAutoFit/>
          </a:bodyPr>
          <a:lstStyle/>
          <a:p>
            <a:pPr algn="ctr"/>
            <a:r>
              <a:rPr sz="850" b="1" i="0" spc="100">
                <a:solidFill>
                  <a:srgbClr val="6E939C"/>
                </a:solidFill>
                <a:latin typeface="Segoe UI"/>
              </a:rPr>
              <a:t>Figure 5. Dashboard flowchart.</a:t>
            </a:r>
          </a:p>
        </p:txBody>
      </p:sp>
      <p:sp>
        <p:nvSpPr>
          <p:cNvPr id="9" name="TextBox 8"/>
          <p:cNvSpPr txBox="1"/>
          <p:nvPr/>
        </p:nvSpPr>
        <p:spPr>
          <a:xfrm>
            <a:off x="548640" y="5852160"/>
            <a:ext cx="11094415" cy="274320"/>
          </a:xfrm>
          <a:prstGeom prst="rect">
            <a:avLst/>
          </a:prstGeom>
          <a:noFill/>
        </p:spPr>
        <p:txBody>
          <a:bodyPr wrap="square" lIns="0" rIns="0" tIns="0" bIns="0">
            <a:spAutoFit/>
          </a:bodyPr>
          <a:lstStyle/>
          <a:p>
            <a:pPr algn="ctr"/>
            <a:r>
              <a:rPr sz="900" b="0" i="0">
                <a:solidFill>
                  <a:srgbClr val="6E939C"/>
                </a:solidFill>
                <a:latin typeface="Segoe UI"/>
              </a:rPr>
              <a:t>Source material: SYSTEM_FLOWCHART.md · thesis UI layer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C2228"/>
        </a:solidFill>
        <a:effectLst/>
      </p:bgPr>
    </p:bg>
    <p:spTree>
      <p:nvGrpSpPr>
        <p:cNvPr id="1" name=""/>
        <p:cNvGrpSpPr/>
        <p:nvPr/>
      </p:nvGrpSpPr>
      <p:grpSpPr/>
      <p:sp>
        <p:nvSpPr>
          <p:cNvPr id="2" name="TextBox 1"/>
          <p:cNvSpPr txBox="1"/>
          <p:nvPr/>
        </p:nvSpPr>
        <p:spPr>
          <a:xfrm>
            <a:off x="548640" y="310896"/>
            <a:ext cx="11094415" cy="274320"/>
          </a:xfrm>
          <a:prstGeom prst="rect">
            <a:avLst/>
          </a:prstGeom>
          <a:noFill/>
        </p:spPr>
        <p:txBody>
          <a:bodyPr wrap="square" lIns="0" rIns="0" tIns="0" bIns="0">
            <a:spAutoFit/>
          </a:bodyPr>
          <a:lstStyle/>
          <a:p>
            <a:r>
              <a:rPr sz="1000" b="1" i="0" spc="260">
                <a:solidFill>
                  <a:srgbClr val="3EC7B3"/>
                </a:solidFill>
                <a:latin typeface="Segoe UI"/>
              </a:rPr>
              <a:t>10 · COST AND BENEFITS</a:t>
            </a:r>
          </a:p>
        </p:txBody>
      </p:sp>
      <p:sp>
        <p:nvSpPr>
          <p:cNvPr id="3" name="TextBox 2"/>
          <p:cNvSpPr txBox="1"/>
          <p:nvPr/>
        </p:nvSpPr>
        <p:spPr>
          <a:xfrm>
            <a:off x="548640" y="530352"/>
            <a:ext cx="11094415" cy="548640"/>
          </a:xfrm>
          <a:prstGeom prst="rect">
            <a:avLst/>
          </a:prstGeom>
          <a:noFill/>
        </p:spPr>
        <p:txBody>
          <a:bodyPr wrap="square" lIns="0" rIns="0" tIns="0" bIns="0">
            <a:spAutoFit/>
          </a:bodyPr>
          <a:lstStyle/>
          <a:p>
            <a:r>
              <a:rPr sz="2300" b="1" i="0">
                <a:solidFill>
                  <a:srgbClr val="E8F2F5"/>
                </a:solidFill>
                <a:latin typeface="Georgia"/>
              </a:rPr>
              <a:t>Cost and benefits — about ₱27,920</a:t>
            </a:r>
          </a:p>
        </p:txBody>
      </p:sp>
      <p:sp>
        <p:nvSpPr>
          <p:cNvPr id="4" name="TextBox 3"/>
          <p:cNvSpPr txBox="1"/>
          <p:nvPr/>
        </p:nvSpPr>
        <p:spPr>
          <a:xfrm>
            <a:off x="548640" y="1042415"/>
            <a:ext cx="11094415" cy="256032"/>
          </a:xfrm>
          <a:prstGeom prst="rect">
            <a:avLst/>
          </a:prstGeom>
          <a:noFill/>
        </p:spPr>
        <p:txBody>
          <a:bodyPr wrap="square" lIns="0" rIns="0" tIns="0" bIns="0">
            <a:spAutoFit/>
          </a:bodyPr>
          <a:lstStyle/>
          <a:p>
            <a:r>
              <a:rPr sz="950" b="1" i="0" spc="60">
                <a:solidFill>
                  <a:srgbClr val="9FC0C8"/>
                </a:solidFill>
                <a:latin typeface="Segoe UI"/>
              </a:rPr>
              <a:t>Bill of materials &amp; expected benefits</a:t>
            </a:r>
          </a:p>
        </p:txBody>
      </p:sp>
      <p:sp>
        <p:nvSpPr>
          <p:cNvPr id="5" name="Rounded Rectangle 4"/>
          <p:cNvSpPr/>
          <p:nvPr/>
        </p:nvSpPr>
        <p:spPr>
          <a:xfrm>
            <a:off x="548640" y="1335024"/>
            <a:ext cx="3611880" cy="2286000"/>
          </a:xfrm>
          <a:prstGeom prst="roundRect">
            <a:avLst>
              <a:gd name="adj" fmla="val 5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TextBox 5"/>
          <p:cNvSpPr txBox="1"/>
          <p:nvPr/>
        </p:nvSpPr>
        <p:spPr>
          <a:xfrm>
            <a:off x="713232" y="1426464"/>
            <a:ext cx="2468880" cy="256032"/>
          </a:xfrm>
          <a:prstGeom prst="rect">
            <a:avLst/>
          </a:prstGeom>
          <a:noFill/>
        </p:spPr>
        <p:txBody>
          <a:bodyPr wrap="square" lIns="0" rIns="0" tIns="0" bIns="0">
            <a:spAutoFit/>
          </a:bodyPr>
          <a:lstStyle/>
          <a:p>
            <a:r>
              <a:rPr sz="900" b="1" i="0" spc="120">
                <a:solidFill>
                  <a:srgbClr val="3EC7B3"/>
                </a:solidFill>
                <a:latin typeface="Segoe UI"/>
              </a:rPr>
              <a:t>Node</a:t>
            </a:r>
          </a:p>
        </p:txBody>
      </p:sp>
      <p:sp>
        <p:nvSpPr>
          <p:cNvPr id="7" name="TextBox 6"/>
          <p:cNvSpPr txBox="1"/>
          <p:nvPr/>
        </p:nvSpPr>
        <p:spPr>
          <a:xfrm>
            <a:off x="3200400" y="1389888"/>
            <a:ext cx="822960" cy="274320"/>
          </a:xfrm>
          <a:prstGeom prst="rect">
            <a:avLst/>
          </a:prstGeom>
          <a:noFill/>
        </p:spPr>
        <p:txBody>
          <a:bodyPr wrap="square" lIns="0" rIns="0" tIns="0" bIns="0">
            <a:spAutoFit/>
          </a:bodyPr>
          <a:lstStyle/>
          <a:p>
            <a:pPr algn="r"/>
            <a:r>
              <a:rPr sz="1100" b="1" i="0">
                <a:solidFill>
                  <a:srgbClr val="E8F2F5"/>
                </a:solidFill>
                <a:latin typeface="Segoe UI"/>
              </a:rPr>
              <a:t>₱7,070</a:t>
            </a:r>
          </a:p>
        </p:txBody>
      </p:sp>
      <p:sp>
        <p:nvSpPr>
          <p:cNvPr id="8" name="TextBox 7"/>
          <p:cNvSpPr txBox="1"/>
          <p:nvPr/>
        </p:nvSpPr>
        <p:spPr>
          <a:xfrm>
            <a:off x="713232" y="1737360"/>
            <a:ext cx="2606040" cy="1737360"/>
          </a:xfrm>
          <a:prstGeom prst="rect">
            <a:avLst/>
          </a:prstGeom>
          <a:noFill/>
        </p:spPr>
        <p:txBody>
          <a:bodyPr wrap="square" lIns="0" rIns="0" tIns="0" bIns="0">
            <a:spAutoFit/>
          </a:bodyPr>
          <a:lstStyle/>
          <a:p>
            <a:pPr>
              <a:spcAft>
                <a:spcPts val="50"/>
              </a:spcAft>
            </a:pPr>
            <a:r>
              <a:rPr sz="800" b="0" i="0">
                <a:solidFill>
                  <a:srgbClr val="E8F2F5"/>
                </a:solidFill>
                <a:latin typeface="Segoe UI"/>
              </a:rPr>
              <a:t>Adafruit RFM95 LoRa</a:t>
            </a:r>
          </a:p>
          <a:p>
            <a:pPr>
              <a:spcAft>
                <a:spcPts val="50"/>
              </a:spcAft>
            </a:pPr>
            <a:r>
              <a:rPr sz="800" b="0" i="0">
                <a:solidFill>
                  <a:srgbClr val="E8F2F5"/>
                </a:solidFill>
                <a:latin typeface="Segoe UI"/>
              </a:rPr>
              <a:t>Mini magnets</a:t>
            </a:r>
          </a:p>
          <a:p>
            <a:pPr>
              <a:spcAft>
                <a:spcPts val="50"/>
              </a:spcAft>
            </a:pPr>
            <a:r>
              <a:rPr sz="800" b="0" i="0">
                <a:solidFill>
                  <a:srgbClr val="E8F2F5"/>
                </a:solidFill>
                <a:latin typeface="Segoe UI"/>
              </a:rPr>
              <a:t>Meshtastic 915 MHz LoRa antenna</a:t>
            </a:r>
          </a:p>
          <a:p>
            <a:pPr>
              <a:spcAft>
                <a:spcPts val="50"/>
              </a:spcAft>
            </a:pPr>
            <a:r>
              <a:rPr sz="800" b="0" i="0">
                <a:solidFill>
                  <a:srgbClr val="E8F2F5"/>
                </a:solidFill>
                <a:latin typeface="Segoe UI"/>
              </a:rPr>
              <a:t>Reed switch</a:t>
            </a:r>
          </a:p>
          <a:p>
            <a:pPr>
              <a:spcAft>
                <a:spcPts val="50"/>
              </a:spcAft>
            </a:pPr>
            <a:r>
              <a:rPr sz="800" b="0" i="0">
                <a:solidFill>
                  <a:srgbClr val="E8F2F5"/>
                </a:solidFill>
                <a:latin typeface="Segoe UI"/>
              </a:rPr>
              <a:t>MCP73871 power boost</a:t>
            </a:r>
          </a:p>
          <a:p>
            <a:pPr>
              <a:spcAft>
                <a:spcPts val="50"/>
              </a:spcAft>
            </a:pPr>
            <a:r>
              <a:rPr sz="800" b="0" i="0">
                <a:solidFill>
                  <a:srgbClr val="E8F2F5"/>
                </a:solidFill>
                <a:latin typeface="Segoe UI"/>
              </a:rPr>
              <a:t>UART 7.5 m waterproof ultrasonic sensor</a:t>
            </a:r>
          </a:p>
          <a:p>
            <a:pPr>
              <a:spcAft>
                <a:spcPts val="50"/>
              </a:spcAft>
            </a:pPr>
            <a:r>
              <a:rPr sz="800" b="0" i="0">
                <a:solidFill>
                  <a:srgbClr val="E8F2F5"/>
                </a:solidFill>
                <a:latin typeface="Segoe UI"/>
              </a:rPr>
              <a:t>3.5 W solar panel</a:t>
            </a:r>
          </a:p>
          <a:p>
            <a:pPr>
              <a:spcAft>
                <a:spcPts val="50"/>
              </a:spcAft>
            </a:pPr>
            <a:r>
              <a:rPr sz="800" b="0" i="0">
                <a:solidFill>
                  <a:srgbClr val="E8F2F5"/>
                </a:solidFill>
                <a:latin typeface="Segoe UI"/>
              </a:rPr>
              <a:t>3.7 V 10 Ah battery</a:t>
            </a:r>
          </a:p>
          <a:p>
            <a:pPr>
              <a:spcAft>
                <a:spcPts val="50"/>
              </a:spcAft>
            </a:pPr>
            <a:r>
              <a:rPr sz="800" b="0" i="0">
                <a:solidFill>
                  <a:srgbClr val="E8F2F5"/>
                </a:solidFill>
                <a:latin typeface="Segoe UI"/>
              </a:rPr>
              <a:t>Enclosure box</a:t>
            </a:r>
          </a:p>
          <a:p>
            <a:pPr>
              <a:spcAft>
                <a:spcPts val="50"/>
              </a:spcAft>
            </a:pPr>
            <a:r>
              <a:rPr sz="800" b="0" i="0">
                <a:solidFill>
                  <a:srgbClr val="E8F2F5"/>
                </a:solidFill>
                <a:latin typeface="Segoe UI"/>
              </a:rPr>
              <a:t>PVC pipe</a:t>
            </a:r>
          </a:p>
          <a:p>
            <a:pPr>
              <a:spcAft>
                <a:spcPts val="50"/>
              </a:spcAft>
            </a:pPr>
            <a:r>
              <a:rPr sz="800" b="0" i="0">
                <a:solidFill>
                  <a:srgbClr val="E8F2F5"/>
                </a:solidFill>
                <a:latin typeface="Segoe UI"/>
              </a:rPr>
              <a:t>Housing materials</a:t>
            </a:r>
          </a:p>
        </p:txBody>
      </p:sp>
      <p:sp>
        <p:nvSpPr>
          <p:cNvPr id="9" name="TextBox 8"/>
          <p:cNvSpPr txBox="1"/>
          <p:nvPr/>
        </p:nvSpPr>
        <p:spPr>
          <a:xfrm>
            <a:off x="3319272" y="1737360"/>
            <a:ext cx="685800" cy="1737360"/>
          </a:xfrm>
          <a:prstGeom prst="rect">
            <a:avLst/>
          </a:prstGeom>
          <a:noFill/>
        </p:spPr>
        <p:txBody>
          <a:bodyPr wrap="square" lIns="0" rIns="0" tIns="0" bIns="0">
            <a:spAutoFit/>
          </a:bodyPr>
          <a:lstStyle/>
          <a:p>
            <a:pPr algn="r">
              <a:spcAft>
                <a:spcPts val="50"/>
              </a:spcAft>
            </a:pPr>
            <a:r>
              <a:rPr sz="800" b="1" i="0">
                <a:solidFill>
                  <a:srgbClr val="3EC7B3"/>
                </a:solidFill>
                <a:latin typeface="Segoe UI"/>
              </a:rPr>
              <a:t>₱2,500</a:t>
            </a:r>
          </a:p>
          <a:p>
            <a:pPr algn="r">
              <a:spcAft>
                <a:spcPts val="50"/>
              </a:spcAft>
            </a:pPr>
            <a:r>
              <a:rPr sz="800" b="1" i="0">
                <a:solidFill>
                  <a:srgbClr val="3EC7B3"/>
                </a:solidFill>
                <a:latin typeface="Segoe UI"/>
              </a:rPr>
              <a:t>₱100</a:t>
            </a:r>
          </a:p>
          <a:p>
            <a:pPr algn="r">
              <a:spcAft>
                <a:spcPts val="50"/>
              </a:spcAft>
            </a:pPr>
            <a:r>
              <a:rPr sz="800" b="1" i="0">
                <a:solidFill>
                  <a:srgbClr val="3EC7B3"/>
                </a:solidFill>
                <a:latin typeface="Segoe UI"/>
              </a:rPr>
              <a:t>₱300</a:t>
            </a:r>
          </a:p>
          <a:p>
            <a:pPr algn="r">
              <a:spcAft>
                <a:spcPts val="50"/>
              </a:spcAft>
            </a:pPr>
            <a:r>
              <a:rPr sz="800" b="1" i="0">
                <a:solidFill>
                  <a:srgbClr val="3EC7B3"/>
                </a:solidFill>
                <a:latin typeface="Segoe UI"/>
              </a:rPr>
              <a:t>₱200</a:t>
            </a:r>
          </a:p>
          <a:p>
            <a:pPr algn="r">
              <a:spcAft>
                <a:spcPts val="50"/>
              </a:spcAft>
            </a:pPr>
            <a:r>
              <a:rPr sz="800" b="1" i="0">
                <a:solidFill>
                  <a:srgbClr val="3EC7B3"/>
                </a:solidFill>
                <a:latin typeface="Segoe UI"/>
              </a:rPr>
              <a:t>₱300</a:t>
            </a:r>
          </a:p>
          <a:p>
            <a:pPr algn="r">
              <a:spcAft>
                <a:spcPts val="50"/>
              </a:spcAft>
            </a:pPr>
            <a:r>
              <a:rPr sz="800" b="1" i="0">
                <a:solidFill>
                  <a:srgbClr val="3EC7B3"/>
                </a:solidFill>
                <a:latin typeface="Segoe UI"/>
              </a:rPr>
              <a:t>₱1,500</a:t>
            </a:r>
          </a:p>
          <a:p>
            <a:pPr algn="r">
              <a:spcAft>
                <a:spcPts val="50"/>
              </a:spcAft>
            </a:pPr>
            <a:r>
              <a:rPr sz="800" b="1" i="0">
                <a:solidFill>
                  <a:srgbClr val="3EC7B3"/>
                </a:solidFill>
                <a:latin typeface="Segoe UI"/>
              </a:rPr>
              <a:t>₱200</a:t>
            </a:r>
          </a:p>
          <a:p>
            <a:pPr algn="r">
              <a:spcAft>
                <a:spcPts val="50"/>
              </a:spcAft>
            </a:pPr>
            <a:r>
              <a:rPr sz="800" b="1" i="0">
                <a:solidFill>
                  <a:srgbClr val="3EC7B3"/>
                </a:solidFill>
                <a:latin typeface="Segoe UI"/>
              </a:rPr>
              <a:t>₱220</a:t>
            </a:r>
          </a:p>
          <a:p>
            <a:pPr algn="r">
              <a:spcAft>
                <a:spcPts val="50"/>
              </a:spcAft>
            </a:pPr>
            <a:r>
              <a:rPr sz="800" b="1" i="0">
                <a:solidFill>
                  <a:srgbClr val="3EC7B3"/>
                </a:solidFill>
                <a:latin typeface="Segoe UI"/>
              </a:rPr>
              <a:t>₱250</a:t>
            </a:r>
          </a:p>
          <a:p>
            <a:pPr algn="r">
              <a:spcAft>
                <a:spcPts val="50"/>
              </a:spcAft>
            </a:pPr>
            <a:r>
              <a:rPr sz="800" b="1" i="0">
                <a:solidFill>
                  <a:srgbClr val="3EC7B3"/>
                </a:solidFill>
                <a:latin typeface="Segoe UI"/>
              </a:rPr>
              <a:t>₱1,000</a:t>
            </a:r>
          </a:p>
          <a:p>
            <a:pPr algn="r">
              <a:spcAft>
                <a:spcPts val="50"/>
              </a:spcAft>
            </a:pPr>
            <a:r>
              <a:rPr sz="800" b="1" i="0">
                <a:solidFill>
                  <a:srgbClr val="3EC7B3"/>
                </a:solidFill>
                <a:latin typeface="Segoe UI"/>
              </a:rPr>
              <a:t>₱500</a:t>
            </a:r>
          </a:p>
        </p:txBody>
      </p:sp>
      <p:sp>
        <p:nvSpPr>
          <p:cNvPr id="10" name="TextBox 9"/>
          <p:cNvSpPr txBox="1"/>
          <p:nvPr/>
        </p:nvSpPr>
        <p:spPr>
          <a:xfrm>
            <a:off x="713232" y="3194050"/>
            <a:ext cx="3282696" cy="228600"/>
          </a:xfrm>
          <a:prstGeom prst="rect">
            <a:avLst/>
          </a:prstGeom>
          <a:noFill/>
        </p:spPr>
        <p:txBody>
          <a:bodyPr wrap="square" lIns="0" rIns="0" tIns="0" bIns="0">
            <a:spAutoFit/>
          </a:bodyPr>
          <a:lstStyle/>
          <a:p>
            <a:r>
              <a:rPr sz="900" b="1" i="0">
                <a:solidFill>
                  <a:srgbClr val="E8F2F5"/>
                </a:solidFill>
                <a:latin typeface="Segoe UI"/>
              </a:rPr>
              <a:t>Subtotal — ₱7,070</a:t>
            </a:r>
          </a:p>
        </p:txBody>
      </p:sp>
      <p:sp>
        <p:nvSpPr>
          <p:cNvPr id="11" name="Rounded Rectangle 10"/>
          <p:cNvSpPr/>
          <p:nvPr/>
        </p:nvSpPr>
        <p:spPr>
          <a:xfrm>
            <a:off x="713232" y="3422650"/>
            <a:ext cx="3282696" cy="82296"/>
          </a:xfrm>
          <a:prstGeom prst="roundRect">
            <a:avLst>
              <a:gd name="adj" fmla="val 50000"/>
            </a:avLst>
          </a:prstGeom>
          <a:solidFill>
            <a:srgbClr val="1E31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Rounded Rectangle 11"/>
          <p:cNvSpPr/>
          <p:nvPr/>
        </p:nvSpPr>
        <p:spPr>
          <a:xfrm>
            <a:off x="713232" y="3422650"/>
            <a:ext cx="820674" cy="82296"/>
          </a:xfrm>
          <a:prstGeom prst="roundRect">
            <a:avLst>
              <a:gd name="adj" fmla="val 50000"/>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Rounded Rectangle 12"/>
          <p:cNvSpPr/>
          <p:nvPr/>
        </p:nvSpPr>
        <p:spPr>
          <a:xfrm>
            <a:off x="4279392" y="1335024"/>
            <a:ext cx="3611880" cy="2286000"/>
          </a:xfrm>
          <a:prstGeom prst="roundRect">
            <a:avLst>
              <a:gd name="adj" fmla="val 5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3"/>
          <p:cNvSpPr txBox="1"/>
          <p:nvPr/>
        </p:nvSpPr>
        <p:spPr>
          <a:xfrm>
            <a:off x="4443983" y="1426464"/>
            <a:ext cx="2468880" cy="256032"/>
          </a:xfrm>
          <a:prstGeom prst="rect">
            <a:avLst/>
          </a:prstGeom>
          <a:noFill/>
        </p:spPr>
        <p:txBody>
          <a:bodyPr wrap="square" lIns="0" rIns="0" tIns="0" bIns="0">
            <a:spAutoFit/>
          </a:bodyPr>
          <a:lstStyle/>
          <a:p>
            <a:r>
              <a:rPr sz="900" b="1" i="0" spc="120">
                <a:solidFill>
                  <a:srgbClr val="3EC7B3"/>
                </a:solidFill>
                <a:latin typeface="Segoe UI"/>
              </a:rPr>
              <a:t>Edge</a:t>
            </a:r>
          </a:p>
        </p:txBody>
      </p:sp>
      <p:sp>
        <p:nvSpPr>
          <p:cNvPr id="15" name="TextBox 14"/>
          <p:cNvSpPr txBox="1"/>
          <p:nvPr/>
        </p:nvSpPr>
        <p:spPr>
          <a:xfrm>
            <a:off x="6931151" y="1389888"/>
            <a:ext cx="822960" cy="274320"/>
          </a:xfrm>
          <a:prstGeom prst="rect">
            <a:avLst/>
          </a:prstGeom>
          <a:noFill/>
        </p:spPr>
        <p:txBody>
          <a:bodyPr wrap="square" lIns="0" rIns="0" tIns="0" bIns="0">
            <a:spAutoFit/>
          </a:bodyPr>
          <a:lstStyle/>
          <a:p>
            <a:pPr algn="r"/>
            <a:r>
              <a:rPr sz="1100" b="1" i="0">
                <a:solidFill>
                  <a:srgbClr val="E8F2F5"/>
                </a:solidFill>
                <a:latin typeface="Segoe UI"/>
              </a:rPr>
              <a:t>₱19,050</a:t>
            </a:r>
          </a:p>
        </p:txBody>
      </p:sp>
      <p:sp>
        <p:nvSpPr>
          <p:cNvPr id="16" name="TextBox 15"/>
          <p:cNvSpPr txBox="1"/>
          <p:nvPr/>
        </p:nvSpPr>
        <p:spPr>
          <a:xfrm>
            <a:off x="4443983" y="1737360"/>
            <a:ext cx="2606040" cy="1737360"/>
          </a:xfrm>
          <a:prstGeom prst="rect">
            <a:avLst/>
          </a:prstGeom>
          <a:noFill/>
        </p:spPr>
        <p:txBody>
          <a:bodyPr wrap="square" lIns="0" rIns="0" tIns="0" bIns="0">
            <a:spAutoFit/>
          </a:bodyPr>
          <a:lstStyle/>
          <a:p>
            <a:pPr>
              <a:spcAft>
                <a:spcPts val="50"/>
              </a:spcAft>
            </a:pPr>
            <a:r>
              <a:rPr sz="800" b="0" i="0">
                <a:solidFill>
                  <a:srgbClr val="E8F2F5"/>
                </a:solidFill>
                <a:latin typeface="Segoe UI"/>
              </a:rPr>
              <a:t>Meshtastic 915 MHz LoRa antenna</a:t>
            </a:r>
          </a:p>
          <a:p>
            <a:pPr>
              <a:spcAft>
                <a:spcPts val="50"/>
              </a:spcAft>
            </a:pPr>
            <a:r>
              <a:rPr sz="800" b="0" i="0">
                <a:solidFill>
                  <a:srgbClr val="E8F2F5"/>
                </a:solidFill>
                <a:latin typeface="Segoe UI"/>
              </a:rPr>
              <a:t>52Pi RPi5 power expansion board</a:t>
            </a:r>
          </a:p>
          <a:p>
            <a:pPr>
              <a:spcAft>
                <a:spcPts val="50"/>
              </a:spcAft>
            </a:pPr>
            <a:r>
              <a:rPr sz="800" b="0" i="0">
                <a:solidFill>
                  <a:srgbClr val="E8F2F5"/>
                </a:solidFill>
                <a:latin typeface="Segoe UI"/>
              </a:rPr>
              <a:t>Micro SD card</a:t>
            </a:r>
          </a:p>
          <a:p>
            <a:pPr>
              <a:spcAft>
                <a:spcPts val="50"/>
              </a:spcAft>
            </a:pPr>
            <a:r>
              <a:rPr sz="800" b="0" i="0">
                <a:solidFill>
                  <a:srgbClr val="E8F2F5"/>
                </a:solidFill>
                <a:latin typeface="Segoe UI"/>
              </a:rPr>
              <a:t>RPi5 active cooler</a:t>
            </a:r>
          </a:p>
          <a:p>
            <a:pPr>
              <a:spcAft>
                <a:spcPts val="50"/>
              </a:spcAft>
            </a:pPr>
            <a:r>
              <a:rPr sz="800" b="0" i="0">
                <a:solidFill>
                  <a:srgbClr val="E8F2F5"/>
                </a:solidFill>
                <a:latin typeface="Segoe UI"/>
              </a:rPr>
              <a:t>Raspberry Pi 5 2 GB board</a:t>
            </a:r>
          </a:p>
          <a:p>
            <a:pPr>
              <a:spcAft>
                <a:spcPts val="50"/>
              </a:spcAft>
            </a:pPr>
            <a:r>
              <a:rPr sz="800" b="0" i="0">
                <a:solidFill>
                  <a:srgbClr val="E8F2F5"/>
                </a:solidFill>
                <a:latin typeface="Segoe UI"/>
              </a:rPr>
              <a:t>12 V 12 Ah LiFePO4 battery pack</a:t>
            </a:r>
          </a:p>
          <a:p>
            <a:pPr>
              <a:spcAft>
                <a:spcPts val="50"/>
              </a:spcAft>
            </a:pPr>
            <a:r>
              <a:rPr sz="800" b="0" i="0">
                <a:solidFill>
                  <a:srgbClr val="E8F2F5"/>
                </a:solidFill>
                <a:latin typeface="Segoe UI"/>
              </a:rPr>
              <a:t>LoRa RFM95W transceiver board</a:t>
            </a:r>
          </a:p>
          <a:p>
            <a:pPr>
              <a:spcAft>
                <a:spcPts val="50"/>
              </a:spcAft>
            </a:pPr>
            <a:r>
              <a:rPr sz="800" b="0" i="0">
                <a:solidFill>
                  <a:srgbClr val="E8F2F5"/>
                </a:solidFill>
                <a:latin typeface="Segoe UI"/>
              </a:rPr>
              <a:t>60 W solar panel w/ controller</a:t>
            </a:r>
          </a:p>
          <a:p>
            <a:pPr>
              <a:spcAft>
                <a:spcPts val="50"/>
              </a:spcAft>
            </a:pPr>
            <a:r>
              <a:rPr sz="800" b="0" i="0">
                <a:solidFill>
                  <a:srgbClr val="E8F2F5"/>
                </a:solidFill>
                <a:latin typeface="Segoe UI"/>
              </a:rPr>
              <a:t>SIMCOM A7608e-H</a:t>
            </a:r>
          </a:p>
          <a:p>
            <a:pPr>
              <a:spcAft>
                <a:spcPts val="50"/>
              </a:spcAft>
            </a:pPr>
            <a:r>
              <a:rPr sz="800" b="0" i="0">
                <a:solidFill>
                  <a:srgbClr val="E8F2F5"/>
                </a:solidFill>
                <a:latin typeface="Segoe UI"/>
              </a:rPr>
              <a:t>SMS load (yearly)</a:t>
            </a:r>
          </a:p>
        </p:txBody>
      </p:sp>
      <p:sp>
        <p:nvSpPr>
          <p:cNvPr id="17" name="TextBox 16"/>
          <p:cNvSpPr txBox="1"/>
          <p:nvPr/>
        </p:nvSpPr>
        <p:spPr>
          <a:xfrm>
            <a:off x="7050023" y="1737360"/>
            <a:ext cx="685800" cy="1737360"/>
          </a:xfrm>
          <a:prstGeom prst="rect">
            <a:avLst/>
          </a:prstGeom>
          <a:noFill/>
        </p:spPr>
        <p:txBody>
          <a:bodyPr wrap="square" lIns="0" rIns="0" tIns="0" bIns="0">
            <a:spAutoFit/>
          </a:bodyPr>
          <a:lstStyle/>
          <a:p>
            <a:pPr algn="r">
              <a:spcAft>
                <a:spcPts val="50"/>
              </a:spcAft>
            </a:pPr>
            <a:r>
              <a:rPr sz="800" b="1" i="0">
                <a:solidFill>
                  <a:srgbClr val="3EC7B3"/>
                </a:solidFill>
                <a:latin typeface="Segoe UI"/>
              </a:rPr>
              <a:t>₱300</a:t>
            </a:r>
          </a:p>
          <a:p>
            <a:pPr algn="r">
              <a:spcAft>
                <a:spcPts val="50"/>
              </a:spcAft>
            </a:pPr>
            <a:r>
              <a:rPr sz="800" b="1" i="0">
                <a:solidFill>
                  <a:srgbClr val="3EC7B3"/>
                </a:solidFill>
                <a:latin typeface="Segoe UI"/>
              </a:rPr>
              <a:t>₱1,600</a:t>
            </a:r>
          </a:p>
          <a:p>
            <a:pPr algn="r">
              <a:spcAft>
                <a:spcPts val="50"/>
              </a:spcAft>
            </a:pPr>
            <a:r>
              <a:rPr sz="800" b="1" i="0">
                <a:solidFill>
                  <a:srgbClr val="3EC7B3"/>
                </a:solidFill>
                <a:latin typeface="Segoe UI"/>
              </a:rPr>
              <a:t>₱750</a:t>
            </a:r>
          </a:p>
          <a:p>
            <a:pPr algn="r">
              <a:spcAft>
                <a:spcPts val="50"/>
              </a:spcAft>
            </a:pPr>
            <a:r>
              <a:rPr sz="800" b="1" i="0">
                <a:solidFill>
                  <a:srgbClr val="3EC7B3"/>
                </a:solidFill>
                <a:latin typeface="Segoe UI"/>
              </a:rPr>
              <a:t>₱250</a:t>
            </a:r>
          </a:p>
          <a:p>
            <a:pPr algn="r">
              <a:spcAft>
                <a:spcPts val="50"/>
              </a:spcAft>
            </a:pPr>
            <a:r>
              <a:rPr sz="800" b="1" i="0">
                <a:solidFill>
                  <a:srgbClr val="3EC7B3"/>
                </a:solidFill>
                <a:latin typeface="Segoe UI"/>
              </a:rPr>
              <a:t>₱6,500</a:t>
            </a:r>
          </a:p>
          <a:p>
            <a:pPr algn="r">
              <a:spcAft>
                <a:spcPts val="50"/>
              </a:spcAft>
            </a:pPr>
            <a:r>
              <a:rPr sz="800" b="1" i="0">
                <a:solidFill>
                  <a:srgbClr val="3EC7B3"/>
                </a:solidFill>
                <a:latin typeface="Segoe UI"/>
              </a:rPr>
              <a:t>₱2,220</a:t>
            </a:r>
          </a:p>
          <a:p>
            <a:pPr algn="r">
              <a:spcAft>
                <a:spcPts val="50"/>
              </a:spcAft>
            </a:pPr>
            <a:r>
              <a:rPr sz="800" b="1" i="0">
                <a:solidFill>
                  <a:srgbClr val="3EC7B3"/>
                </a:solidFill>
                <a:latin typeface="Segoe UI"/>
              </a:rPr>
              <a:t>₱2,000</a:t>
            </a:r>
          </a:p>
          <a:p>
            <a:pPr algn="r">
              <a:spcAft>
                <a:spcPts val="50"/>
              </a:spcAft>
            </a:pPr>
            <a:r>
              <a:rPr sz="800" b="1" i="0">
                <a:solidFill>
                  <a:srgbClr val="3EC7B3"/>
                </a:solidFill>
                <a:latin typeface="Segoe UI"/>
              </a:rPr>
              <a:t>₱1,900</a:t>
            </a:r>
          </a:p>
          <a:p>
            <a:pPr algn="r">
              <a:spcAft>
                <a:spcPts val="50"/>
              </a:spcAft>
            </a:pPr>
            <a:r>
              <a:rPr sz="800" b="1" i="0">
                <a:solidFill>
                  <a:srgbClr val="3EC7B3"/>
                </a:solidFill>
                <a:latin typeface="Segoe UI"/>
              </a:rPr>
              <a:t>₱1,530</a:t>
            </a:r>
          </a:p>
          <a:p>
            <a:pPr algn="r">
              <a:spcAft>
                <a:spcPts val="50"/>
              </a:spcAft>
            </a:pPr>
            <a:r>
              <a:rPr sz="800" b="1" i="0">
                <a:solidFill>
                  <a:srgbClr val="3EC7B3"/>
                </a:solidFill>
                <a:latin typeface="Segoe UI"/>
              </a:rPr>
              <a:t>₱2,000</a:t>
            </a:r>
          </a:p>
        </p:txBody>
      </p:sp>
      <p:sp>
        <p:nvSpPr>
          <p:cNvPr id="18" name="TextBox 17"/>
          <p:cNvSpPr txBox="1"/>
          <p:nvPr/>
        </p:nvSpPr>
        <p:spPr>
          <a:xfrm>
            <a:off x="4443983" y="3065779"/>
            <a:ext cx="3282696" cy="228600"/>
          </a:xfrm>
          <a:prstGeom prst="rect">
            <a:avLst/>
          </a:prstGeom>
          <a:noFill/>
        </p:spPr>
        <p:txBody>
          <a:bodyPr wrap="square" lIns="0" rIns="0" tIns="0" bIns="0">
            <a:spAutoFit/>
          </a:bodyPr>
          <a:lstStyle/>
          <a:p>
            <a:r>
              <a:rPr sz="900" b="1" i="0">
                <a:solidFill>
                  <a:srgbClr val="E8F2F5"/>
                </a:solidFill>
                <a:latin typeface="Segoe UI"/>
              </a:rPr>
              <a:t>Subtotal — ₱19,050</a:t>
            </a:r>
          </a:p>
        </p:txBody>
      </p:sp>
      <p:sp>
        <p:nvSpPr>
          <p:cNvPr id="19" name="Rounded Rectangle 18"/>
          <p:cNvSpPr/>
          <p:nvPr/>
        </p:nvSpPr>
        <p:spPr>
          <a:xfrm>
            <a:off x="4443983" y="3294379"/>
            <a:ext cx="3282696" cy="82296"/>
          </a:xfrm>
          <a:prstGeom prst="roundRect">
            <a:avLst>
              <a:gd name="adj" fmla="val 50000"/>
            </a:avLst>
          </a:prstGeom>
          <a:solidFill>
            <a:srgbClr val="1E31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0" name="Rounded Rectangle 19"/>
          <p:cNvSpPr/>
          <p:nvPr/>
        </p:nvSpPr>
        <p:spPr>
          <a:xfrm>
            <a:off x="4443983" y="3294379"/>
            <a:ext cx="2232233" cy="82296"/>
          </a:xfrm>
          <a:prstGeom prst="roundRect">
            <a:avLst>
              <a:gd name="adj" fmla="val 50000"/>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1" name="Rounded Rectangle 20"/>
          <p:cNvSpPr/>
          <p:nvPr/>
        </p:nvSpPr>
        <p:spPr>
          <a:xfrm>
            <a:off x="8010144" y="1335024"/>
            <a:ext cx="3081528" cy="2286000"/>
          </a:xfrm>
          <a:prstGeom prst="roundRect">
            <a:avLst>
              <a:gd name="adj" fmla="val 5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2" name="TextBox 21"/>
          <p:cNvSpPr txBox="1"/>
          <p:nvPr/>
        </p:nvSpPr>
        <p:spPr>
          <a:xfrm>
            <a:off x="8174736" y="1426464"/>
            <a:ext cx="1938528" cy="256032"/>
          </a:xfrm>
          <a:prstGeom prst="rect">
            <a:avLst/>
          </a:prstGeom>
          <a:noFill/>
        </p:spPr>
        <p:txBody>
          <a:bodyPr wrap="square" lIns="0" rIns="0" tIns="0" bIns="0">
            <a:spAutoFit/>
          </a:bodyPr>
          <a:lstStyle/>
          <a:p>
            <a:r>
              <a:rPr sz="900" b="1" i="0" spc="120">
                <a:solidFill>
                  <a:srgbClr val="3EC7B3"/>
                </a:solidFill>
                <a:latin typeface="Segoe UI"/>
              </a:rPr>
              <a:t>General</a:t>
            </a:r>
          </a:p>
        </p:txBody>
      </p:sp>
      <p:sp>
        <p:nvSpPr>
          <p:cNvPr id="23" name="TextBox 22"/>
          <p:cNvSpPr txBox="1"/>
          <p:nvPr/>
        </p:nvSpPr>
        <p:spPr>
          <a:xfrm>
            <a:off x="10131551" y="1389888"/>
            <a:ext cx="822960" cy="274320"/>
          </a:xfrm>
          <a:prstGeom prst="rect">
            <a:avLst/>
          </a:prstGeom>
          <a:noFill/>
        </p:spPr>
        <p:txBody>
          <a:bodyPr wrap="square" lIns="0" rIns="0" tIns="0" bIns="0">
            <a:spAutoFit/>
          </a:bodyPr>
          <a:lstStyle/>
          <a:p>
            <a:pPr algn="r"/>
            <a:r>
              <a:rPr sz="1100" b="1" i="0">
                <a:solidFill>
                  <a:srgbClr val="E8F2F5"/>
                </a:solidFill>
                <a:latin typeface="Segoe UI"/>
              </a:rPr>
              <a:t>₱1,800</a:t>
            </a:r>
          </a:p>
        </p:txBody>
      </p:sp>
      <p:sp>
        <p:nvSpPr>
          <p:cNvPr id="24" name="TextBox 23"/>
          <p:cNvSpPr txBox="1"/>
          <p:nvPr/>
        </p:nvSpPr>
        <p:spPr>
          <a:xfrm>
            <a:off x="8174736" y="1737360"/>
            <a:ext cx="2075688" cy="1737360"/>
          </a:xfrm>
          <a:prstGeom prst="rect">
            <a:avLst/>
          </a:prstGeom>
          <a:noFill/>
        </p:spPr>
        <p:txBody>
          <a:bodyPr wrap="square" lIns="0" rIns="0" tIns="0" bIns="0">
            <a:spAutoFit/>
          </a:bodyPr>
          <a:lstStyle/>
          <a:p>
            <a:pPr>
              <a:spcAft>
                <a:spcPts val="50"/>
              </a:spcAft>
            </a:pPr>
            <a:r>
              <a:rPr sz="800" b="0" i="0">
                <a:solidFill>
                  <a:srgbClr val="E8F2F5"/>
                </a:solidFill>
                <a:latin typeface="Segoe UI"/>
              </a:rPr>
              <a:t>Breadboard (2 × 100)</a:t>
            </a:r>
          </a:p>
          <a:p>
            <a:pPr>
              <a:spcAft>
                <a:spcPts val="50"/>
              </a:spcAft>
            </a:pPr>
            <a:r>
              <a:rPr sz="800" b="0" i="0">
                <a:solidFill>
                  <a:srgbClr val="E8F2F5"/>
                </a:solidFill>
                <a:latin typeface="Segoe UI"/>
              </a:rPr>
              <a:t>Wires</a:t>
            </a:r>
          </a:p>
          <a:p>
            <a:pPr>
              <a:spcAft>
                <a:spcPts val="50"/>
              </a:spcAft>
            </a:pPr>
            <a:r>
              <a:rPr sz="800" b="0" i="0">
                <a:solidFill>
                  <a:srgbClr val="E8F2F5"/>
                </a:solidFill>
                <a:latin typeface="Segoe UI"/>
              </a:rPr>
              <a:t>Marine plywood</a:t>
            </a:r>
          </a:p>
          <a:p>
            <a:pPr>
              <a:spcAft>
                <a:spcPts val="50"/>
              </a:spcAft>
            </a:pPr>
            <a:r>
              <a:rPr sz="800" b="0" i="0">
                <a:solidFill>
                  <a:srgbClr val="E8F2F5"/>
                </a:solidFill>
                <a:latin typeface="Segoe UI"/>
              </a:rPr>
              <a:t>Miscellaneous electrical components</a:t>
            </a:r>
          </a:p>
        </p:txBody>
      </p:sp>
      <p:sp>
        <p:nvSpPr>
          <p:cNvPr id="25" name="TextBox 24"/>
          <p:cNvSpPr txBox="1"/>
          <p:nvPr/>
        </p:nvSpPr>
        <p:spPr>
          <a:xfrm>
            <a:off x="10250424" y="1737360"/>
            <a:ext cx="685800" cy="1737360"/>
          </a:xfrm>
          <a:prstGeom prst="rect">
            <a:avLst/>
          </a:prstGeom>
          <a:noFill/>
        </p:spPr>
        <p:txBody>
          <a:bodyPr wrap="square" lIns="0" rIns="0" tIns="0" bIns="0">
            <a:spAutoFit/>
          </a:bodyPr>
          <a:lstStyle/>
          <a:p>
            <a:pPr algn="r">
              <a:spcAft>
                <a:spcPts val="50"/>
              </a:spcAft>
            </a:pPr>
            <a:r>
              <a:rPr sz="800" b="1" i="0">
                <a:solidFill>
                  <a:srgbClr val="3EC7B3"/>
                </a:solidFill>
                <a:latin typeface="Segoe UI"/>
              </a:rPr>
              <a:t>₱200</a:t>
            </a:r>
          </a:p>
          <a:p>
            <a:pPr algn="r">
              <a:spcAft>
                <a:spcPts val="50"/>
              </a:spcAft>
            </a:pPr>
            <a:r>
              <a:rPr sz="800" b="1" i="0">
                <a:solidFill>
                  <a:srgbClr val="3EC7B3"/>
                </a:solidFill>
                <a:latin typeface="Segoe UI"/>
              </a:rPr>
              <a:t>₱200</a:t>
            </a:r>
          </a:p>
          <a:p>
            <a:pPr algn="r">
              <a:spcAft>
                <a:spcPts val="50"/>
              </a:spcAft>
            </a:pPr>
            <a:r>
              <a:rPr sz="800" b="1" i="0">
                <a:solidFill>
                  <a:srgbClr val="3EC7B3"/>
                </a:solidFill>
                <a:latin typeface="Segoe UI"/>
              </a:rPr>
              <a:t>₱400</a:t>
            </a:r>
          </a:p>
          <a:p>
            <a:pPr algn="r">
              <a:spcAft>
                <a:spcPts val="50"/>
              </a:spcAft>
            </a:pPr>
            <a:r>
              <a:rPr sz="800" b="1" i="0">
                <a:solidFill>
                  <a:srgbClr val="3EC7B3"/>
                </a:solidFill>
                <a:latin typeface="Segoe UI"/>
              </a:rPr>
              <a:t>₱1,000</a:t>
            </a:r>
          </a:p>
        </p:txBody>
      </p:sp>
      <p:sp>
        <p:nvSpPr>
          <p:cNvPr id="26" name="TextBox 25"/>
          <p:cNvSpPr txBox="1"/>
          <p:nvPr/>
        </p:nvSpPr>
        <p:spPr>
          <a:xfrm>
            <a:off x="8174736" y="2296160"/>
            <a:ext cx="2752344" cy="228600"/>
          </a:xfrm>
          <a:prstGeom prst="rect">
            <a:avLst/>
          </a:prstGeom>
          <a:noFill/>
        </p:spPr>
        <p:txBody>
          <a:bodyPr wrap="square" lIns="0" rIns="0" tIns="0" bIns="0">
            <a:spAutoFit/>
          </a:bodyPr>
          <a:lstStyle/>
          <a:p>
            <a:r>
              <a:rPr sz="900" b="1" i="0">
                <a:solidFill>
                  <a:srgbClr val="E8F2F5"/>
                </a:solidFill>
                <a:latin typeface="Segoe UI"/>
              </a:rPr>
              <a:t>Subtotal — ₱1,800</a:t>
            </a:r>
          </a:p>
        </p:txBody>
      </p:sp>
      <p:sp>
        <p:nvSpPr>
          <p:cNvPr id="27" name="Rounded Rectangle 26"/>
          <p:cNvSpPr/>
          <p:nvPr/>
        </p:nvSpPr>
        <p:spPr>
          <a:xfrm>
            <a:off x="8174736" y="2524760"/>
            <a:ext cx="2752344" cy="82296"/>
          </a:xfrm>
          <a:prstGeom prst="roundRect">
            <a:avLst>
              <a:gd name="adj" fmla="val 50000"/>
            </a:avLst>
          </a:prstGeom>
          <a:solidFill>
            <a:srgbClr val="1E31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8" name="Rounded Rectangle 27"/>
          <p:cNvSpPr/>
          <p:nvPr/>
        </p:nvSpPr>
        <p:spPr>
          <a:xfrm>
            <a:off x="8174736" y="2524760"/>
            <a:ext cx="165140" cy="82296"/>
          </a:xfrm>
          <a:prstGeom prst="roundRect">
            <a:avLst>
              <a:gd name="adj" fmla="val 50000"/>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9" name="Rounded Rectangle 28"/>
          <p:cNvSpPr/>
          <p:nvPr/>
        </p:nvSpPr>
        <p:spPr>
          <a:xfrm>
            <a:off x="8010144" y="3749039"/>
            <a:ext cx="3081528" cy="914400"/>
          </a:xfrm>
          <a:prstGeom prst="roundRect">
            <a:avLst>
              <a:gd name="adj" fmla="val 10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0" name="Rectangle 29"/>
          <p:cNvSpPr/>
          <p:nvPr/>
        </p:nvSpPr>
        <p:spPr>
          <a:xfrm>
            <a:off x="8083296" y="3776472"/>
            <a:ext cx="2935224" cy="41148"/>
          </a:xfrm>
          <a:prstGeom prst="rect">
            <a:avLst/>
          </a:prstGeom>
          <a:solidFill>
            <a:srgbClr val="F4B9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1" name="TextBox 30"/>
          <p:cNvSpPr txBox="1"/>
          <p:nvPr/>
        </p:nvSpPr>
        <p:spPr>
          <a:xfrm>
            <a:off x="8138160" y="3895344"/>
            <a:ext cx="2825496" cy="658368"/>
          </a:xfrm>
          <a:prstGeom prst="rect">
            <a:avLst/>
          </a:prstGeom>
          <a:noFill/>
        </p:spPr>
        <p:txBody>
          <a:bodyPr wrap="square" lIns="0" rIns="0" tIns="0" bIns="0" anchor="ctr">
            <a:spAutoFit/>
          </a:bodyPr>
          <a:lstStyle/>
          <a:p>
            <a:pPr algn="ctr"/>
            <a:r>
              <a:rPr sz="1900" b="1" i="0">
                <a:solidFill>
                  <a:srgbClr val="E8F2F5"/>
                </a:solidFill>
                <a:latin typeface="Georgia"/>
              </a:rPr>
              <a:t>₱27,920</a:t>
            </a:r>
          </a:p>
          <a:p>
            <a:pPr algn="ctr">
              <a:spcBef>
                <a:spcPts val="300"/>
              </a:spcBef>
            </a:pPr>
            <a:r>
              <a:rPr sz="800" b="1" i="0" spc="120">
                <a:solidFill>
                  <a:srgbClr val="9FC0C8"/>
                </a:solidFill>
                <a:latin typeface="Segoe UI"/>
              </a:rPr>
              <a:t>Total build cost</a:t>
            </a:r>
          </a:p>
        </p:txBody>
      </p:sp>
      <p:sp>
        <p:nvSpPr>
          <p:cNvPr id="32" name="Rounded Rectangle 31"/>
          <p:cNvSpPr/>
          <p:nvPr/>
        </p:nvSpPr>
        <p:spPr>
          <a:xfrm>
            <a:off x="548640" y="3749039"/>
            <a:ext cx="7086600" cy="1481328"/>
          </a:xfrm>
          <a:prstGeom prst="roundRect">
            <a:avLst>
              <a:gd name="adj" fmla="val 8000"/>
            </a:avLst>
          </a:prstGeom>
          <a:solidFill>
            <a:srgbClr val="21302B"/>
          </a:solidFill>
          <a:ln w="15240">
            <a:solidFill>
              <a:srgbClr val="F4B942"/>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3" name="TextBox 32"/>
          <p:cNvSpPr txBox="1"/>
          <p:nvPr/>
        </p:nvSpPr>
        <p:spPr>
          <a:xfrm>
            <a:off x="749808" y="3840479"/>
            <a:ext cx="6684264" cy="1298448"/>
          </a:xfrm>
          <a:prstGeom prst="rect">
            <a:avLst/>
          </a:prstGeom>
          <a:noFill/>
        </p:spPr>
        <p:txBody>
          <a:bodyPr wrap="square" lIns="0" rIns="0" tIns="0" bIns="0" anchor="ctr">
            <a:spAutoFit/>
          </a:bodyPr>
          <a:lstStyle/>
          <a:p>
            <a:pPr>
              <a:spcAft>
                <a:spcPts val="300"/>
              </a:spcAft>
            </a:pPr>
            <a:r>
              <a:rPr sz="850" b="1" i="0">
                <a:solidFill>
                  <a:srgbClr val="F4B942"/>
                </a:solidFill>
                <a:latin typeface="Segoe UI"/>
              </a:rPr>
              <a:t>Benefits (thesis):</a:t>
            </a:r>
          </a:p>
          <a:p>
            <a:pPr>
              <a:spcAft>
                <a:spcPts val="300"/>
              </a:spcAft>
            </a:pPr>
            <a:r>
              <a:rPr sz="850" b="0" i="0">
                <a:solidFill>
                  <a:srgbClr val="E8F2F5"/>
                </a:solidFill>
                <a:latin typeface="Segoe UI"/>
              </a:rPr>
              <a:t>Technical — continuous water-level and rainfall monitoring without constant internet; local storage; RF + fuzzy-logic pipeline on the Pi 5; LAN dashboard.</a:t>
            </a:r>
          </a:p>
          <a:p>
            <a:pPr>
              <a:spcAft>
                <a:spcPts val="300"/>
              </a:spcAft>
            </a:pPr>
            <a:r>
              <a:rPr sz="850" b="0" i="0">
                <a:solidFill>
                  <a:srgbClr val="E8F2F5"/>
                </a:solidFill>
                <a:latin typeface="Segoe UI"/>
              </a:rPr>
              <a:t>Operational — continuous hydrological information and AI risk classifications for BDRRMC personnel; Receding classification under stable conditions; Alert / Alarm / Critical with SMS during heavy rainfall.</a:t>
            </a:r>
          </a:p>
          <a:p>
            <a:pPr>
              <a:spcAft>
                <a:spcPts val="300"/>
              </a:spcAft>
            </a:pPr>
            <a:r>
              <a:rPr sz="850" b="0" i="0">
                <a:solidFill>
                  <a:srgbClr val="E8F2F5"/>
                </a:solidFill>
                <a:latin typeface="Segoe UI"/>
              </a:rPr>
              <a:t>Community — improved situational awareness and earlier preparedness; reduced dependence on visual observation and municipality-wide MDRRMO alerts. Final alert authority stays with the BDRRMC — decision-support, not autonomous warning.</a:t>
            </a:r>
          </a:p>
        </p:txBody>
      </p:sp>
      <p:sp>
        <p:nvSpPr>
          <p:cNvPr id="34" name="Rounded Rectangle 33"/>
          <p:cNvSpPr/>
          <p:nvPr/>
        </p:nvSpPr>
        <p:spPr>
          <a:xfrm>
            <a:off x="8010144" y="4791456"/>
            <a:ext cx="3081528" cy="1298448"/>
          </a:xfrm>
          <a:prstGeom prst="roundRect">
            <a:avLst>
              <a:gd name="adj" fmla="val 6000"/>
            </a:avLst>
          </a:prstGeom>
          <a:solidFill>
            <a:srgbClr val="102930"/>
          </a:solidFill>
          <a:ln w="19050">
            <a:solidFill>
              <a:srgbClr val="3263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35" name="TextBox 34"/>
          <p:cNvSpPr txBox="1"/>
          <p:nvPr/>
        </p:nvSpPr>
        <p:spPr>
          <a:xfrm>
            <a:off x="8238744" y="4791456"/>
            <a:ext cx="2624328" cy="1298448"/>
          </a:xfrm>
          <a:prstGeom prst="rect">
            <a:avLst/>
          </a:prstGeom>
          <a:noFill/>
        </p:spPr>
        <p:txBody>
          <a:bodyPr wrap="square" lIns="0" rIns="0" tIns="0" bIns="0" anchor="ctr">
            <a:spAutoFit/>
          </a:bodyPr>
          <a:lstStyle/>
          <a:p>
            <a:pPr algn="ctr"/>
            <a:r>
              <a:rPr sz="850" b="1" i="0" spc="200">
                <a:solidFill>
                  <a:srgbClr val="3EC7B3"/>
                </a:solidFill>
                <a:latin typeface="Segoe UI"/>
              </a:rPr>
              <a:t>◲ FIGURE PLACEHOLDER · DROP IMAGE TO INSERT</a:t>
            </a:r>
          </a:p>
          <a:p>
            <a:pPr algn="ctr">
              <a:spcBef>
                <a:spcPts val="600"/>
              </a:spcBef>
            </a:pPr>
            <a:r>
              <a:rPr sz="950" b="0" i="0">
                <a:solidFill>
                  <a:srgbClr val="9FC0C8"/>
                </a:solidFill>
                <a:latin typeface="Segoe UI"/>
              </a:rPr>
              <a:t>Cost and benefits figure — benefit categories (technical, operational, community-level).</a:t>
            </a:r>
          </a:p>
        </p:txBody>
      </p:sp>
      <p:sp>
        <p:nvSpPr>
          <p:cNvPr id="36" name="TextBox 35"/>
          <p:cNvSpPr txBox="1"/>
          <p:nvPr/>
        </p:nvSpPr>
        <p:spPr>
          <a:xfrm>
            <a:off x="7095744" y="6144768"/>
            <a:ext cx="4910328" cy="274320"/>
          </a:xfrm>
          <a:prstGeom prst="rect">
            <a:avLst/>
          </a:prstGeom>
          <a:noFill/>
        </p:spPr>
        <p:txBody>
          <a:bodyPr wrap="square" lIns="0" rIns="0" tIns="0" bIns="0">
            <a:spAutoFit/>
          </a:bodyPr>
          <a:lstStyle/>
          <a:p>
            <a:pPr algn="ctr"/>
            <a:r>
              <a:rPr sz="850" b="1" i="0" spc="100">
                <a:solidFill>
                  <a:srgbClr val="6E939C"/>
                </a:solidFill>
                <a:latin typeface="Segoe UI"/>
              </a:rPr>
              <a:t>Figure 6. Cost and benefits — benefit categories.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C2228"/>
        </a:solidFill>
        <a:effectLst/>
      </p:bgPr>
    </p:bg>
    <p:spTree>
      <p:nvGrpSpPr>
        <p:cNvPr id="1" name=""/>
        <p:cNvGrpSpPr/>
        <p:nvPr/>
      </p:nvGrpSpPr>
      <p:grpSpPr/>
      <p:sp>
        <p:nvSpPr>
          <p:cNvPr id="2" name="TextBox 1"/>
          <p:cNvSpPr txBox="1"/>
          <p:nvPr/>
        </p:nvSpPr>
        <p:spPr>
          <a:xfrm>
            <a:off x="548640" y="310896"/>
            <a:ext cx="11094415" cy="274320"/>
          </a:xfrm>
          <a:prstGeom prst="rect">
            <a:avLst/>
          </a:prstGeom>
          <a:noFill/>
        </p:spPr>
        <p:txBody>
          <a:bodyPr wrap="square" lIns="0" rIns="0" tIns="0" bIns="0">
            <a:spAutoFit/>
          </a:bodyPr>
          <a:lstStyle/>
          <a:p>
            <a:r>
              <a:rPr sz="1000" b="1" i="0" spc="260">
                <a:solidFill>
                  <a:srgbClr val="3EC7B3"/>
                </a:solidFill>
                <a:latin typeface="Segoe UI"/>
              </a:rPr>
              <a:t>11 · RESULTS AND DISCUSSION — Q1</a:t>
            </a:r>
          </a:p>
        </p:txBody>
      </p:sp>
      <p:sp>
        <p:nvSpPr>
          <p:cNvPr id="3" name="TextBox 2"/>
          <p:cNvSpPr txBox="1"/>
          <p:nvPr/>
        </p:nvSpPr>
        <p:spPr>
          <a:xfrm>
            <a:off x="548640" y="530352"/>
            <a:ext cx="11094415" cy="548640"/>
          </a:xfrm>
          <a:prstGeom prst="rect">
            <a:avLst/>
          </a:prstGeom>
          <a:noFill/>
        </p:spPr>
        <p:txBody>
          <a:bodyPr wrap="square" lIns="0" rIns="0" tIns="0" bIns="0">
            <a:spAutoFit/>
          </a:bodyPr>
          <a:lstStyle/>
          <a:p>
            <a:r>
              <a:rPr sz="2000" b="1" i="0">
                <a:solidFill>
                  <a:srgbClr val="E8F2F5"/>
                </a:solidFill>
                <a:latin typeface="Georgia"/>
              </a:rPr>
              <a:t>Results and discussion — Q1: Current practices &amp; the warning gap</a:t>
            </a:r>
          </a:p>
        </p:txBody>
      </p:sp>
      <p:sp>
        <p:nvSpPr>
          <p:cNvPr id="4" name="TextBox 3"/>
          <p:cNvSpPr txBox="1"/>
          <p:nvPr/>
        </p:nvSpPr>
        <p:spPr>
          <a:xfrm>
            <a:off x="548640" y="1042415"/>
            <a:ext cx="11094415" cy="256032"/>
          </a:xfrm>
          <a:prstGeom prst="rect">
            <a:avLst/>
          </a:prstGeom>
          <a:noFill/>
        </p:spPr>
        <p:txBody>
          <a:bodyPr wrap="square" lIns="0" rIns="0" tIns="0" bIns="0">
            <a:spAutoFit/>
          </a:bodyPr>
          <a:lstStyle/>
          <a:p>
            <a:r>
              <a:rPr sz="950" b="1" i="0" spc="60">
                <a:solidFill>
                  <a:srgbClr val="9FC0C8"/>
                </a:solidFill>
                <a:latin typeface="Segoe UI"/>
              </a:rPr>
              <a:t>Research question 1 — current flood-warning practices</a:t>
            </a:r>
          </a:p>
        </p:txBody>
      </p:sp>
      <p:sp>
        <p:nvSpPr>
          <p:cNvPr id="5" name="TextBox 4"/>
          <p:cNvSpPr txBox="1"/>
          <p:nvPr/>
        </p:nvSpPr>
        <p:spPr>
          <a:xfrm>
            <a:off x="548640" y="1371600"/>
            <a:ext cx="11094415" cy="502920"/>
          </a:xfrm>
          <a:prstGeom prst="rect">
            <a:avLst/>
          </a:prstGeom>
          <a:noFill/>
        </p:spPr>
        <p:txBody>
          <a:bodyPr wrap="square" lIns="0" rIns="0" tIns="0" bIns="0">
            <a:spAutoFit/>
          </a:bodyPr>
          <a:lstStyle/>
          <a:p>
            <a:r>
              <a:rPr sz="1050" b="0" i="0">
                <a:solidFill>
                  <a:srgbClr val="9FC0C8"/>
                </a:solidFill>
                <a:latin typeface="Segoe UI"/>
              </a:rPr>
              <a:t>Q1: What are the key problems and limitations in current flood-warning practices and data utilization in Brgy. Elvita, and how can an offline-first, AI-based flood early-warning system address them?</a:t>
            </a:r>
          </a:p>
        </p:txBody>
      </p:sp>
      <p:sp>
        <p:nvSpPr>
          <p:cNvPr id="6" name="TextBox 5"/>
          <p:cNvSpPr txBox="1"/>
          <p:nvPr/>
        </p:nvSpPr>
        <p:spPr>
          <a:xfrm>
            <a:off x="548640" y="2148840"/>
            <a:ext cx="5989320" cy="4160520"/>
          </a:xfrm>
          <a:prstGeom prst="rect">
            <a:avLst/>
          </a:prstGeom>
          <a:noFill/>
        </p:spPr>
        <p:txBody>
          <a:bodyPr wrap="square" lIns="0" rIns="0" tIns="0" bIns="0">
            <a:spAutoFit/>
          </a:bodyPr>
          <a:lstStyle/>
          <a:p>
            <a:pPr>
              <a:spcAft>
                <a:spcPts val="900"/>
              </a:spcAft>
            </a:pPr>
            <a:r>
              <a:rPr sz="700" b="0" i="0">
                <a:solidFill>
                  <a:srgbClr val="3EC7B3"/>
                </a:solidFill>
                <a:latin typeface="Segoe UI"/>
              </a:rPr>
              <a:t>●  </a:t>
            </a:r>
            <a:r>
              <a:rPr sz="1100" b="0" i="0">
                <a:solidFill>
                  <a:srgbClr val="E8F2F5"/>
                </a:solidFill>
                <a:latin typeface="Segoe UI"/>
              </a:rPr>
              <a:t>Current monitoring relies on a manual rain gauge, visual river observation, and a tide calendar</a:t>
            </a:r>
          </a:p>
          <a:p>
            <a:pPr>
              <a:spcAft>
                <a:spcPts val="900"/>
              </a:spcAft>
            </a:pPr>
            <a:r>
              <a:rPr sz="1100" b="0" i="0">
                <a:solidFill>
                  <a:srgbClr val="3EC7B3"/>
                </a:solidFill>
                <a:latin typeface="Segoe UI"/>
              </a:rPr>
              <a:t>●  </a:t>
            </a:r>
            <a:r>
              <a:rPr sz="1100" b="0" i="0">
                <a:solidFill>
                  <a:srgbClr val="E8F2F5"/>
                </a:solidFill>
                <a:latin typeface="Segoe UI"/>
              </a:rPr>
              <a:t>MDRRMO advisories cover the whole municipality — an alert may not mean Brgy. Elvita is affected</a:t>
            </a:r>
          </a:p>
          <a:p>
            <a:pPr>
              <a:spcAft>
                <a:spcPts val="900"/>
              </a:spcAft>
            </a:pPr>
            <a:r>
              <a:rPr sz="1100" b="0" i="0">
                <a:solidFill>
                  <a:srgbClr val="3EC7B3"/>
                </a:solidFill>
                <a:latin typeface="Segoe UI"/>
              </a:rPr>
              <a:t>●  </a:t>
            </a:r>
            <a:r>
              <a:rPr sz="1100" b="0" i="0">
                <a:solidFill>
                  <a:srgbClr val="E8F2F5"/>
                </a:solidFill>
                <a:latin typeface="Segoe UI"/>
              </a:rPr>
              <a:t>Officials face uncertainty deciding whether an advisory needs local preparedness or response</a:t>
            </a:r>
          </a:p>
          <a:p>
            <a:pPr>
              <a:spcAft>
                <a:spcPts val="900"/>
              </a:spcAft>
            </a:pPr>
            <a:r>
              <a:rPr sz="1100" b="0" i="0">
                <a:solidFill>
                  <a:srgbClr val="3EC7B3"/>
                </a:solidFill>
                <a:latin typeface="Segoe UI"/>
              </a:rPr>
              <a:t>●  </a:t>
            </a:r>
            <a:r>
              <a:rPr sz="1100" b="0" i="0">
                <a:solidFill>
                  <a:srgbClr val="E8F2F5"/>
                </a:solidFill>
                <a:latin typeface="Segoe UI"/>
              </a:rPr>
              <a:t>Network or power interruptions can limit communication and warning/response efforts</a:t>
            </a:r>
          </a:p>
          <a:p>
            <a:pPr>
              <a:spcAft>
                <a:spcPts val="900"/>
              </a:spcAft>
            </a:pPr>
            <a:r>
              <a:rPr sz="1100" b="0" i="0">
                <a:solidFill>
                  <a:srgbClr val="3EC7B3"/>
                </a:solidFill>
                <a:latin typeface="Segoe UI"/>
              </a:rPr>
              <a:t>●  </a:t>
            </a:r>
            <a:r>
              <a:rPr sz="1100" b="0" i="0">
                <a:solidFill>
                  <a:srgbClr val="E8F2F5"/>
                </a:solidFill>
                <a:latin typeface="Segoe UI"/>
              </a:rPr>
              <a:t>No continuous, automated, barangay-specific water-level and rainfall records exist</a:t>
            </a:r>
          </a:p>
        </p:txBody>
      </p:sp>
      <p:sp>
        <p:nvSpPr>
          <p:cNvPr id="7" name="Rounded Rectangle 6"/>
          <p:cNvSpPr/>
          <p:nvPr/>
        </p:nvSpPr>
        <p:spPr>
          <a:xfrm>
            <a:off x="6858000" y="2286000"/>
            <a:ext cx="4782312" cy="2688336"/>
          </a:xfrm>
          <a:prstGeom prst="roundRect">
            <a:avLst>
              <a:gd name="adj" fmla="val 6000"/>
            </a:avLst>
          </a:prstGeom>
          <a:solidFill>
            <a:srgbClr val="102930"/>
          </a:solidFill>
          <a:ln w="19050">
            <a:solidFill>
              <a:srgbClr val="3263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TextBox 7"/>
          <p:cNvSpPr txBox="1"/>
          <p:nvPr/>
        </p:nvSpPr>
        <p:spPr>
          <a:xfrm>
            <a:off x="7086600" y="2286000"/>
            <a:ext cx="4325112" cy="2688336"/>
          </a:xfrm>
          <a:prstGeom prst="rect">
            <a:avLst/>
          </a:prstGeom>
          <a:noFill/>
        </p:spPr>
        <p:txBody>
          <a:bodyPr wrap="square" lIns="0" rIns="0" tIns="0" bIns="0" anchor="ctr">
            <a:spAutoFit/>
          </a:bodyPr>
          <a:lstStyle/>
          <a:p>
            <a:pPr algn="ctr"/>
            <a:r>
              <a:rPr sz="850" b="1" i="0" spc="200">
                <a:solidFill>
                  <a:srgbClr val="3EC7B3"/>
                </a:solidFill>
                <a:latin typeface="Segoe UI"/>
              </a:rPr>
              <a:t>◲ FIGURE PLACEHOLDER · DROP IMAGE TO INSERT</a:t>
            </a:r>
          </a:p>
          <a:p>
            <a:pPr algn="ctr">
              <a:spcBef>
                <a:spcPts val="600"/>
              </a:spcBef>
            </a:pPr>
            <a:r>
              <a:rPr sz="950" b="0" i="0">
                <a:solidFill>
                  <a:srgbClr val="9FC0C8"/>
                </a:solidFill>
                <a:latin typeface="Segoe UI"/>
              </a:rPr>
              <a:t>Current-practice / needs-assessment figure — manual monitoring, MDRRMO alerts, warning gap.</a:t>
            </a:r>
          </a:p>
        </p:txBody>
      </p:sp>
      <p:sp>
        <p:nvSpPr>
          <p:cNvPr id="9" name="TextBox 8"/>
          <p:cNvSpPr txBox="1"/>
          <p:nvPr/>
        </p:nvSpPr>
        <p:spPr>
          <a:xfrm>
            <a:off x="5943600" y="5029199"/>
            <a:ext cx="6248095" cy="274320"/>
          </a:xfrm>
          <a:prstGeom prst="rect">
            <a:avLst/>
          </a:prstGeom>
          <a:noFill/>
        </p:spPr>
        <p:txBody>
          <a:bodyPr wrap="square" lIns="0" rIns="0" tIns="0" bIns="0">
            <a:spAutoFit/>
          </a:bodyPr>
          <a:lstStyle/>
          <a:p>
            <a:pPr algn="ctr"/>
            <a:r>
              <a:rPr sz="850" b="1" i="0" spc="100">
                <a:solidFill>
                  <a:srgbClr val="6E939C"/>
                </a:solidFill>
                <a:latin typeface="Segoe UI"/>
              </a:rPr>
              <a:t>Figure 7. Current-practice / needs-assessment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C2228"/>
        </a:solidFill>
        <a:effectLst/>
      </p:bgPr>
    </p:bg>
    <p:spTree>
      <p:nvGrpSpPr>
        <p:cNvPr id="1" name=""/>
        <p:cNvGrpSpPr/>
        <p:nvPr/>
      </p:nvGrpSpPr>
      <p:grpSpPr/>
      <p:sp>
        <p:nvSpPr>
          <p:cNvPr id="2" name="TextBox 1"/>
          <p:cNvSpPr txBox="1"/>
          <p:nvPr/>
        </p:nvSpPr>
        <p:spPr>
          <a:xfrm>
            <a:off x="548640" y="310896"/>
            <a:ext cx="11094415" cy="274320"/>
          </a:xfrm>
          <a:prstGeom prst="rect">
            <a:avLst/>
          </a:prstGeom>
          <a:noFill/>
        </p:spPr>
        <p:txBody>
          <a:bodyPr wrap="square" lIns="0" rIns="0" tIns="0" bIns="0">
            <a:spAutoFit/>
          </a:bodyPr>
          <a:lstStyle/>
          <a:p>
            <a:r>
              <a:rPr sz="1000" b="1" i="0" spc="260">
                <a:solidFill>
                  <a:srgbClr val="3EC7B3"/>
                </a:solidFill>
                <a:latin typeface="Segoe UI"/>
              </a:rPr>
              <a:t>12 · RESULTS AND DISCUSSION — Q2</a:t>
            </a:r>
          </a:p>
        </p:txBody>
      </p:sp>
      <p:sp>
        <p:nvSpPr>
          <p:cNvPr id="3" name="TextBox 2"/>
          <p:cNvSpPr txBox="1"/>
          <p:nvPr/>
        </p:nvSpPr>
        <p:spPr>
          <a:xfrm>
            <a:off x="548640" y="530352"/>
            <a:ext cx="11094415" cy="548640"/>
          </a:xfrm>
          <a:prstGeom prst="rect">
            <a:avLst/>
          </a:prstGeom>
          <a:noFill/>
        </p:spPr>
        <p:txBody>
          <a:bodyPr wrap="square" lIns="0" rIns="0" tIns="0" bIns="0">
            <a:spAutoFit/>
          </a:bodyPr>
          <a:lstStyle/>
          <a:p>
            <a:r>
              <a:rPr sz="2000" b="1" i="0">
                <a:solidFill>
                  <a:srgbClr val="E8F2F5"/>
                </a:solidFill>
                <a:latin typeface="Georgia"/>
              </a:rPr>
              <a:t>Results and discussion — Q2: System design &amp; development</a:t>
            </a:r>
          </a:p>
        </p:txBody>
      </p:sp>
      <p:sp>
        <p:nvSpPr>
          <p:cNvPr id="4" name="TextBox 3"/>
          <p:cNvSpPr txBox="1"/>
          <p:nvPr/>
        </p:nvSpPr>
        <p:spPr>
          <a:xfrm>
            <a:off x="548640" y="1042415"/>
            <a:ext cx="11094415" cy="256032"/>
          </a:xfrm>
          <a:prstGeom prst="rect">
            <a:avLst/>
          </a:prstGeom>
          <a:noFill/>
        </p:spPr>
        <p:txBody>
          <a:bodyPr wrap="square" lIns="0" rIns="0" tIns="0" bIns="0">
            <a:spAutoFit/>
          </a:bodyPr>
          <a:lstStyle/>
          <a:p>
            <a:r>
              <a:rPr sz="950" b="1" i="0" spc="60">
                <a:solidFill>
                  <a:srgbClr val="9FC0C8"/>
                </a:solidFill>
                <a:latin typeface="Segoe UI"/>
              </a:rPr>
              <a:t>Research question 2 — design requirements met</a:t>
            </a:r>
          </a:p>
        </p:txBody>
      </p:sp>
      <p:sp>
        <p:nvSpPr>
          <p:cNvPr id="5" name="TextBox 4"/>
          <p:cNvSpPr txBox="1"/>
          <p:nvPr/>
        </p:nvSpPr>
        <p:spPr>
          <a:xfrm>
            <a:off x="548640" y="1371600"/>
            <a:ext cx="11094415" cy="502920"/>
          </a:xfrm>
          <a:prstGeom prst="rect">
            <a:avLst/>
          </a:prstGeom>
          <a:noFill/>
        </p:spPr>
        <p:txBody>
          <a:bodyPr wrap="square" lIns="0" rIns="0" tIns="0" bIns="0">
            <a:spAutoFit/>
          </a:bodyPr>
          <a:lstStyle/>
          <a:p>
            <a:r>
              <a:rPr sz="1050" b="0" i="0">
                <a:solidFill>
                  <a:srgbClr val="9FC0C8"/>
                </a:solidFill>
                <a:latin typeface="Segoe UI"/>
              </a:rPr>
              <a:t>Q2: How can a Fuzzy-AI riverine flood-risk classification system be designed and developed for Brgy. Elvita integrating cached forecasts, a LoRa sensor node, an RF+fuzzy pipeline, and a LAN dashboard?</a:t>
            </a:r>
          </a:p>
        </p:txBody>
      </p:sp>
      <p:sp>
        <p:nvSpPr>
          <p:cNvPr id="6" name="TextBox 5"/>
          <p:cNvSpPr txBox="1"/>
          <p:nvPr/>
        </p:nvSpPr>
        <p:spPr>
          <a:xfrm>
            <a:off x="548640" y="2148840"/>
            <a:ext cx="6126480" cy="4160520"/>
          </a:xfrm>
          <a:prstGeom prst="rect">
            <a:avLst/>
          </a:prstGeom>
          <a:noFill/>
        </p:spPr>
        <p:txBody>
          <a:bodyPr wrap="square" lIns="0" rIns="0" tIns="0" bIns="0">
            <a:spAutoFit/>
          </a:bodyPr>
          <a:lstStyle/>
          <a:p>
            <a:pPr>
              <a:spcAft>
                <a:spcPts val="900"/>
              </a:spcAft>
            </a:pPr>
            <a:r>
              <a:rPr sz="700" b="0" i="0">
                <a:solidFill>
                  <a:srgbClr val="3EC7B3"/>
                </a:solidFill>
                <a:latin typeface="Segoe UI"/>
              </a:rPr>
              <a:t>●  </a:t>
            </a:r>
            <a:r>
              <a:rPr sz="1100" b="0" i="0">
                <a:solidFill>
                  <a:srgbClr val="E8F2F5"/>
                </a:solidFill>
                <a:latin typeface="Segoe UI"/>
              </a:rPr>
              <a:t>✓ Offline-first: cached Open-Meteo weather/tide forecasts stored locally on the Pi 5</a:t>
            </a:r>
          </a:p>
          <a:p>
            <a:pPr>
              <a:spcAft>
                <a:spcPts val="900"/>
              </a:spcAft>
            </a:pPr>
            <a:r>
              <a:rPr sz="1100" b="0" i="0">
                <a:solidFill>
                  <a:srgbClr val="3EC7B3"/>
                </a:solidFill>
                <a:latin typeface="Segoe UI"/>
              </a:rPr>
              <a:t>●  </a:t>
            </a:r>
            <a:r>
              <a:rPr sz="1100" b="0" i="0">
                <a:solidFill>
                  <a:srgbClr val="E8F2F5"/>
                </a:solidFill>
                <a:latin typeface="Segoe UI"/>
              </a:rPr>
              <a:t>✓ LoRa sensor node sends water-level + rainfall to the Raspberry Pi 5 edge device</a:t>
            </a:r>
          </a:p>
          <a:p>
            <a:pPr>
              <a:spcAft>
                <a:spcPts val="900"/>
              </a:spcAft>
            </a:pPr>
            <a:r>
              <a:rPr sz="1100" b="0" i="0">
                <a:solidFill>
                  <a:srgbClr val="3EC7B3"/>
                </a:solidFill>
                <a:latin typeface="Segoe UI"/>
              </a:rPr>
              <a:t>●  </a:t>
            </a:r>
            <a:r>
              <a:rPr sz="1100" b="0" i="0">
                <a:solidFill>
                  <a:srgbClr val="E8F2F5"/>
                </a:solidFill>
                <a:latin typeface="Segoe UI"/>
              </a:rPr>
              <a:t>✓ Hybrid AI pipeline: RF flood propensity (8 features) → 20-rule fuzzy → 4 risk levels</a:t>
            </a:r>
          </a:p>
          <a:p>
            <a:pPr>
              <a:spcAft>
                <a:spcPts val="900"/>
              </a:spcAft>
            </a:pPr>
            <a:r>
              <a:rPr sz="1100" b="0" i="0">
                <a:solidFill>
                  <a:srgbClr val="3EC7B3"/>
                </a:solidFill>
                <a:latin typeface="Segoe UI"/>
              </a:rPr>
              <a:t>●  </a:t>
            </a:r>
            <a:r>
              <a:rPr sz="1100" b="0" i="0">
                <a:solidFill>
                  <a:srgbClr val="E8F2F5"/>
                </a:solidFill>
                <a:latin typeface="Segoe UI"/>
              </a:rPr>
              <a:t>✓ Local SQLite database stores readings, forecasts, model outputs, and alerts</a:t>
            </a:r>
          </a:p>
          <a:p>
            <a:pPr>
              <a:spcAft>
                <a:spcPts val="900"/>
              </a:spcAft>
            </a:pPr>
            <a:r>
              <a:rPr sz="1100" b="0" i="0">
                <a:solidFill>
                  <a:srgbClr val="3EC7B3"/>
                </a:solidFill>
                <a:latin typeface="Segoe UI"/>
              </a:rPr>
              <a:t>●  </a:t>
            </a:r>
            <a:r>
              <a:rPr sz="1100" b="0" i="0">
                <a:solidFill>
                  <a:srgbClr val="E8F2F5"/>
                </a:solidFill>
                <a:latin typeface="Segoe UI"/>
              </a:rPr>
              <a:t>✓ LAN dashboard shows live status, graphs, RF/fuzzy results, alert history — no internet needed</a:t>
            </a:r>
          </a:p>
          <a:p>
            <a:pPr>
              <a:spcAft>
                <a:spcPts val="900"/>
              </a:spcAft>
            </a:pPr>
            <a:r>
              <a:rPr sz="1100" b="0" i="0">
                <a:solidFill>
                  <a:srgbClr val="3EC7B3"/>
                </a:solidFill>
                <a:latin typeface="Segoe UI"/>
              </a:rPr>
              <a:t>●  </a:t>
            </a:r>
            <a:r>
              <a:rPr sz="1100" b="0" i="0">
                <a:solidFill>
                  <a:srgbClr val="E8F2F5"/>
                </a:solidFill>
                <a:latin typeface="Segoe UI"/>
              </a:rPr>
              <a:t>✓ SMS via GSM modem (Alarm/Critical only); BDRRMC retains alert authority</a:t>
            </a:r>
          </a:p>
        </p:txBody>
      </p:sp>
      <p:sp>
        <p:nvSpPr>
          <p:cNvPr id="7" name="Rounded Rectangle 6"/>
          <p:cNvSpPr/>
          <p:nvPr/>
        </p:nvSpPr>
        <p:spPr>
          <a:xfrm>
            <a:off x="6858000" y="2651760"/>
            <a:ext cx="4782312" cy="2688336"/>
          </a:xfrm>
          <a:prstGeom prst="roundRect">
            <a:avLst>
              <a:gd name="adj" fmla="val 6000"/>
            </a:avLst>
          </a:prstGeom>
          <a:solidFill>
            <a:srgbClr val="102930"/>
          </a:solidFill>
          <a:ln w="19050">
            <a:solidFill>
              <a:srgbClr val="3263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TextBox 7"/>
          <p:cNvSpPr txBox="1"/>
          <p:nvPr/>
        </p:nvSpPr>
        <p:spPr>
          <a:xfrm>
            <a:off x="7086600" y="2651760"/>
            <a:ext cx="4325112" cy="2688336"/>
          </a:xfrm>
          <a:prstGeom prst="rect">
            <a:avLst/>
          </a:prstGeom>
          <a:noFill/>
        </p:spPr>
        <p:txBody>
          <a:bodyPr wrap="square" lIns="0" rIns="0" tIns="0" bIns="0" anchor="ctr">
            <a:spAutoFit/>
          </a:bodyPr>
          <a:lstStyle/>
          <a:p>
            <a:pPr algn="ctr"/>
            <a:r>
              <a:rPr sz="850" b="1" i="0" spc="200">
                <a:solidFill>
                  <a:srgbClr val="3EC7B3"/>
                </a:solidFill>
                <a:latin typeface="Segoe UI"/>
              </a:rPr>
              <a:t>◲ FIGURE PLACEHOLDER · DROP IMAGE TO INSERT</a:t>
            </a:r>
          </a:p>
          <a:p>
            <a:pPr algn="ctr">
              <a:spcBef>
                <a:spcPts val="600"/>
              </a:spcBef>
            </a:pPr>
            <a:r>
              <a:rPr sz="950" b="0" i="0">
                <a:solidFill>
                  <a:srgbClr val="9FC0C8"/>
                </a:solidFill>
                <a:latin typeface="Segoe UI"/>
              </a:rPr>
              <a:t>System output / requirements-verification figure — offline-first chain end to end.</a:t>
            </a:r>
          </a:p>
        </p:txBody>
      </p:sp>
      <p:sp>
        <p:nvSpPr>
          <p:cNvPr id="9" name="TextBox 8"/>
          <p:cNvSpPr txBox="1"/>
          <p:nvPr/>
        </p:nvSpPr>
        <p:spPr>
          <a:xfrm>
            <a:off x="5943600" y="5394959"/>
            <a:ext cx="6248095" cy="274320"/>
          </a:xfrm>
          <a:prstGeom prst="rect">
            <a:avLst/>
          </a:prstGeom>
          <a:noFill/>
        </p:spPr>
        <p:txBody>
          <a:bodyPr wrap="square" lIns="0" rIns="0" tIns="0" bIns="0">
            <a:spAutoFit/>
          </a:bodyPr>
          <a:lstStyle/>
          <a:p>
            <a:pPr algn="ctr"/>
            <a:r>
              <a:rPr sz="850" b="1" i="0" spc="100">
                <a:solidFill>
                  <a:srgbClr val="6E939C"/>
                </a:solidFill>
                <a:latin typeface="Segoe UI"/>
              </a:rPr>
              <a:t>Figure 8. System output / requirements-verification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C2228"/>
        </a:solidFill>
        <a:effectLst/>
      </p:bgPr>
    </p:bg>
    <p:spTree>
      <p:nvGrpSpPr>
        <p:cNvPr id="1" name=""/>
        <p:cNvGrpSpPr/>
        <p:nvPr/>
      </p:nvGrpSpPr>
      <p:grpSpPr/>
      <p:sp>
        <p:nvSpPr>
          <p:cNvPr id="2" name="TextBox 1"/>
          <p:cNvSpPr txBox="1"/>
          <p:nvPr/>
        </p:nvSpPr>
        <p:spPr>
          <a:xfrm>
            <a:off x="548640" y="310896"/>
            <a:ext cx="11094415" cy="274320"/>
          </a:xfrm>
          <a:prstGeom prst="rect">
            <a:avLst/>
          </a:prstGeom>
          <a:noFill/>
        </p:spPr>
        <p:txBody>
          <a:bodyPr wrap="square" lIns="0" rIns="0" tIns="0" bIns="0">
            <a:spAutoFit/>
          </a:bodyPr>
          <a:lstStyle/>
          <a:p>
            <a:r>
              <a:rPr sz="1000" b="1" i="0" spc="260">
                <a:solidFill>
                  <a:srgbClr val="3EC7B3"/>
                </a:solidFill>
                <a:latin typeface="Segoe UI"/>
              </a:rPr>
              <a:t>13 · RESULTS AND DISCUSSION — Q3</a:t>
            </a:r>
          </a:p>
        </p:txBody>
      </p:sp>
      <p:sp>
        <p:nvSpPr>
          <p:cNvPr id="3" name="TextBox 2"/>
          <p:cNvSpPr txBox="1"/>
          <p:nvPr/>
        </p:nvSpPr>
        <p:spPr>
          <a:xfrm>
            <a:off x="548640" y="530352"/>
            <a:ext cx="11094415" cy="548640"/>
          </a:xfrm>
          <a:prstGeom prst="rect">
            <a:avLst/>
          </a:prstGeom>
          <a:noFill/>
        </p:spPr>
        <p:txBody>
          <a:bodyPr wrap="square" lIns="0" rIns="0" tIns="0" bIns="0">
            <a:spAutoFit/>
          </a:bodyPr>
          <a:lstStyle/>
          <a:p>
            <a:r>
              <a:rPr sz="2000" b="1" i="0">
                <a:solidFill>
                  <a:srgbClr val="E8F2F5"/>
                </a:solidFill>
                <a:latin typeface="Georgia"/>
              </a:rPr>
              <a:t>Results and discussion — Q3: Random Forest consistency</a:t>
            </a:r>
          </a:p>
        </p:txBody>
      </p:sp>
      <p:sp>
        <p:nvSpPr>
          <p:cNvPr id="4" name="TextBox 3"/>
          <p:cNvSpPr txBox="1"/>
          <p:nvPr/>
        </p:nvSpPr>
        <p:spPr>
          <a:xfrm>
            <a:off x="548640" y="1042415"/>
            <a:ext cx="11094415" cy="256032"/>
          </a:xfrm>
          <a:prstGeom prst="rect">
            <a:avLst/>
          </a:prstGeom>
          <a:noFill/>
        </p:spPr>
        <p:txBody>
          <a:bodyPr wrap="square" lIns="0" rIns="0" tIns="0" bIns="0">
            <a:spAutoFit/>
          </a:bodyPr>
          <a:lstStyle/>
          <a:p>
            <a:r>
              <a:rPr sz="950" b="1" i="0" spc="60">
                <a:solidFill>
                  <a:srgbClr val="9FC0C8"/>
                </a:solidFill>
                <a:latin typeface="Segoe UI"/>
              </a:rPr>
              <a:t>Research question 3 — model vs. scoring rule</a:t>
            </a:r>
          </a:p>
        </p:txBody>
      </p:sp>
      <p:sp>
        <p:nvSpPr>
          <p:cNvPr id="5" name="TextBox 4"/>
          <p:cNvSpPr txBox="1"/>
          <p:nvPr/>
        </p:nvSpPr>
        <p:spPr>
          <a:xfrm>
            <a:off x="548640" y="1371600"/>
            <a:ext cx="11094415" cy="320040"/>
          </a:xfrm>
          <a:prstGeom prst="rect">
            <a:avLst/>
          </a:prstGeom>
          <a:noFill/>
        </p:spPr>
        <p:txBody>
          <a:bodyPr wrap="square" lIns="0" rIns="0" tIns="0" bIns="0">
            <a:spAutoFit/>
          </a:bodyPr>
          <a:lstStyle/>
          <a:p>
            <a:r>
              <a:rPr sz="1050" b="0" i="0">
                <a:solidFill>
                  <a:srgbClr val="9FC0C8"/>
                </a:solidFill>
                <a:latin typeface="Segoe UI"/>
              </a:rPr>
              <a:t>Q3: How consistently does the Random Forest reproduce the rule-derived Low, Medium, and High flood-propensity categories on a held-out test set?</a:t>
            </a:r>
          </a:p>
        </p:txBody>
      </p:sp>
      <p:sp>
        <p:nvSpPr>
          <p:cNvPr id="6" name="Rounded Rectangle 5"/>
          <p:cNvSpPr/>
          <p:nvPr/>
        </p:nvSpPr>
        <p:spPr>
          <a:xfrm>
            <a:off x="548640" y="1783080"/>
            <a:ext cx="2103120" cy="713232"/>
          </a:xfrm>
          <a:prstGeom prst="roundRect">
            <a:avLst>
              <a:gd name="adj" fmla="val 10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Rectangle 6"/>
          <p:cNvSpPr/>
          <p:nvPr/>
        </p:nvSpPr>
        <p:spPr>
          <a:xfrm>
            <a:off x="621792" y="1810512"/>
            <a:ext cx="1956815" cy="41148"/>
          </a:xfrm>
          <a:prstGeom prst="rect">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TextBox 7"/>
          <p:cNvSpPr txBox="1"/>
          <p:nvPr/>
        </p:nvSpPr>
        <p:spPr>
          <a:xfrm>
            <a:off x="676656" y="1929384"/>
            <a:ext cx="1847087" cy="457200"/>
          </a:xfrm>
          <a:prstGeom prst="rect">
            <a:avLst/>
          </a:prstGeom>
          <a:noFill/>
        </p:spPr>
        <p:txBody>
          <a:bodyPr wrap="square" lIns="0" rIns="0" tIns="0" bIns="0" anchor="ctr">
            <a:spAutoFit/>
          </a:bodyPr>
          <a:lstStyle/>
          <a:p>
            <a:pPr algn="ctr"/>
            <a:r>
              <a:rPr sz="1700" b="1" i="0">
                <a:solidFill>
                  <a:srgbClr val="E8F2F5"/>
                </a:solidFill>
                <a:latin typeface="Georgia"/>
              </a:rPr>
              <a:t>94.26%</a:t>
            </a:r>
          </a:p>
          <a:p>
            <a:pPr algn="ctr">
              <a:spcBef>
                <a:spcPts val="300"/>
              </a:spcBef>
            </a:pPr>
            <a:r>
              <a:rPr sz="700" b="1" i="0" spc="120">
                <a:solidFill>
                  <a:srgbClr val="9FC0C8"/>
                </a:solidFill>
                <a:latin typeface="Segoe UI"/>
              </a:rPr>
              <a:t>Accuracy</a:t>
            </a:r>
          </a:p>
        </p:txBody>
      </p:sp>
      <p:sp>
        <p:nvSpPr>
          <p:cNvPr id="9" name="Rounded Rectangle 8"/>
          <p:cNvSpPr/>
          <p:nvPr/>
        </p:nvSpPr>
        <p:spPr>
          <a:xfrm>
            <a:off x="2793491" y="1783080"/>
            <a:ext cx="2103120" cy="713232"/>
          </a:xfrm>
          <a:prstGeom prst="roundRect">
            <a:avLst>
              <a:gd name="adj" fmla="val 10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0" name="Rectangle 9"/>
          <p:cNvSpPr/>
          <p:nvPr/>
        </p:nvSpPr>
        <p:spPr>
          <a:xfrm>
            <a:off x="2866644" y="1810512"/>
            <a:ext cx="1956815" cy="41148"/>
          </a:xfrm>
          <a:prstGeom prst="rect">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0"/>
          <p:cNvSpPr txBox="1"/>
          <p:nvPr/>
        </p:nvSpPr>
        <p:spPr>
          <a:xfrm>
            <a:off x="2921508" y="1929384"/>
            <a:ext cx="1847087" cy="457200"/>
          </a:xfrm>
          <a:prstGeom prst="rect">
            <a:avLst/>
          </a:prstGeom>
          <a:noFill/>
        </p:spPr>
        <p:txBody>
          <a:bodyPr wrap="square" lIns="0" rIns="0" tIns="0" bIns="0" anchor="ctr">
            <a:spAutoFit/>
          </a:bodyPr>
          <a:lstStyle/>
          <a:p>
            <a:pPr algn="ctr"/>
            <a:r>
              <a:rPr sz="1700" b="1" i="0">
                <a:solidFill>
                  <a:srgbClr val="E8F2F5"/>
                </a:solidFill>
                <a:latin typeface="Georgia"/>
              </a:rPr>
              <a:t>0.933</a:t>
            </a:r>
          </a:p>
          <a:p>
            <a:pPr algn="ctr">
              <a:spcBef>
                <a:spcPts val="300"/>
              </a:spcBef>
            </a:pPr>
            <a:r>
              <a:rPr sz="700" b="1" i="0" spc="120">
                <a:solidFill>
                  <a:srgbClr val="9FC0C8"/>
                </a:solidFill>
                <a:latin typeface="Segoe UI"/>
              </a:rPr>
              <a:t>Macro F1</a:t>
            </a:r>
          </a:p>
        </p:txBody>
      </p:sp>
      <p:sp>
        <p:nvSpPr>
          <p:cNvPr id="12" name="Rounded Rectangle 11"/>
          <p:cNvSpPr/>
          <p:nvPr/>
        </p:nvSpPr>
        <p:spPr>
          <a:xfrm>
            <a:off x="5038344" y="1783080"/>
            <a:ext cx="2103120" cy="713232"/>
          </a:xfrm>
          <a:prstGeom prst="roundRect">
            <a:avLst>
              <a:gd name="adj" fmla="val 10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Rectangle 12"/>
          <p:cNvSpPr/>
          <p:nvPr/>
        </p:nvSpPr>
        <p:spPr>
          <a:xfrm>
            <a:off x="5111496" y="1810512"/>
            <a:ext cx="1956815" cy="41148"/>
          </a:xfrm>
          <a:prstGeom prst="rect">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3"/>
          <p:cNvSpPr txBox="1"/>
          <p:nvPr/>
        </p:nvSpPr>
        <p:spPr>
          <a:xfrm>
            <a:off x="5166359" y="1929384"/>
            <a:ext cx="1847087" cy="457200"/>
          </a:xfrm>
          <a:prstGeom prst="rect">
            <a:avLst/>
          </a:prstGeom>
          <a:noFill/>
        </p:spPr>
        <p:txBody>
          <a:bodyPr wrap="square" lIns="0" rIns="0" tIns="0" bIns="0" anchor="ctr">
            <a:spAutoFit/>
          </a:bodyPr>
          <a:lstStyle/>
          <a:p>
            <a:pPr algn="ctr"/>
            <a:r>
              <a:rPr sz="1700" b="1" i="0">
                <a:solidFill>
                  <a:srgbClr val="E8F2F5"/>
                </a:solidFill>
                <a:latin typeface="Georgia"/>
              </a:rPr>
              <a:t>0.943</a:t>
            </a:r>
          </a:p>
          <a:p>
            <a:pPr algn="ctr">
              <a:spcBef>
                <a:spcPts val="300"/>
              </a:spcBef>
            </a:pPr>
            <a:r>
              <a:rPr sz="700" b="1" i="0" spc="120">
                <a:solidFill>
                  <a:srgbClr val="9FC0C8"/>
                </a:solidFill>
                <a:latin typeface="Segoe UI"/>
              </a:rPr>
              <a:t>Weighted F1</a:t>
            </a:r>
          </a:p>
        </p:txBody>
      </p:sp>
      <p:sp>
        <p:nvSpPr>
          <p:cNvPr id="15" name="Rounded Rectangle 14"/>
          <p:cNvSpPr/>
          <p:nvPr/>
        </p:nvSpPr>
        <p:spPr>
          <a:xfrm>
            <a:off x="7283196" y="1783080"/>
            <a:ext cx="2103120" cy="713232"/>
          </a:xfrm>
          <a:prstGeom prst="roundRect">
            <a:avLst>
              <a:gd name="adj" fmla="val 10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6" name="Rectangle 15"/>
          <p:cNvSpPr/>
          <p:nvPr/>
        </p:nvSpPr>
        <p:spPr>
          <a:xfrm>
            <a:off x="7356348" y="1810512"/>
            <a:ext cx="1956815" cy="41148"/>
          </a:xfrm>
          <a:prstGeom prst="rect">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7" name="TextBox 16"/>
          <p:cNvSpPr txBox="1"/>
          <p:nvPr/>
        </p:nvSpPr>
        <p:spPr>
          <a:xfrm>
            <a:off x="7411212" y="1929384"/>
            <a:ext cx="1847087" cy="457200"/>
          </a:xfrm>
          <a:prstGeom prst="rect">
            <a:avLst/>
          </a:prstGeom>
          <a:noFill/>
        </p:spPr>
        <p:txBody>
          <a:bodyPr wrap="square" lIns="0" rIns="0" tIns="0" bIns="0" anchor="ctr">
            <a:spAutoFit/>
          </a:bodyPr>
          <a:lstStyle/>
          <a:p>
            <a:pPr algn="ctr"/>
            <a:r>
              <a:rPr sz="1400" b="1" i="0">
                <a:solidFill>
                  <a:srgbClr val="E8F2F5"/>
                </a:solidFill>
                <a:latin typeface="Georgia"/>
              </a:rPr>
              <a:t>1,826</a:t>
            </a:r>
          </a:p>
          <a:p>
            <a:pPr algn="ctr">
              <a:spcBef>
                <a:spcPts val="300"/>
              </a:spcBef>
            </a:pPr>
            <a:r>
              <a:rPr sz="700" b="1" i="0" spc="120">
                <a:solidFill>
                  <a:srgbClr val="9FC0C8"/>
                </a:solidFill>
                <a:latin typeface="Segoe UI"/>
              </a:rPr>
              <a:t>Training records</a:t>
            </a:r>
          </a:p>
        </p:txBody>
      </p:sp>
      <p:sp>
        <p:nvSpPr>
          <p:cNvPr id="18" name="Rounded Rectangle 17"/>
          <p:cNvSpPr/>
          <p:nvPr/>
        </p:nvSpPr>
        <p:spPr>
          <a:xfrm>
            <a:off x="9528048" y="1783080"/>
            <a:ext cx="2103120" cy="713232"/>
          </a:xfrm>
          <a:prstGeom prst="roundRect">
            <a:avLst>
              <a:gd name="adj" fmla="val 10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9" name="Rectangle 18"/>
          <p:cNvSpPr/>
          <p:nvPr/>
        </p:nvSpPr>
        <p:spPr>
          <a:xfrm>
            <a:off x="9601200" y="1810512"/>
            <a:ext cx="1956815" cy="41148"/>
          </a:xfrm>
          <a:prstGeom prst="rect">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0" name="TextBox 19"/>
          <p:cNvSpPr txBox="1"/>
          <p:nvPr/>
        </p:nvSpPr>
        <p:spPr>
          <a:xfrm>
            <a:off x="9656064" y="1929384"/>
            <a:ext cx="1847087" cy="457200"/>
          </a:xfrm>
          <a:prstGeom prst="rect">
            <a:avLst/>
          </a:prstGeom>
          <a:noFill/>
        </p:spPr>
        <p:txBody>
          <a:bodyPr wrap="square" lIns="0" rIns="0" tIns="0" bIns="0" anchor="ctr">
            <a:spAutoFit/>
          </a:bodyPr>
          <a:lstStyle/>
          <a:p>
            <a:pPr algn="ctr"/>
            <a:r>
              <a:rPr sz="1400" b="1" i="0">
                <a:solidFill>
                  <a:srgbClr val="E8F2F5"/>
                </a:solidFill>
                <a:latin typeface="Georgia"/>
              </a:rPr>
              <a:t>2 of 4</a:t>
            </a:r>
          </a:p>
          <a:p>
            <a:pPr algn="ctr">
              <a:spcBef>
                <a:spcPts val="300"/>
              </a:spcBef>
            </a:pPr>
            <a:r>
              <a:rPr sz="700" b="1" i="0" spc="120">
                <a:solidFill>
                  <a:srgbClr val="9FC0C8"/>
                </a:solidFill>
                <a:latin typeface="Segoe UI"/>
              </a:rPr>
              <a:t>Events matched rule</a:t>
            </a:r>
          </a:p>
        </p:txBody>
      </p:sp>
      <p:sp>
        <p:nvSpPr>
          <p:cNvPr id="21" name="TextBox 20"/>
          <p:cNvSpPr txBox="1"/>
          <p:nvPr/>
        </p:nvSpPr>
        <p:spPr>
          <a:xfrm>
            <a:off x="548640" y="2697480"/>
            <a:ext cx="6217920" cy="3611879"/>
          </a:xfrm>
          <a:prstGeom prst="rect">
            <a:avLst/>
          </a:prstGeom>
          <a:noFill/>
        </p:spPr>
        <p:txBody>
          <a:bodyPr wrap="square" lIns="0" rIns="0" tIns="0" bIns="0">
            <a:spAutoFit/>
          </a:bodyPr>
          <a:lstStyle/>
          <a:p>
            <a:pPr>
              <a:spcAft>
                <a:spcPts val="600"/>
              </a:spcAft>
            </a:pPr>
            <a:r>
              <a:rPr sz="700" b="0" i="0">
                <a:solidFill>
                  <a:srgbClr val="3EC7B3"/>
                </a:solidFill>
                <a:latin typeface="Segoe UI"/>
              </a:rPr>
              <a:t>●  </a:t>
            </a:r>
            <a:r>
              <a:rPr sz="1050" b="0" i="0">
                <a:solidFill>
                  <a:srgbClr val="E8F2F5"/>
                </a:solidFill>
                <a:latin typeface="Segoe UI"/>
              </a:rPr>
              <a:t>Trained 2020–2024 on PAGASA meteorological + NAMRIA tidal data (1,826 daily records)</a:t>
            </a:r>
          </a:p>
          <a:p>
            <a:pPr>
              <a:spcAft>
                <a:spcPts val="600"/>
              </a:spcAft>
            </a:pPr>
            <a:r>
              <a:rPr sz="1050" b="0" i="0">
                <a:solidFill>
                  <a:srgbClr val="3EC7B3"/>
                </a:solidFill>
                <a:latin typeface="Segoe UI"/>
              </a:rPr>
              <a:t>●  </a:t>
            </a:r>
            <a:r>
              <a:rPr sz="1050" b="0" i="0">
                <a:solidFill>
                  <a:srgbClr val="E8F2F5"/>
                </a:solidFill>
                <a:latin typeface="Segoe UI"/>
              </a:rPr>
              <a:t>Random stratified 80/20 split (1,460 train / 366 test); no cross-validation</a:t>
            </a:r>
          </a:p>
          <a:p>
            <a:pPr>
              <a:spcAft>
                <a:spcPts val="600"/>
              </a:spcAft>
            </a:pPr>
            <a:r>
              <a:rPr sz="1050" b="0" i="0">
                <a:solidFill>
                  <a:srgbClr val="3EC7B3"/>
                </a:solidFill>
                <a:latin typeface="Segoe UI"/>
              </a:rPr>
              <a:t>●  </a:t>
            </a:r>
            <a:r>
              <a:rPr sz="1050" b="0" i="0">
                <a:solidFill>
                  <a:srgbClr val="E8F2F5"/>
                </a:solidFill>
                <a:latin typeface="Segoe UI"/>
              </a:rPr>
              <a:t>Rule-derived labels (composite score ≥6.0 High, ≥3.0 Medium, &lt;3.0 Low) from the same 8 features</a:t>
            </a:r>
          </a:p>
          <a:p>
            <a:pPr>
              <a:spcAft>
                <a:spcPts val="600"/>
              </a:spcAft>
            </a:pPr>
            <a:r>
              <a:rPr sz="1050" b="0" i="0">
                <a:solidFill>
                  <a:srgbClr val="3EC7B3"/>
                </a:solidFill>
                <a:latin typeface="Segoe UI"/>
              </a:rPr>
              <a:t>●  </a:t>
            </a:r>
            <a:r>
              <a:rPr sz="1050" b="0" i="0">
                <a:solidFill>
                  <a:srgbClr val="E8F2F5"/>
                </a:solidFill>
                <a:latin typeface="Segoe UI"/>
              </a:rPr>
              <a:t>Low F1 0.9728 · Medium F1 0.9099 · High F1 0.9160 · High recall 0.9524</a:t>
            </a:r>
          </a:p>
          <a:p>
            <a:pPr>
              <a:spcAft>
                <a:spcPts val="600"/>
              </a:spcAft>
            </a:pPr>
            <a:r>
              <a:rPr sz="1050" b="0" i="0">
                <a:solidFill>
                  <a:srgbClr val="3EC7B3"/>
                </a:solidFill>
                <a:latin typeface="Segoe UI"/>
              </a:rPr>
              <a:t>●  </a:t>
            </a:r>
            <a:r>
              <a:rPr sz="1050" b="0" i="0">
                <a:solidFill>
                  <a:srgbClr val="E8F2F5"/>
                </a:solidFill>
                <a:latin typeface="Segoe UI"/>
              </a:rPr>
              <a:t>External probe: 2 of 4 documented flood events (2020–2025) classified High by the rule — diagnostic case check, not validation</a:t>
            </a:r>
          </a:p>
        </p:txBody>
      </p:sp>
      <p:sp>
        <p:nvSpPr>
          <p:cNvPr id="22" name="Rounded Rectangle 21"/>
          <p:cNvSpPr/>
          <p:nvPr/>
        </p:nvSpPr>
        <p:spPr>
          <a:xfrm>
            <a:off x="548640" y="4892040"/>
            <a:ext cx="6263640" cy="914400"/>
          </a:xfrm>
          <a:prstGeom prst="roundRect">
            <a:avLst>
              <a:gd name="adj" fmla="val 8000"/>
            </a:avLst>
          </a:prstGeom>
          <a:solidFill>
            <a:srgbClr val="1F272C"/>
          </a:solidFill>
          <a:ln w="15240">
            <a:solidFill>
              <a:srgbClr val="C95252"/>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3" name="TextBox 22"/>
          <p:cNvSpPr txBox="1"/>
          <p:nvPr/>
        </p:nvSpPr>
        <p:spPr>
          <a:xfrm>
            <a:off x="749808" y="4983479"/>
            <a:ext cx="5861303" cy="731520"/>
          </a:xfrm>
          <a:prstGeom prst="rect">
            <a:avLst/>
          </a:prstGeom>
          <a:noFill/>
        </p:spPr>
        <p:txBody>
          <a:bodyPr wrap="square" lIns="0" rIns="0" tIns="0" bIns="0" anchor="ctr">
            <a:spAutoFit/>
          </a:bodyPr>
          <a:lstStyle/>
          <a:p>
            <a:pPr>
              <a:spcAft>
                <a:spcPts val="300"/>
              </a:spcAft>
            </a:pPr>
            <a:r>
              <a:rPr sz="950" b="1" i="0">
                <a:solidFill>
                  <a:srgbClr val="C95252"/>
                </a:solidFill>
                <a:latin typeface="Segoe UI"/>
              </a:rPr>
              <a:t>Honest caveat:</a:t>
            </a:r>
            <a:r>
              <a:rPr sz="950" b="0" i="0">
                <a:solidFill>
                  <a:srgbClr val="E8F2F5"/>
                </a:solidFill>
                <a:latin typeface="Segoe UI"/>
              </a:rPr>
              <a:t> 94.26% measures consistency with the study's own rule-derived labels — built from the same eight features — not demonstrated flood-prediction skill. Independent labels and chronological validation are needed.</a:t>
            </a:r>
          </a:p>
        </p:txBody>
      </p:sp>
      <p:sp>
        <p:nvSpPr>
          <p:cNvPr id="24" name="Rounded Rectangle 23"/>
          <p:cNvSpPr/>
          <p:nvPr/>
        </p:nvSpPr>
        <p:spPr>
          <a:xfrm>
            <a:off x="7086600" y="2724912"/>
            <a:ext cx="4572000" cy="2569464"/>
          </a:xfrm>
          <a:prstGeom prst="roundRect">
            <a:avLst>
              <a:gd name="adj" fmla="val 6000"/>
            </a:avLst>
          </a:prstGeom>
          <a:solidFill>
            <a:srgbClr val="102930"/>
          </a:solidFill>
          <a:ln w="19050">
            <a:solidFill>
              <a:srgbClr val="3263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25" name="TextBox 24"/>
          <p:cNvSpPr txBox="1"/>
          <p:nvPr/>
        </p:nvSpPr>
        <p:spPr>
          <a:xfrm>
            <a:off x="7315200" y="2724912"/>
            <a:ext cx="4114800" cy="2569464"/>
          </a:xfrm>
          <a:prstGeom prst="rect">
            <a:avLst/>
          </a:prstGeom>
          <a:noFill/>
        </p:spPr>
        <p:txBody>
          <a:bodyPr wrap="square" lIns="0" rIns="0" tIns="0" bIns="0" anchor="ctr">
            <a:spAutoFit/>
          </a:bodyPr>
          <a:lstStyle/>
          <a:p>
            <a:pPr algn="ctr"/>
            <a:r>
              <a:rPr sz="850" b="1" i="0" spc="200">
                <a:solidFill>
                  <a:srgbClr val="3EC7B3"/>
                </a:solidFill>
                <a:latin typeface="Segoe UI"/>
              </a:rPr>
              <a:t>◲ FIGURE PLACEHOLDER · DROP IMAGE TO INSERT</a:t>
            </a:r>
          </a:p>
          <a:p>
            <a:pPr algn="ctr">
              <a:spcBef>
                <a:spcPts val="600"/>
              </a:spcBef>
            </a:pPr>
            <a:r>
              <a:rPr sz="950" b="0" i="0">
                <a:solidFill>
                  <a:srgbClr val="9FC0C8"/>
                </a:solidFill>
                <a:latin typeface="Segoe UI"/>
              </a:rPr>
              <a:t>Confusion matrix / feature-importance figure (hold-out test set, Random Forest).</a:t>
            </a:r>
          </a:p>
        </p:txBody>
      </p:sp>
      <p:sp>
        <p:nvSpPr>
          <p:cNvPr id="26" name="TextBox 25"/>
          <p:cNvSpPr txBox="1"/>
          <p:nvPr/>
        </p:nvSpPr>
        <p:spPr>
          <a:xfrm>
            <a:off x="6172200" y="5349240"/>
            <a:ext cx="6019495" cy="274320"/>
          </a:xfrm>
          <a:prstGeom prst="rect">
            <a:avLst/>
          </a:prstGeom>
          <a:noFill/>
        </p:spPr>
        <p:txBody>
          <a:bodyPr wrap="square" lIns="0" rIns="0" tIns="0" bIns="0">
            <a:spAutoFit/>
          </a:bodyPr>
          <a:lstStyle/>
          <a:p>
            <a:pPr algn="ctr"/>
            <a:r>
              <a:rPr sz="850" b="1" i="0" spc="100">
                <a:solidFill>
                  <a:srgbClr val="6E939C"/>
                </a:solidFill>
                <a:latin typeface="Segoe UI"/>
              </a:rPr>
              <a:t>Figure 9. Confusion matrix / feature-importance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C2228"/>
        </a:solidFill>
        <a:effectLst/>
      </p:bgPr>
    </p:bg>
    <p:spTree>
      <p:nvGrpSpPr>
        <p:cNvPr id="1" name=""/>
        <p:cNvGrpSpPr/>
        <p:nvPr/>
      </p:nvGrpSpPr>
      <p:grpSpPr/>
      <p:sp>
        <p:nvSpPr>
          <p:cNvPr id="2" name="TextBox 1"/>
          <p:cNvSpPr txBox="1"/>
          <p:nvPr/>
        </p:nvSpPr>
        <p:spPr>
          <a:xfrm>
            <a:off x="548640" y="310896"/>
            <a:ext cx="11094415" cy="274320"/>
          </a:xfrm>
          <a:prstGeom prst="rect">
            <a:avLst/>
          </a:prstGeom>
          <a:noFill/>
        </p:spPr>
        <p:txBody>
          <a:bodyPr wrap="square" lIns="0" rIns="0" tIns="0" bIns="0">
            <a:spAutoFit/>
          </a:bodyPr>
          <a:lstStyle/>
          <a:p>
            <a:r>
              <a:rPr sz="1000" b="1" i="0" spc="260">
                <a:solidFill>
                  <a:srgbClr val="3EC7B3"/>
                </a:solidFill>
                <a:latin typeface="Segoe UI"/>
              </a:rPr>
              <a:t>14 · RESULTS AND DISCUSSION — Q4</a:t>
            </a:r>
          </a:p>
        </p:txBody>
      </p:sp>
      <p:sp>
        <p:nvSpPr>
          <p:cNvPr id="3" name="TextBox 2"/>
          <p:cNvSpPr txBox="1"/>
          <p:nvPr/>
        </p:nvSpPr>
        <p:spPr>
          <a:xfrm>
            <a:off x="548640" y="530352"/>
            <a:ext cx="11094415" cy="548640"/>
          </a:xfrm>
          <a:prstGeom prst="rect">
            <a:avLst/>
          </a:prstGeom>
          <a:noFill/>
        </p:spPr>
        <p:txBody>
          <a:bodyPr wrap="square" lIns="0" rIns="0" tIns="0" bIns="0">
            <a:spAutoFit/>
          </a:bodyPr>
          <a:lstStyle/>
          <a:p>
            <a:r>
              <a:rPr sz="2000" b="1" i="0">
                <a:solidFill>
                  <a:srgbClr val="E8F2F5"/>
                </a:solidFill>
                <a:latin typeface="Georgia"/>
              </a:rPr>
              <a:t>Results and discussion — Q4: Field deployment performance</a:t>
            </a:r>
          </a:p>
        </p:txBody>
      </p:sp>
      <p:sp>
        <p:nvSpPr>
          <p:cNvPr id="4" name="TextBox 3"/>
          <p:cNvSpPr txBox="1"/>
          <p:nvPr/>
        </p:nvSpPr>
        <p:spPr>
          <a:xfrm>
            <a:off x="548640" y="1042415"/>
            <a:ext cx="11094415" cy="256032"/>
          </a:xfrm>
          <a:prstGeom prst="rect">
            <a:avLst/>
          </a:prstGeom>
          <a:noFill/>
        </p:spPr>
        <p:txBody>
          <a:bodyPr wrap="square" lIns="0" rIns="0" tIns="0" bIns="0">
            <a:spAutoFit/>
          </a:bodyPr>
          <a:lstStyle/>
          <a:p>
            <a:r>
              <a:rPr sz="950" b="1" i="0" spc="60">
                <a:solidFill>
                  <a:srgbClr val="9FC0C8"/>
                </a:solidFill>
                <a:latin typeface="Segoe UI"/>
              </a:rPr>
              <a:t>Research question 4 — limited field deployment</a:t>
            </a:r>
          </a:p>
        </p:txBody>
      </p:sp>
      <p:sp>
        <p:nvSpPr>
          <p:cNvPr id="5" name="TextBox 4"/>
          <p:cNvSpPr txBox="1"/>
          <p:nvPr/>
        </p:nvSpPr>
        <p:spPr>
          <a:xfrm>
            <a:off x="548640" y="1371600"/>
            <a:ext cx="11094415" cy="502920"/>
          </a:xfrm>
          <a:prstGeom prst="rect">
            <a:avLst/>
          </a:prstGeom>
          <a:noFill/>
        </p:spPr>
        <p:txBody>
          <a:bodyPr wrap="square" lIns="0" rIns="0" tIns="0" bIns="0">
            <a:spAutoFit/>
          </a:bodyPr>
          <a:lstStyle/>
          <a:p>
            <a:r>
              <a:rPr sz="1050" b="0" i="0">
                <a:solidFill>
                  <a:srgbClr val="9FC0C8"/>
                </a:solidFill>
                <a:latin typeface="Segoe UI"/>
              </a:rPr>
              <a:t>Q4: How did the FLAIRE prototype perform during a limited field deployment in terms of sensor-data capture, data logging, and data quality?</a:t>
            </a:r>
          </a:p>
        </p:txBody>
      </p:sp>
      <p:sp>
        <p:nvSpPr>
          <p:cNvPr id="6" name="Rounded Rectangle 5"/>
          <p:cNvSpPr/>
          <p:nvPr/>
        </p:nvSpPr>
        <p:spPr>
          <a:xfrm>
            <a:off x="548640" y="1828800"/>
            <a:ext cx="2103120" cy="713232"/>
          </a:xfrm>
          <a:prstGeom prst="roundRect">
            <a:avLst>
              <a:gd name="adj" fmla="val 10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Rectangle 6"/>
          <p:cNvSpPr/>
          <p:nvPr/>
        </p:nvSpPr>
        <p:spPr>
          <a:xfrm>
            <a:off x="621792" y="1856231"/>
            <a:ext cx="1956815" cy="41148"/>
          </a:xfrm>
          <a:prstGeom prst="rect">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TextBox 7"/>
          <p:cNvSpPr txBox="1"/>
          <p:nvPr/>
        </p:nvSpPr>
        <p:spPr>
          <a:xfrm>
            <a:off x="676656" y="1975104"/>
            <a:ext cx="1847087" cy="457200"/>
          </a:xfrm>
          <a:prstGeom prst="rect">
            <a:avLst/>
          </a:prstGeom>
          <a:noFill/>
        </p:spPr>
        <p:txBody>
          <a:bodyPr wrap="square" lIns="0" rIns="0" tIns="0" bIns="0" anchor="ctr">
            <a:spAutoFit/>
          </a:bodyPr>
          <a:lstStyle/>
          <a:p>
            <a:pPr algn="ctr"/>
            <a:r>
              <a:rPr sz="1500" b="1" i="0">
                <a:solidFill>
                  <a:srgbClr val="E8F2F5"/>
                </a:solidFill>
                <a:latin typeface="Georgia"/>
              </a:rPr>
              <a:t>21.5 h</a:t>
            </a:r>
          </a:p>
          <a:p>
            <a:pPr algn="ctr">
              <a:spcBef>
                <a:spcPts val="300"/>
              </a:spcBef>
            </a:pPr>
            <a:r>
              <a:rPr sz="700" b="1" i="0" spc="120">
                <a:solidFill>
                  <a:srgbClr val="9FC0C8"/>
                </a:solidFill>
                <a:latin typeface="Segoe UI"/>
              </a:rPr>
              <a:t>Logged</a:t>
            </a:r>
          </a:p>
        </p:txBody>
      </p:sp>
      <p:sp>
        <p:nvSpPr>
          <p:cNvPr id="9" name="Rounded Rectangle 8"/>
          <p:cNvSpPr/>
          <p:nvPr/>
        </p:nvSpPr>
        <p:spPr>
          <a:xfrm>
            <a:off x="2793491" y="1828800"/>
            <a:ext cx="2103120" cy="713232"/>
          </a:xfrm>
          <a:prstGeom prst="roundRect">
            <a:avLst>
              <a:gd name="adj" fmla="val 10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0" name="Rectangle 9"/>
          <p:cNvSpPr/>
          <p:nvPr/>
        </p:nvSpPr>
        <p:spPr>
          <a:xfrm>
            <a:off x="2866644" y="1856231"/>
            <a:ext cx="1956815" cy="41148"/>
          </a:xfrm>
          <a:prstGeom prst="rect">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0"/>
          <p:cNvSpPr txBox="1"/>
          <p:nvPr/>
        </p:nvSpPr>
        <p:spPr>
          <a:xfrm>
            <a:off x="2921508" y="1975104"/>
            <a:ext cx="1847087" cy="457200"/>
          </a:xfrm>
          <a:prstGeom prst="rect">
            <a:avLst/>
          </a:prstGeom>
          <a:noFill/>
        </p:spPr>
        <p:txBody>
          <a:bodyPr wrap="square" lIns="0" rIns="0" tIns="0" bIns="0" anchor="ctr">
            <a:spAutoFit/>
          </a:bodyPr>
          <a:lstStyle/>
          <a:p>
            <a:pPr algn="ctr"/>
            <a:r>
              <a:rPr sz="1500" b="1" i="0">
                <a:solidFill>
                  <a:srgbClr val="E8F2F5"/>
                </a:solidFill>
                <a:latin typeface="Georgia"/>
              </a:rPr>
              <a:t>13,568</a:t>
            </a:r>
          </a:p>
          <a:p>
            <a:pPr algn="ctr">
              <a:spcBef>
                <a:spcPts val="300"/>
              </a:spcBef>
            </a:pPr>
            <a:r>
              <a:rPr sz="700" b="1" i="0" spc="120">
                <a:solidFill>
                  <a:srgbClr val="9FC0C8"/>
                </a:solidFill>
                <a:latin typeface="Segoe UI"/>
              </a:rPr>
              <a:t>Records</a:t>
            </a:r>
          </a:p>
        </p:txBody>
      </p:sp>
      <p:sp>
        <p:nvSpPr>
          <p:cNvPr id="12" name="TextBox 11"/>
          <p:cNvSpPr txBox="1"/>
          <p:nvPr/>
        </p:nvSpPr>
        <p:spPr>
          <a:xfrm>
            <a:off x="548640" y="2788920"/>
            <a:ext cx="6126480" cy="3520440"/>
          </a:xfrm>
          <a:prstGeom prst="rect">
            <a:avLst/>
          </a:prstGeom>
          <a:noFill/>
        </p:spPr>
        <p:txBody>
          <a:bodyPr wrap="square" lIns="0" rIns="0" tIns="0" bIns="0">
            <a:spAutoFit/>
          </a:bodyPr>
          <a:lstStyle/>
          <a:p>
            <a:pPr>
              <a:spcAft>
                <a:spcPts val="900"/>
              </a:spcAft>
            </a:pPr>
            <a:r>
              <a:rPr sz="700" b="0" i="0">
                <a:solidFill>
                  <a:srgbClr val="3EC7B3"/>
                </a:solidFill>
                <a:latin typeface="Segoe UI"/>
              </a:rPr>
              <a:t>●  </a:t>
            </a:r>
            <a:r>
              <a:rPr sz="1100" b="0" i="0">
                <a:solidFill>
                  <a:srgbClr val="E8F2F5"/>
                </a:solidFill>
                <a:latin typeface="Segoe UI"/>
              </a:rPr>
              <a:t>Logged 13,568 LoRa records over ~21.5 h (intended ~47 h; battery depletion ended it early)</a:t>
            </a:r>
          </a:p>
          <a:p>
            <a:pPr>
              <a:spcAft>
                <a:spcPts val="900"/>
              </a:spcAft>
            </a:pPr>
            <a:r>
              <a:rPr sz="1100" b="0" i="0">
                <a:solidFill>
                  <a:srgbClr val="3EC7B3"/>
                </a:solidFill>
                <a:latin typeface="Segoe UI"/>
              </a:rPr>
              <a:t>●  </a:t>
            </a:r>
            <a:r>
              <a:rPr sz="1100" b="0" i="0">
                <a:solidFill>
                  <a:srgbClr val="E8F2F5"/>
                </a:solidFill>
                <a:latin typeface="Segoe UI"/>
              </a:rPr>
              <a:t>Water level stayed in the Low band (≈0.01–0.18 m), below the 0.80 m alert threshold</a:t>
            </a:r>
          </a:p>
          <a:p>
            <a:pPr>
              <a:spcAft>
                <a:spcPts val="900"/>
              </a:spcAft>
            </a:pPr>
            <a:r>
              <a:rPr sz="1100" b="0" i="0">
                <a:solidFill>
                  <a:srgbClr val="3EC7B3"/>
                </a:solidFill>
                <a:latin typeface="Segoe UI"/>
              </a:rPr>
              <a:t>●  </a:t>
            </a:r>
            <a:r>
              <a:rPr sz="1100" b="0" i="0">
                <a:solidFill>
                  <a:srgbClr val="E8F2F5"/>
                </a:solidFill>
                <a:latin typeface="Segoe UI"/>
              </a:rPr>
              <a:t>67 zero-distance, 124 negative, and 5 implausible-distance readings flagged for review</a:t>
            </a:r>
          </a:p>
          <a:p>
            <a:pPr>
              <a:spcAft>
                <a:spcPts val="900"/>
              </a:spcAft>
            </a:pPr>
            <a:r>
              <a:rPr sz="1100" b="0" i="0">
                <a:solidFill>
                  <a:srgbClr val="3EC7B3"/>
                </a:solidFill>
                <a:latin typeface="Segoe UI"/>
              </a:rPr>
              <a:t>●  </a:t>
            </a:r>
            <a:r>
              <a:rPr sz="1100" b="0" i="0">
                <a:solidFill>
                  <a:srgbClr val="E8F2F5"/>
                </a:solidFill>
                <a:latin typeface="Segoe UI"/>
              </a:rPr>
              <a:t>River stayed Receding — Alert, Alarm, and Critical classes could not be exercised</a:t>
            </a:r>
          </a:p>
        </p:txBody>
      </p:sp>
      <p:sp>
        <p:nvSpPr>
          <p:cNvPr id="13" name="Rounded Rectangle 12"/>
          <p:cNvSpPr/>
          <p:nvPr/>
        </p:nvSpPr>
        <p:spPr>
          <a:xfrm>
            <a:off x="6949440" y="2697480"/>
            <a:ext cx="4690872" cy="2642616"/>
          </a:xfrm>
          <a:prstGeom prst="roundRect">
            <a:avLst>
              <a:gd name="adj" fmla="val 6000"/>
            </a:avLst>
          </a:prstGeom>
          <a:solidFill>
            <a:srgbClr val="102930"/>
          </a:solidFill>
          <a:ln w="19050">
            <a:solidFill>
              <a:srgbClr val="3263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3"/>
          <p:cNvSpPr txBox="1"/>
          <p:nvPr/>
        </p:nvSpPr>
        <p:spPr>
          <a:xfrm>
            <a:off x="7178040" y="2697480"/>
            <a:ext cx="4233672" cy="2642616"/>
          </a:xfrm>
          <a:prstGeom prst="rect">
            <a:avLst/>
          </a:prstGeom>
          <a:noFill/>
        </p:spPr>
        <p:txBody>
          <a:bodyPr wrap="square" lIns="0" rIns="0" tIns="0" bIns="0" anchor="ctr">
            <a:spAutoFit/>
          </a:bodyPr>
          <a:lstStyle/>
          <a:p>
            <a:pPr algn="ctr"/>
            <a:r>
              <a:rPr sz="850" b="1" i="0" spc="200">
                <a:solidFill>
                  <a:srgbClr val="3EC7B3"/>
                </a:solidFill>
                <a:latin typeface="Segoe UI"/>
              </a:rPr>
              <a:t>◲ FIGURE PLACEHOLDER · DROP IMAGE TO INSERT</a:t>
            </a:r>
          </a:p>
          <a:p>
            <a:pPr algn="ctr">
              <a:spcBef>
                <a:spcPts val="600"/>
              </a:spcBef>
            </a:pPr>
            <a:r>
              <a:rPr sz="950" b="0" i="0">
                <a:solidFill>
                  <a:srgbClr val="9FC0C8"/>
                </a:solidFill>
                <a:latin typeface="Segoe UI"/>
              </a:rPr>
              <a:t>Deployment / water-level time-series figure — field records and battery curve.</a:t>
            </a:r>
          </a:p>
        </p:txBody>
      </p:sp>
      <p:sp>
        <p:nvSpPr>
          <p:cNvPr id="15" name="TextBox 14"/>
          <p:cNvSpPr txBox="1"/>
          <p:nvPr/>
        </p:nvSpPr>
        <p:spPr>
          <a:xfrm>
            <a:off x="6035040" y="5394959"/>
            <a:ext cx="6156655" cy="274320"/>
          </a:xfrm>
          <a:prstGeom prst="rect">
            <a:avLst/>
          </a:prstGeom>
          <a:noFill/>
        </p:spPr>
        <p:txBody>
          <a:bodyPr wrap="square" lIns="0" rIns="0" tIns="0" bIns="0">
            <a:spAutoFit/>
          </a:bodyPr>
          <a:lstStyle/>
          <a:p>
            <a:pPr algn="ctr"/>
            <a:r>
              <a:rPr sz="850" b="1" i="0" spc="100">
                <a:solidFill>
                  <a:srgbClr val="6E939C"/>
                </a:solidFill>
                <a:latin typeface="Segoe UI"/>
              </a:rPr>
              <a:t>Figure 10. Deployment / water-level time-series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C2228"/>
        </a:solidFill>
        <a:effectLst/>
      </p:bgPr>
    </p:bg>
    <p:spTree>
      <p:nvGrpSpPr>
        <p:cNvPr id="1" name=""/>
        <p:cNvGrpSpPr/>
        <p:nvPr/>
      </p:nvGrpSpPr>
      <p:grpSpPr/>
      <p:sp>
        <p:nvSpPr>
          <p:cNvPr id="2" name="TextBox 1"/>
          <p:cNvSpPr txBox="1"/>
          <p:nvPr/>
        </p:nvSpPr>
        <p:spPr>
          <a:xfrm>
            <a:off x="548640" y="310896"/>
            <a:ext cx="11094415" cy="274320"/>
          </a:xfrm>
          <a:prstGeom prst="rect">
            <a:avLst/>
          </a:prstGeom>
          <a:noFill/>
        </p:spPr>
        <p:txBody>
          <a:bodyPr wrap="square" lIns="0" rIns="0" tIns="0" bIns="0">
            <a:spAutoFit/>
          </a:bodyPr>
          <a:lstStyle/>
          <a:p>
            <a:r>
              <a:rPr sz="1000" b="1" i="0" spc="260">
                <a:solidFill>
                  <a:srgbClr val="3EC7B3"/>
                </a:solidFill>
                <a:latin typeface="Segoe UI"/>
              </a:rPr>
              <a:t>15 · RESULTS AND DISCUSSION — Q5</a:t>
            </a:r>
          </a:p>
        </p:txBody>
      </p:sp>
      <p:sp>
        <p:nvSpPr>
          <p:cNvPr id="3" name="TextBox 2"/>
          <p:cNvSpPr txBox="1"/>
          <p:nvPr/>
        </p:nvSpPr>
        <p:spPr>
          <a:xfrm>
            <a:off x="548640" y="530352"/>
            <a:ext cx="11094415" cy="548640"/>
          </a:xfrm>
          <a:prstGeom prst="rect">
            <a:avLst/>
          </a:prstGeom>
          <a:noFill/>
        </p:spPr>
        <p:txBody>
          <a:bodyPr wrap="square" lIns="0" rIns="0" tIns="0" bIns="0">
            <a:spAutoFit/>
          </a:bodyPr>
          <a:lstStyle/>
          <a:p>
            <a:r>
              <a:rPr sz="2000" b="1" i="0">
                <a:solidFill>
                  <a:srgbClr val="E8F2F5"/>
                </a:solidFill>
                <a:latin typeface="Georgia"/>
              </a:rPr>
              <a:t>Results and discussion — Q5: Acceptability (TAM)</a:t>
            </a:r>
          </a:p>
        </p:txBody>
      </p:sp>
      <p:sp>
        <p:nvSpPr>
          <p:cNvPr id="4" name="TextBox 3"/>
          <p:cNvSpPr txBox="1"/>
          <p:nvPr/>
        </p:nvSpPr>
        <p:spPr>
          <a:xfrm>
            <a:off x="548640" y="1042415"/>
            <a:ext cx="11094415" cy="256032"/>
          </a:xfrm>
          <a:prstGeom prst="rect">
            <a:avLst/>
          </a:prstGeom>
          <a:noFill/>
        </p:spPr>
        <p:txBody>
          <a:bodyPr wrap="square" lIns="0" rIns="0" tIns="0" bIns="0">
            <a:spAutoFit/>
          </a:bodyPr>
          <a:lstStyle/>
          <a:p>
            <a:r>
              <a:rPr sz="950" b="1" i="0" spc="60">
                <a:solidFill>
                  <a:srgbClr val="9FC0C8"/>
                </a:solidFill>
                <a:latin typeface="Segoe UI"/>
              </a:rPr>
              <a:t>Research question 5 — user acceptability</a:t>
            </a:r>
          </a:p>
        </p:txBody>
      </p:sp>
      <p:sp>
        <p:nvSpPr>
          <p:cNvPr id="5" name="TextBox 4"/>
          <p:cNvSpPr txBox="1"/>
          <p:nvPr/>
        </p:nvSpPr>
        <p:spPr>
          <a:xfrm>
            <a:off x="548640" y="1371600"/>
            <a:ext cx="11094415" cy="320040"/>
          </a:xfrm>
          <a:prstGeom prst="rect">
            <a:avLst/>
          </a:prstGeom>
          <a:noFill/>
        </p:spPr>
        <p:txBody>
          <a:bodyPr wrap="square" lIns="0" rIns="0" tIns="0" bIns="0">
            <a:spAutoFit/>
          </a:bodyPr>
          <a:lstStyle/>
          <a:p>
            <a:r>
              <a:rPr sz="1050" b="0" i="0">
                <a:solidFill>
                  <a:srgbClr val="9FC0C8"/>
                </a:solidFill>
                <a:latin typeface="Segoe UI"/>
              </a:rPr>
              <a:t>Q5: How acceptable is FLAIRE to the BDRRMC focal persons in terms of functionality, usability, reliability, preparedness, attitude, and intention to use?</a:t>
            </a:r>
          </a:p>
        </p:txBody>
      </p:sp>
      <p:sp>
        <p:nvSpPr>
          <p:cNvPr id="6" name="Rounded Rectangle 5"/>
          <p:cNvSpPr/>
          <p:nvPr/>
        </p:nvSpPr>
        <p:spPr>
          <a:xfrm>
            <a:off x="548640" y="1828800"/>
            <a:ext cx="2377440" cy="713232"/>
          </a:xfrm>
          <a:prstGeom prst="roundRect">
            <a:avLst>
              <a:gd name="adj" fmla="val 10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Rectangle 6"/>
          <p:cNvSpPr/>
          <p:nvPr/>
        </p:nvSpPr>
        <p:spPr>
          <a:xfrm>
            <a:off x="621792" y="1856231"/>
            <a:ext cx="2231136" cy="41148"/>
          </a:xfrm>
          <a:prstGeom prst="rect">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TextBox 7"/>
          <p:cNvSpPr txBox="1"/>
          <p:nvPr/>
        </p:nvSpPr>
        <p:spPr>
          <a:xfrm>
            <a:off x="676656" y="1975104"/>
            <a:ext cx="2121408" cy="457200"/>
          </a:xfrm>
          <a:prstGeom prst="rect">
            <a:avLst/>
          </a:prstGeom>
          <a:noFill/>
        </p:spPr>
        <p:txBody>
          <a:bodyPr wrap="square" lIns="0" rIns="0" tIns="0" bIns="0" anchor="ctr">
            <a:spAutoFit/>
          </a:bodyPr>
          <a:lstStyle/>
          <a:p>
            <a:pPr algn="ctr"/>
            <a:r>
              <a:rPr sz="1500" b="1" i="0">
                <a:solidFill>
                  <a:srgbClr val="E8F2F5"/>
                </a:solidFill>
                <a:latin typeface="Georgia"/>
              </a:rPr>
              <a:t>n = 2</a:t>
            </a:r>
          </a:p>
          <a:p>
            <a:pPr algn="ctr">
              <a:spcBef>
                <a:spcPts val="300"/>
              </a:spcBef>
            </a:pPr>
            <a:r>
              <a:rPr sz="700" b="1" i="0" spc="120">
                <a:solidFill>
                  <a:srgbClr val="9FC0C8"/>
                </a:solidFill>
                <a:latin typeface="Segoe UI"/>
              </a:rPr>
              <a:t>Focal persons</a:t>
            </a:r>
          </a:p>
        </p:txBody>
      </p:sp>
      <p:sp>
        <p:nvSpPr>
          <p:cNvPr id="9" name="Rounded Rectangle 8"/>
          <p:cNvSpPr/>
          <p:nvPr/>
        </p:nvSpPr>
        <p:spPr>
          <a:xfrm>
            <a:off x="3090672" y="1828800"/>
            <a:ext cx="2377440" cy="713232"/>
          </a:xfrm>
          <a:prstGeom prst="roundRect">
            <a:avLst>
              <a:gd name="adj" fmla="val 10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0" name="Rectangle 9"/>
          <p:cNvSpPr/>
          <p:nvPr/>
        </p:nvSpPr>
        <p:spPr>
          <a:xfrm>
            <a:off x="3163824" y="1856231"/>
            <a:ext cx="2231136" cy="41148"/>
          </a:xfrm>
          <a:prstGeom prst="rect">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0"/>
          <p:cNvSpPr txBox="1"/>
          <p:nvPr/>
        </p:nvSpPr>
        <p:spPr>
          <a:xfrm>
            <a:off x="3218688" y="1975104"/>
            <a:ext cx="2121408" cy="457200"/>
          </a:xfrm>
          <a:prstGeom prst="rect">
            <a:avLst/>
          </a:prstGeom>
          <a:noFill/>
        </p:spPr>
        <p:txBody>
          <a:bodyPr wrap="square" lIns="0" rIns="0" tIns="0" bIns="0" anchor="ctr">
            <a:spAutoFit/>
          </a:bodyPr>
          <a:lstStyle/>
          <a:p>
            <a:pPr algn="ctr"/>
            <a:r>
              <a:rPr sz="1500" b="1" i="0">
                <a:solidFill>
                  <a:srgbClr val="E8F2F5"/>
                </a:solidFill>
                <a:latin typeface="Georgia"/>
              </a:rPr>
              <a:t>5.00</a:t>
            </a:r>
          </a:p>
          <a:p>
            <a:pPr algn="ctr">
              <a:spcBef>
                <a:spcPts val="300"/>
              </a:spcBef>
            </a:pPr>
            <a:r>
              <a:rPr sz="700" b="1" i="0" spc="120">
                <a:solidFill>
                  <a:srgbClr val="9FC0C8"/>
                </a:solidFill>
                <a:latin typeface="Segoe UI"/>
              </a:rPr>
              <a:t>Five dimensions</a:t>
            </a:r>
          </a:p>
        </p:txBody>
      </p:sp>
      <p:sp>
        <p:nvSpPr>
          <p:cNvPr id="12" name="Rounded Rectangle 11"/>
          <p:cNvSpPr/>
          <p:nvPr/>
        </p:nvSpPr>
        <p:spPr>
          <a:xfrm>
            <a:off x="5632704" y="1828800"/>
            <a:ext cx="2377440" cy="713232"/>
          </a:xfrm>
          <a:prstGeom prst="roundRect">
            <a:avLst>
              <a:gd name="adj" fmla="val 10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Rectangle 12"/>
          <p:cNvSpPr/>
          <p:nvPr/>
        </p:nvSpPr>
        <p:spPr>
          <a:xfrm>
            <a:off x="5705856" y="1856231"/>
            <a:ext cx="2231136" cy="41148"/>
          </a:xfrm>
          <a:prstGeom prst="rect">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TextBox 13"/>
          <p:cNvSpPr txBox="1"/>
          <p:nvPr/>
        </p:nvSpPr>
        <p:spPr>
          <a:xfrm>
            <a:off x="5760720" y="1975104"/>
            <a:ext cx="2121408" cy="457200"/>
          </a:xfrm>
          <a:prstGeom prst="rect">
            <a:avLst/>
          </a:prstGeom>
          <a:noFill/>
        </p:spPr>
        <p:txBody>
          <a:bodyPr wrap="square" lIns="0" rIns="0" tIns="0" bIns="0" anchor="ctr">
            <a:spAutoFit/>
          </a:bodyPr>
          <a:lstStyle/>
          <a:p>
            <a:pPr algn="ctr"/>
            <a:r>
              <a:rPr sz="1500" b="1" i="0">
                <a:solidFill>
                  <a:srgbClr val="E8F2F5"/>
                </a:solidFill>
                <a:latin typeface="Georgia"/>
              </a:rPr>
              <a:t>4.75</a:t>
            </a:r>
          </a:p>
          <a:p>
            <a:pPr algn="ctr">
              <a:spcBef>
                <a:spcPts val="300"/>
              </a:spcBef>
            </a:pPr>
            <a:r>
              <a:rPr sz="700" b="1" i="0" spc="120">
                <a:solidFill>
                  <a:srgbClr val="9FC0C8"/>
                </a:solidFill>
                <a:latin typeface="Segoe UI"/>
              </a:rPr>
              <a:t>Usability</a:t>
            </a:r>
          </a:p>
        </p:txBody>
      </p:sp>
      <p:sp>
        <p:nvSpPr>
          <p:cNvPr id="15" name="TextBox 14"/>
          <p:cNvSpPr txBox="1"/>
          <p:nvPr/>
        </p:nvSpPr>
        <p:spPr>
          <a:xfrm>
            <a:off x="548640" y="2788920"/>
            <a:ext cx="6126480" cy="3520440"/>
          </a:xfrm>
          <a:prstGeom prst="rect">
            <a:avLst/>
          </a:prstGeom>
          <a:noFill/>
        </p:spPr>
        <p:txBody>
          <a:bodyPr wrap="square" lIns="0" rIns="0" tIns="0" bIns="0">
            <a:spAutoFit/>
          </a:bodyPr>
          <a:lstStyle/>
          <a:p>
            <a:pPr>
              <a:spcAft>
                <a:spcPts val="900"/>
              </a:spcAft>
            </a:pPr>
            <a:r>
              <a:rPr sz="700" b="0" i="0">
                <a:solidFill>
                  <a:srgbClr val="3EC7B3"/>
                </a:solidFill>
                <a:latin typeface="Segoe UI"/>
              </a:rPr>
              <a:t>●  </a:t>
            </a:r>
            <a:r>
              <a:rPr sz="1100" b="0" i="0">
                <a:solidFill>
                  <a:srgbClr val="E8F2F5"/>
                </a:solidFill>
                <a:latin typeface="Segoe UI"/>
              </a:rPr>
              <a:t>Two BDRRMC focal persons rated six TAM dimensions on a 5-point Likert scale</a:t>
            </a:r>
          </a:p>
          <a:p>
            <a:pPr>
              <a:spcAft>
                <a:spcPts val="900"/>
              </a:spcAft>
            </a:pPr>
            <a:r>
              <a:rPr sz="1100" b="0" i="0">
                <a:solidFill>
                  <a:srgbClr val="3EC7B3"/>
                </a:solidFill>
                <a:latin typeface="Segoe UI"/>
              </a:rPr>
              <a:t>●  </a:t>
            </a:r>
            <a:r>
              <a:rPr sz="1100" b="0" i="0">
                <a:solidFill>
                  <a:srgbClr val="E8F2F5"/>
                </a:solidFill>
                <a:latin typeface="Segoe UI"/>
              </a:rPr>
              <a:t>Five dimensions (functionality, reliability, preparedness, attitude, intention): 5.00</a:t>
            </a:r>
          </a:p>
          <a:p>
            <a:pPr>
              <a:spcAft>
                <a:spcPts val="900"/>
              </a:spcAft>
            </a:pPr>
            <a:r>
              <a:rPr sz="1100" b="0" i="0">
                <a:solidFill>
                  <a:srgbClr val="3EC7B3"/>
                </a:solidFill>
                <a:latin typeface="Segoe UI"/>
              </a:rPr>
              <a:t>●  </a:t>
            </a:r>
            <a:r>
              <a:rPr sz="1100" b="0" i="0">
                <a:solidFill>
                  <a:srgbClr val="E8F2F5"/>
                </a:solidFill>
                <a:latin typeface="Segoe UI"/>
              </a:rPr>
              <a:t>Usability: 4.75 — favorable initial feedback</a:t>
            </a:r>
          </a:p>
          <a:p>
            <a:pPr>
              <a:spcAft>
                <a:spcPts val="900"/>
              </a:spcAft>
            </a:pPr>
            <a:r>
              <a:rPr sz="1100" b="0" i="0">
                <a:solidFill>
                  <a:srgbClr val="3EC7B3"/>
                </a:solidFill>
                <a:latin typeface="Segoe UI"/>
              </a:rPr>
              <a:t>●  </a:t>
            </a:r>
            <a:r>
              <a:rPr sz="1100" b="0" i="0">
                <a:solidFill>
                  <a:srgbClr val="E8F2F5"/>
                </a:solidFill>
                <a:latin typeface="Segoe UI"/>
              </a:rPr>
              <a:t>Small-n caveat: encouraging but not generalizable to all barangay officials/residents</a:t>
            </a:r>
          </a:p>
          <a:p>
            <a:pPr>
              <a:spcAft>
                <a:spcPts val="900"/>
              </a:spcAft>
            </a:pPr>
            <a:r>
              <a:rPr sz="1100" b="0" i="0">
                <a:solidFill>
                  <a:srgbClr val="3EC7B3"/>
                </a:solidFill>
                <a:latin typeface="Segoe UI"/>
              </a:rPr>
              <a:t>●  </a:t>
            </a:r>
            <a:r>
              <a:rPr sz="1100" b="0" i="0">
                <a:solidFill>
                  <a:srgbClr val="E8F2F5"/>
                </a:solidFill>
                <a:latin typeface="Segoe UI"/>
              </a:rPr>
              <a:t>Perceived reliability read alongside deployment findings (battery depletion, anomalous readings)</a:t>
            </a:r>
          </a:p>
        </p:txBody>
      </p:sp>
      <p:sp>
        <p:nvSpPr>
          <p:cNvPr id="16" name="Rounded Rectangle 15"/>
          <p:cNvSpPr/>
          <p:nvPr/>
        </p:nvSpPr>
        <p:spPr>
          <a:xfrm>
            <a:off x="6949440" y="2697480"/>
            <a:ext cx="4690872" cy="2642616"/>
          </a:xfrm>
          <a:prstGeom prst="roundRect">
            <a:avLst>
              <a:gd name="adj" fmla="val 6000"/>
            </a:avLst>
          </a:prstGeom>
          <a:solidFill>
            <a:srgbClr val="102930"/>
          </a:solidFill>
          <a:ln w="19050">
            <a:solidFill>
              <a:srgbClr val="3263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7" name="TextBox 16"/>
          <p:cNvSpPr txBox="1"/>
          <p:nvPr/>
        </p:nvSpPr>
        <p:spPr>
          <a:xfrm>
            <a:off x="7178040" y="2697480"/>
            <a:ext cx="4233672" cy="2642616"/>
          </a:xfrm>
          <a:prstGeom prst="rect">
            <a:avLst/>
          </a:prstGeom>
          <a:noFill/>
        </p:spPr>
        <p:txBody>
          <a:bodyPr wrap="square" lIns="0" rIns="0" tIns="0" bIns="0" anchor="ctr">
            <a:spAutoFit/>
          </a:bodyPr>
          <a:lstStyle/>
          <a:p>
            <a:pPr algn="ctr"/>
            <a:r>
              <a:rPr sz="850" b="1" i="0" spc="200">
                <a:solidFill>
                  <a:srgbClr val="3EC7B3"/>
                </a:solidFill>
                <a:latin typeface="Segoe UI"/>
              </a:rPr>
              <a:t>◲ FIGURE PLACEHOLDER · DROP IMAGE TO INSERT</a:t>
            </a:r>
          </a:p>
          <a:p>
            <a:pPr algn="ctr">
              <a:spcBef>
                <a:spcPts val="600"/>
              </a:spcBef>
            </a:pPr>
            <a:r>
              <a:rPr sz="950" b="0" i="0">
                <a:solidFill>
                  <a:srgbClr val="9FC0C8"/>
                </a:solidFill>
                <a:latin typeface="Segoe UI"/>
              </a:rPr>
              <a:t>TAM survey results figure — acceptability ratings by dimension.</a:t>
            </a:r>
          </a:p>
        </p:txBody>
      </p:sp>
      <p:sp>
        <p:nvSpPr>
          <p:cNvPr id="18" name="TextBox 17"/>
          <p:cNvSpPr txBox="1"/>
          <p:nvPr/>
        </p:nvSpPr>
        <p:spPr>
          <a:xfrm>
            <a:off x="6035040" y="5394959"/>
            <a:ext cx="6156655" cy="274320"/>
          </a:xfrm>
          <a:prstGeom prst="rect">
            <a:avLst/>
          </a:prstGeom>
          <a:noFill/>
        </p:spPr>
        <p:txBody>
          <a:bodyPr wrap="square" lIns="0" rIns="0" tIns="0" bIns="0">
            <a:spAutoFit/>
          </a:bodyPr>
          <a:lstStyle/>
          <a:p>
            <a:pPr algn="ctr"/>
            <a:r>
              <a:rPr sz="850" b="1" i="0" spc="100">
                <a:solidFill>
                  <a:srgbClr val="6E939C"/>
                </a:solidFill>
                <a:latin typeface="Segoe UI"/>
              </a:rPr>
              <a:t>Figure 11. TAM survey results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C2228"/>
        </a:solidFill>
        <a:effectLst/>
      </p:bgPr>
    </p:bg>
    <p:spTree>
      <p:nvGrpSpPr>
        <p:cNvPr id="1" name=""/>
        <p:cNvGrpSpPr/>
        <p:nvPr/>
      </p:nvGrpSpPr>
      <p:grpSpPr/>
      <p:sp>
        <p:nvSpPr>
          <p:cNvPr id="2" name="TextBox 1"/>
          <p:cNvSpPr txBox="1"/>
          <p:nvPr/>
        </p:nvSpPr>
        <p:spPr>
          <a:xfrm>
            <a:off x="548640" y="310896"/>
            <a:ext cx="11094415" cy="274320"/>
          </a:xfrm>
          <a:prstGeom prst="rect">
            <a:avLst/>
          </a:prstGeom>
          <a:noFill/>
        </p:spPr>
        <p:txBody>
          <a:bodyPr wrap="square" lIns="0" rIns="0" tIns="0" bIns="0">
            <a:spAutoFit/>
          </a:bodyPr>
          <a:lstStyle/>
          <a:p>
            <a:r>
              <a:rPr sz="1000" b="1" i="0" spc="260">
                <a:solidFill>
                  <a:srgbClr val="3EC7B3"/>
                </a:solidFill>
                <a:latin typeface="Segoe UI"/>
              </a:rPr>
              <a:t>16 · SUMMARY, CONCLUSION &amp; RECOMMENDATION</a:t>
            </a:r>
          </a:p>
        </p:txBody>
      </p:sp>
      <p:sp>
        <p:nvSpPr>
          <p:cNvPr id="3" name="TextBox 2"/>
          <p:cNvSpPr txBox="1"/>
          <p:nvPr/>
        </p:nvSpPr>
        <p:spPr>
          <a:xfrm>
            <a:off x="548640" y="530352"/>
            <a:ext cx="11094415" cy="548640"/>
          </a:xfrm>
          <a:prstGeom prst="rect">
            <a:avLst/>
          </a:prstGeom>
          <a:noFill/>
        </p:spPr>
        <p:txBody>
          <a:bodyPr wrap="square" lIns="0" rIns="0" tIns="0" bIns="0">
            <a:spAutoFit/>
          </a:bodyPr>
          <a:lstStyle/>
          <a:p>
            <a:r>
              <a:rPr sz="2200" b="1" i="0">
                <a:solidFill>
                  <a:srgbClr val="E8F2F5"/>
                </a:solidFill>
                <a:latin typeface="Georgia"/>
              </a:rPr>
              <a:t>Summary, conclusion &amp; recommendation</a:t>
            </a:r>
          </a:p>
        </p:txBody>
      </p:sp>
      <p:sp>
        <p:nvSpPr>
          <p:cNvPr id="4" name="TextBox 3"/>
          <p:cNvSpPr txBox="1"/>
          <p:nvPr/>
        </p:nvSpPr>
        <p:spPr>
          <a:xfrm>
            <a:off x="548640" y="1042415"/>
            <a:ext cx="11094415" cy="256032"/>
          </a:xfrm>
          <a:prstGeom prst="rect">
            <a:avLst/>
          </a:prstGeom>
          <a:noFill/>
        </p:spPr>
        <p:txBody>
          <a:bodyPr wrap="square" lIns="0" rIns="0" tIns="0" bIns="0">
            <a:spAutoFit/>
          </a:bodyPr>
          <a:lstStyle/>
          <a:p>
            <a:r>
              <a:rPr sz="950" b="1" i="0" spc="60">
                <a:solidFill>
                  <a:srgbClr val="9FC0C8"/>
                </a:solidFill>
                <a:latin typeface="Segoe UI"/>
              </a:rPr>
              <a:t>Chapter 5 — what the study establishes</a:t>
            </a:r>
          </a:p>
        </p:txBody>
      </p:sp>
      <p:sp>
        <p:nvSpPr>
          <p:cNvPr id="5" name="Rounded Rectangle 4"/>
          <p:cNvSpPr/>
          <p:nvPr/>
        </p:nvSpPr>
        <p:spPr>
          <a:xfrm>
            <a:off x="548640" y="1426464"/>
            <a:ext cx="3593592" cy="3657600"/>
          </a:xfrm>
          <a:prstGeom prst="roundRect">
            <a:avLst>
              <a:gd name="adj" fmla="val 5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6" name="Rectangle 5"/>
          <p:cNvSpPr/>
          <p:nvPr/>
        </p:nvSpPr>
        <p:spPr>
          <a:xfrm>
            <a:off x="548640" y="1600200"/>
            <a:ext cx="41148" cy="3337560"/>
          </a:xfrm>
          <a:prstGeom prst="rect">
            <a:avLst/>
          </a:prstGeom>
          <a:solidFill>
            <a:srgbClr val="3EC7B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7" name="TextBox 6"/>
          <p:cNvSpPr txBox="1"/>
          <p:nvPr/>
        </p:nvSpPr>
        <p:spPr>
          <a:xfrm>
            <a:off x="777240" y="1572768"/>
            <a:ext cx="3154680" cy="274320"/>
          </a:xfrm>
          <a:prstGeom prst="rect">
            <a:avLst/>
          </a:prstGeom>
          <a:noFill/>
        </p:spPr>
        <p:txBody>
          <a:bodyPr wrap="square" lIns="0" rIns="0" tIns="0" bIns="0">
            <a:spAutoFit/>
          </a:bodyPr>
          <a:lstStyle/>
          <a:p>
            <a:r>
              <a:rPr sz="1000" b="1" i="0" spc="110">
                <a:solidFill>
                  <a:srgbClr val="3EC7B3"/>
                </a:solidFill>
                <a:latin typeface="Segoe UI"/>
              </a:rPr>
              <a:t>Summary — key findings</a:t>
            </a:r>
          </a:p>
        </p:txBody>
      </p:sp>
      <p:sp>
        <p:nvSpPr>
          <p:cNvPr id="8" name="TextBox 7"/>
          <p:cNvSpPr txBox="1"/>
          <p:nvPr/>
        </p:nvSpPr>
        <p:spPr>
          <a:xfrm>
            <a:off x="932688" y="1993392"/>
            <a:ext cx="3017520" cy="4315968"/>
          </a:xfrm>
          <a:prstGeom prst="rect">
            <a:avLst/>
          </a:prstGeom>
          <a:noFill/>
        </p:spPr>
        <p:txBody>
          <a:bodyPr wrap="square" lIns="0" rIns="0" tIns="0" bIns="0">
            <a:spAutoFit/>
          </a:bodyPr>
          <a:lstStyle/>
          <a:p>
            <a:pPr>
              <a:spcAft>
                <a:spcPts val="800"/>
              </a:spcAft>
            </a:pPr>
            <a:r>
              <a:rPr sz="700" b="0" i="0">
                <a:solidFill>
                  <a:srgbClr val="3EC7B3"/>
                </a:solidFill>
                <a:latin typeface="Segoe UI"/>
              </a:rPr>
              <a:t>●  </a:t>
            </a:r>
            <a:r>
              <a:rPr sz="950" b="0" i="0">
                <a:solidFill>
                  <a:srgbClr val="E8F2F5"/>
                </a:solidFill>
                <a:latin typeface="Segoe UI"/>
              </a:rPr>
              <a:t>MDRRMO alerts are municipality-wide; monitoring gaps remain — current practice is manual (rain gauge, visual observation, tide calendar).</a:t>
            </a:r>
          </a:p>
          <a:p>
            <a:pPr>
              <a:spcAft>
                <a:spcPts val="800"/>
              </a:spcAft>
            </a:pPr>
            <a:r>
              <a:rPr sz="950" b="0" i="0">
                <a:solidFill>
                  <a:srgbClr val="3EC7B3"/>
                </a:solidFill>
                <a:latin typeface="Segoe UI"/>
              </a:rPr>
              <a:t>●  </a:t>
            </a:r>
            <a:r>
              <a:rPr sz="950" b="0" i="0">
                <a:solidFill>
                  <a:srgbClr val="E8F2F5"/>
                </a:solidFill>
                <a:latin typeface="Segoe UI"/>
              </a:rPr>
              <a:t>RF reproduced its rule-derived labels (94.26% accuracy) — consistency, not independent flood-prediction skill.</a:t>
            </a:r>
          </a:p>
          <a:p>
            <a:pPr>
              <a:spcAft>
                <a:spcPts val="800"/>
              </a:spcAft>
            </a:pPr>
            <a:r>
              <a:rPr sz="950" b="0" i="0">
                <a:solidFill>
                  <a:srgbClr val="3EC7B3"/>
                </a:solidFill>
                <a:latin typeface="Segoe UI"/>
              </a:rPr>
              <a:t>●  </a:t>
            </a:r>
            <a:r>
              <a:rPr sz="950" b="0" i="0">
                <a:solidFill>
                  <a:srgbClr val="E8F2F5"/>
                </a:solidFill>
                <a:latin typeface="Segoe UI"/>
              </a:rPr>
              <a:t>Pilot logged 13,568 records over ~21.5 h at Receding; battery depletion ended deployment; acceptability 5.00 / 4.75 (n = 2).</a:t>
            </a:r>
          </a:p>
        </p:txBody>
      </p:sp>
      <p:sp>
        <p:nvSpPr>
          <p:cNvPr id="9" name="Rounded Rectangle 8"/>
          <p:cNvSpPr/>
          <p:nvPr/>
        </p:nvSpPr>
        <p:spPr>
          <a:xfrm>
            <a:off x="4297680" y="1426464"/>
            <a:ext cx="3593592" cy="3657600"/>
          </a:xfrm>
          <a:prstGeom prst="roundRect">
            <a:avLst>
              <a:gd name="adj" fmla="val 5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0" name="Rectangle 9"/>
          <p:cNvSpPr/>
          <p:nvPr/>
        </p:nvSpPr>
        <p:spPr>
          <a:xfrm>
            <a:off x="4297680" y="1600200"/>
            <a:ext cx="41148" cy="3337560"/>
          </a:xfrm>
          <a:prstGeom prst="rect">
            <a:avLst/>
          </a:prstGeom>
          <a:solidFill>
            <a:srgbClr val="F4B9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1" name="TextBox 10"/>
          <p:cNvSpPr txBox="1"/>
          <p:nvPr/>
        </p:nvSpPr>
        <p:spPr>
          <a:xfrm>
            <a:off x="4526280" y="1572768"/>
            <a:ext cx="3154680" cy="274320"/>
          </a:xfrm>
          <a:prstGeom prst="rect">
            <a:avLst/>
          </a:prstGeom>
          <a:noFill/>
        </p:spPr>
        <p:txBody>
          <a:bodyPr wrap="square" lIns="0" rIns="0" tIns="0" bIns="0">
            <a:spAutoFit/>
          </a:bodyPr>
          <a:lstStyle/>
          <a:p>
            <a:r>
              <a:rPr sz="1000" b="1" i="0" spc="110">
                <a:solidFill>
                  <a:srgbClr val="F4B942"/>
                </a:solidFill>
                <a:latin typeface="Segoe UI"/>
              </a:rPr>
              <a:t>Conclusion</a:t>
            </a:r>
          </a:p>
        </p:txBody>
      </p:sp>
      <p:sp>
        <p:nvSpPr>
          <p:cNvPr id="12" name="TextBox 11"/>
          <p:cNvSpPr txBox="1"/>
          <p:nvPr/>
        </p:nvSpPr>
        <p:spPr>
          <a:xfrm>
            <a:off x="4681728" y="1993392"/>
            <a:ext cx="3017520" cy="4315968"/>
          </a:xfrm>
          <a:prstGeom prst="rect">
            <a:avLst/>
          </a:prstGeom>
          <a:noFill/>
        </p:spPr>
        <p:txBody>
          <a:bodyPr wrap="square" lIns="0" rIns="0" tIns="0" bIns="0">
            <a:spAutoFit/>
          </a:bodyPr>
          <a:lstStyle/>
          <a:p>
            <a:pPr>
              <a:spcAft>
                <a:spcPts val="800"/>
              </a:spcAft>
            </a:pPr>
            <a:r>
              <a:rPr sz="700" b="0" i="0">
                <a:solidFill>
                  <a:srgbClr val="3EC7B3"/>
                </a:solidFill>
                <a:latin typeface="Segoe UI"/>
              </a:rPr>
              <a:t>●  </a:t>
            </a:r>
            <a:r>
              <a:rPr sz="950" b="0" i="0">
                <a:solidFill>
                  <a:srgbClr val="E8F2F5"/>
                </a:solidFill>
                <a:latin typeface="Segoe UI"/>
              </a:rPr>
              <a:t>Feasibility established — the offline-first hybrid RF + fuzzy-logic prototype runs end-to-end on a Pi 5.</a:t>
            </a:r>
          </a:p>
          <a:p>
            <a:pPr>
              <a:spcAft>
                <a:spcPts val="800"/>
              </a:spcAft>
            </a:pPr>
            <a:r>
              <a:rPr sz="950" b="0" i="0">
                <a:solidFill>
                  <a:srgbClr val="3EC7B3"/>
                </a:solidFill>
                <a:latin typeface="Segoe UI"/>
              </a:rPr>
              <a:t>●  </a:t>
            </a:r>
            <a:r>
              <a:rPr sz="950" b="0" i="0">
                <a:solidFill>
                  <a:srgbClr val="E8F2F5"/>
                </a:solidFill>
                <a:latin typeface="Segoe UI"/>
              </a:rPr>
              <a:t>Decision-support, not prediction — the BDRRMC makes the alert call.</a:t>
            </a:r>
          </a:p>
          <a:p>
            <a:pPr>
              <a:spcAft>
                <a:spcPts val="800"/>
              </a:spcAft>
            </a:pPr>
            <a:r>
              <a:rPr sz="950" b="0" i="0">
                <a:solidFill>
                  <a:srgbClr val="3EC7B3"/>
                </a:solidFill>
                <a:latin typeface="Segoe UI"/>
              </a:rPr>
              <a:t>●  </a:t>
            </a:r>
            <a:r>
              <a:rPr sz="950" b="0" i="0">
                <a:solidFill>
                  <a:srgbClr val="E8F2F5"/>
                </a:solidFill>
                <a:latin typeface="Segoe UI"/>
              </a:rPr>
              <a:t>Human-in-the-loop alerting (SMS at Alarm / Critical, BDRRMC confirmation) is essential.</a:t>
            </a:r>
          </a:p>
        </p:txBody>
      </p:sp>
      <p:sp>
        <p:nvSpPr>
          <p:cNvPr id="13" name="Rounded Rectangle 12"/>
          <p:cNvSpPr/>
          <p:nvPr/>
        </p:nvSpPr>
        <p:spPr>
          <a:xfrm>
            <a:off x="8046720" y="1426464"/>
            <a:ext cx="3593592" cy="3657600"/>
          </a:xfrm>
          <a:prstGeom prst="roundRect">
            <a:avLst>
              <a:gd name="adj" fmla="val 5000"/>
            </a:avLst>
          </a:prstGeom>
          <a:solidFill>
            <a:srgbClr val="14323A"/>
          </a:solidFill>
          <a:ln w="12700">
            <a:solidFill>
              <a:srgbClr val="32636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4" name="Rectangle 13"/>
          <p:cNvSpPr/>
          <p:nvPr/>
        </p:nvSpPr>
        <p:spPr>
          <a:xfrm>
            <a:off x="8046720" y="1600200"/>
            <a:ext cx="41148" cy="3337560"/>
          </a:xfrm>
          <a:prstGeom prst="rect">
            <a:avLst/>
          </a:prstGeom>
          <a:solidFill>
            <a:srgbClr val="C952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5" name="TextBox 14"/>
          <p:cNvSpPr txBox="1"/>
          <p:nvPr/>
        </p:nvSpPr>
        <p:spPr>
          <a:xfrm>
            <a:off x="8275320" y="1572768"/>
            <a:ext cx="3154680" cy="274320"/>
          </a:xfrm>
          <a:prstGeom prst="rect">
            <a:avLst/>
          </a:prstGeom>
          <a:noFill/>
        </p:spPr>
        <p:txBody>
          <a:bodyPr wrap="square" lIns="0" rIns="0" tIns="0" bIns="0">
            <a:spAutoFit/>
          </a:bodyPr>
          <a:lstStyle/>
          <a:p>
            <a:r>
              <a:rPr sz="1000" b="1" i="0" spc="110">
                <a:solidFill>
                  <a:srgbClr val="C95252"/>
                </a:solidFill>
                <a:latin typeface="Segoe UI"/>
              </a:rPr>
              <a:t>Recommendation</a:t>
            </a:r>
          </a:p>
        </p:txBody>
      </p:sp>
      <p:sp>
        <p:nvSpPr>
          <p:cNvPr id="16" name="TextBox 15"/>
          <p:cNvSpPr txBox="1"/>
          <p:nvPr/>
        </p:nvSpPr>
        <p:spPr>
          <a:xfrm>
            <a:off x="8430768" y="1993392"/>
            <a:ext cx="3017520" cy="4315968"/>
          </a:xfrm>
          <a:prstGeom prst="rect">
            <a:avLst/>
          </a:prstGeom>
          <a:noFill/>
        </p:spPr>
        <p:txBody>
          <a:bodyPr wrap="square" lIns="0" rIns="0" tIns="0" bIns="0">
            <a:spAutoFit/>
          </a:bodyPr>
          <a:lstStyle/>
          <a:p>
            <a:pPr>
              <a:spcAft>
                <a:spcPts val="800"/>
              </a:spcAft>
            </a:pPr>
            <a:r>
              <a:rPr sz="700" b="0" i="0">
                <a:solidFill>
                  <a:srgbClr val="3EC7B3"/>
                </a:solidFill>
                <a:latin typeface="Segoe UI"/>
              </a:rPr>
              <a:t>●  </a:t>
            </a:r>
            <a:r>
              <a:rPr sz="950" b="0" i="0">
                <a:solidFill>
                  <a:srgbClr val="E8F2F5"/>
                </a:solidFill>
                <a:latin typeface="Segoe UI"/>
              </a:rPr>
              <a:t>Use independent, BDRRMC-validated flood labels.</a:t>
            </a:r>
          </a:p>
          <a:p>
            <a:pPr>
              <a:spcAft>
                <a:spcPts val="800"/>
              </a:spcAft>
            </a:pPr>
            <a:r>
              <a:rPr sz="950" b="0" i="0">
                <a:solidFill>
                  <a:srgbClr val="3EC7B3"/>
                </a:solidFill>
                <a:latin typeface="Segoe UI"/>
              </a:rPr>
              <a:t>●  </a:t>
            </a:r>
            <a:r>
              <a:rPr sz="950" b="0" i="0">
                <a:solidFill>
                  <a:srgbClr val="E8F2F5"/>
                </a:solidFill>
                <a:latin typeface="Segoe UI"/>
              </a:rPr>
              <a:t>Validate chronologically (e.g., train 2020–2023, test 2024).</a:t>
            </a:r>
          </a:p>
          <a:p>
            <a:pPr>
              <a:spcAft>
                <a:spcPts val="800"/>
              </a:spcAft>
            </a:pPr>
            <a:r>
              <a:rPr sz="950" b="0" i="0">
                <a:solidFill>
                  <a:srgbClr val="3EC7B3"/>
                </a:solidFill>
                <a:latin typeface="Segoe UI"/>
              </a:rPr>
              <a:t>●  </a:t>
            </a:r>
            <a:r>
              <a:rPr sz="950" b="0" i="0">
                <a:solidFill>
                  <a:srgbClr val="E8F2F5"/>
                </a:solidFill>
                <a:latin typeface="Segoe UI"/>
              </a:rPr>
              <a:t>Harden power: panel placement, battery capacity, voltage monitoring.</a:t>
            </a:r>
          </a:p>
          <a:p>
            <a:pPr>
              <a:spcAft>
                <a:spcPts val="800"/>
              </a:spcAft>
            </a:pPr>
            <a:r>
              <a:rPr sz="950" b="0" i="0">
                <a:solidFill>
                  <a:srgbClr val="3EC7B3"/>
                </a:solidFill>
                <a:latin typeface="Segoe UI"/>
              </a:rPr>
              <a:t>●  </a:t>
            </a:r>
            <a:r>
              <a:rPr sz="950" b="0" i="0">
                <a:solidFill>
                  <a:srgbClr val="E8F2F5"/>
                </a:solidFill>
                <a:latin typeface="Segoe UI"/>
              </a:rPr>
              <a:t>Expand the acceptability sample beyond n = 2.</a:t>
            </a:r>
          </a:p>
        </p:txBody>
      </p:sp>
      <p:sp>
        <p:nvSpPr>
          <p:cNvPr id="17" name="TextBox 16"/>
          <p:cNvSpPr txBox="1"/>
          <p:nvPr/>
        </p:nvSpPr>
        <p:spPr>
          <a:xfrm>
            <a:off x="0" y="5440680"/>
            <a:ext cx="12191695" cy="365760"/>
          </a:xfrm>
          <a:prstGeom prst="rect">
            <a:avLst/>
          </a:prstGeom>
          <a:noFill/>
        </p:spPr>
        <p:txBody>
          <a:bodyPr wrap="square" lIns="0" rIns="0" tIns="0" bIns="0">
            <a:spAutoFit/>
          </a:bodyPr>
          <a:lstStyle/>
          <a:p>
            <a:pPr algn="ctr"/>
            <a:r>
              <a:rPr sz="1300" b="1" i="0" spc="160">
                <a:solidFill>
                  <a:srgbClr val="9FC0C8"/>
                </a:solidFill>
                <a:latin typeface="Segoe UI"/>
              </a:rP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